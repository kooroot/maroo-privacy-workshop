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>
      <p:cViewPr varScale="1">
        <p:scale>
          <a:sx n="34" d="100"/>
          <a:sy n="34" d="100"/>
        </p:scale>
        <p:origin x="264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7" name="Shape 1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워크숍 시작 전 참가자에게 demo/.env나 private key를 화면에 띄우지 말라고 안내한다. 표지의 네이티브 도형은 OKRW, PCL, Privacy의 연결을 나타낸다.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00–07. 학습 목표 O1부터 O6을 소개한다. 핵심 질문: tx가 포함되면 급여가 끝난 것인가? 참가자의 첫 답을 듣고 6번 슬라이드에서 다시 확인한다.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1" name="Shape 2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00–07. 2인 1조가 아니라 1인 1환경이다. 실제 직원 정보와 운영 지갑을 쓰지 않는다. 참가자는 자기 결과만 제출한다.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8" name="Shape 2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워크숍 전체 시간표다. 각 구간이 늦어지면 진행자 가이드의 중단 기준을 적용한다. Maroo RPC 장애가 발생해도 Local을 Live 성공으로 바꾸어 말하지 않는다.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5" name="Shape 2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결과마다 라벨을 붙인다. 서로 다른 라벨의 결과를 합쳐 하나의 Maroo 성공으로 표현하지 않는다.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3" name="Shape 2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질문: receipt status가 1이어도 직원 scan이 0이면 지급 완료인가? 정답은 아니다. 온체인 포함과 직원 수령 확인을 분리한다.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3" name="Shape 2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17–23. Maroo target architecture다. proof는 off-chain에서 생성하고, Maroo validator의 x/privacy verifier가 온체인에서 검증한다. PCL은 dApp이 먼저 호출하는 별도 단계가 아니라 Privacy policy-aware wrapper의 pre/post lifecycle이다. 공식 근거: https://docs.maroo.io/concepts/privacy/privacy-precompile-overview 및 https://docs.maroo.io/concepts/privacy/verifiable-privacy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23–27. target happy path sequence다. proof 생성은 off-chain, 검증은 Maroo x/privacy에서 수행한다. 현재 제출은 Maroo-compatible off-chain prover artifact와 scanner가 없어 transfer 성공 이후까지 진행하지 못했고 Path B receipt로 온체인 verifier의 rejection만 관찰했다.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5" name="Shape 3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44–52에도 다시 사용하는 책임 표다. 기관이 prover를 반드시 직접 호스팅해야 한다는 뜻은 아니다. 자체 운영 또는 검증된 managed service를 선택할 수 있지만 witness 경계와 artifact 호환성에 대한 통제 책임은 기관에 남는다. 온체인 검증과 상태 전이는 Maroo x/privacy verifier가 담당한다.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3" name="Shape 3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07–17. 성공 문구는 WORKSHOP ENVIRONMENT READY. Anvil 사용법을 교육하지 않는다. Foundry 설치 일관성을 확인하고 이후 cast를 Maroo 상태 판독에 쓴다.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0" name="Shape 3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private key는 화면, evidence, shell history에 남기지 않는다. Privacy transfer 수취인은 공개 EMPLOYEE_ACCOUNT가 아니라 proof와 output에 결속되는 shielded profile이다.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8" name="Shape 38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00–07 또는 07–17. 300은 합성 금액이다. EMP-A, EMP-B, EMP-C의 profileRef가 서로 다른지 확인한다. 단위는 Local에서 uclair, Maroo 설계에서 OKRW 상당이다.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96" name="Shape 3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17–27. demo/.env를 화면에 열지 않는다. command 출력과 evidence에서 company/employee public address가 다르고 chainId가 450815인지 확인한다.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3" name="Shape 40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성공 기준 O1과 O4. PCL 설정을 읽었다고 PCL rejection을 실제 관찰했다고 말하지 않는다. active policy와 signer 상태를 함께 보아야 한다.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9" name="Shape 43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27–31. Clairveil Local 구성도다. runner가 off-chain Go prover와 임시 localnet을 실행한다. prover가 proof를 생성하고 local x/privacy verifier가 이를 검증한 뒤 세 viewing key로 scan한다. Maroo OKRW, PCL, VK와 proof 포맷 호환은 증명하지 않는다.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44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7" name="Shape 4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27–44. 성공 문구는 CLAIRVEIL LOCAL PAYROLL AND FAILURE CONTROLS VERIFIED. 실패 분석이 필요할 때만 --keep-on-failure를 사용한다.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45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5" name="Shape 4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evidence/local/payroll-summary.json의 transactions와 employeeScans를 확인한다. Success criteria O2와 O3. 세 직원 profile이 고유하고 합계가 300인지 함께 대사한다.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3" name="Shape 4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32–35. major state transition을 왼쪽부터 읽는다. deposit은 공개 OKRW를 treasury commitment로 바꾸고, transfer는 input nullifier를 소비하고 세 output commitment를 추가한다. 직원 note 평문은 viewing key로 scan한 주체만 본다.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0" name="Shape 5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토론 질문: 공개 이벤트만으로 누가 얼마를 받았는가를 확인할 수 있는가? 정답은 아니다. Local evidence의 observationComparison과 직원별 scan을 함께 확인한다.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3" name="Shape 5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35–39. failureControls.overspend에서 rejectedAt, broadcastAttempted=false, treasuryStateUnchanged=true를 확인한다. 이 실패는 Clairveil Local의 PCL 거부가 아니다. 위조된 overspend proof가 제출되면 Privacy 검증이 거부해야 한다.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0" name="Shape 58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39–44. 유효한 다른 직원 주소는 proof와 가치 보존 조건을 만족할 수 있다. failureControls.wrongRecipient의 같은 tx hash 기준으로 EMP-B와 EMP-C scan delta를 비교한다. EMP-C도 정책상 적격 직원이라면 별도 recipient policy와 plan binding 없이 PCL이 자동 거부할 근거가 없다.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6" name="Shape 61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44–52. 오지급 방지 설계다. pre-broadcast, on-chain, post-receipt의 세 운영 경계를 구분한다. offline rehearsal의 wrong profileRef 거부는 metadata guard이며 암호화 output의 독립 검증은 아니다.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Shape 62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6" name="Shape 62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진행자가 Path A readiness gate를 충족한 경우에만 Path A를 선택한다. 하나라도 빠지면 Path B다. 자동 Local fallback은 없다.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3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4" name="Shape 6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52–63. 이 명령은 실제 testnet transaction을 제출한다. 재실행 전 테스트넷 자산과 회사 계정을 다시 확인한다. 제출 영상에서는 기존 증거를 보여주는 것으로 충분하다.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1" name="Shape 6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evidence/live-testnet/state-change-attempt.json과 explorer를 연다. deposit tx 0xaa3646…2c939, transfer tx 0x3d3d6b…fb622. status 0, target 0x100…000b, selector를 확인한다. 실패 원인을 과장하지 않는다.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64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8" name="Shape 64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63–69. 오류 문자열보다 첫 실패 계층을 찾는다. proof 생성과 proof 검증을 구분하고, 모든 revert를 PCL 거부라고 부르지 않는다. receipt 성공도 직원 수령과 업무 정확성을 자동 보장하지 않는다.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 65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5" name="Shape 6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Path A의 full completion 기준이다. Path B 참가자는 deposit과 transfer를 거부 또는 미검증으로 기록한다. Clairveil scan은 별도 Local 열에 둔다.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Shape 66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2" name="Shape 6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69–75. workshop/exit-ticket.md를 작성한다. 결과가 실패여도 정확한 계층과 재현 증거를 적으면 학습 목표를 달성한 것이다.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9" name="Shape 6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시간 69–75. 기관은 prover를 반드시 직접 호스팅할 필요가 없지만, 자체 운영과 managed service 중 하나를 선택하고 witness 노출과 artifact 호환성을 통제해야 한다. 온체인 verifier와 VK lifecycle은 Maroo protocol 책임으로 분리한다. 4주에는 합성 직원으로 Maroo Testnet success run 또는 blocker report를 만든다.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67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7" name="Shape 6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마무리 토론. 참가자가 off-chain prover, PCL wrapper, x/privacy verifier, scanner와 auditor의 책임을 구분해 설명하게 한다. workshop/exit-ticket.md 제출로 종료한다.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푸른 언덕 풍경"/>
          <p:cNvSpPr>
            <a:spLocks noGrp="1"/>
          </p:cNvSpPr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23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2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슬라이드 제목</a:t>
            </a:r>
          </a:p>
        </p:txBody>
      </p:sp>
      <p:sp>
        <p:nvSpPr>
          <p:cNvPr id="3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이끼에 덮인 돌"/>
          <p:cNvSpPr>
            <a:spLocks noGrp="1"/>
          </p:cNvSpPr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62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3" name="어두운 구름 아래 흙길을 전경으로 두고 형성된 커다란 바위의 대형"/>
          <p:cNvSpPr>
            <a:spLocks noGrp="1"/>
          </p:cNvSpPr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72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82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83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섹션 제목</a:t>
            </a:r>
          </a:p>
        </p:txBody>
      </p:sp>
      <p:sp>
        <p:nvSpPr>
          <p:cNvPr id="9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10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10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의제 제목</a:t>
            </a:r>
          </a:p>
        </p:txBody>
      </p:sp>
      <p:sp>
        <p:nvSpPr>
          <p:cNvPr id="10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의제 부제</a:t>
            </a:r>
          </a:p>
        </p:txBody>
      </p:sp>
      <p:sp>
        <p:nvSpPr>
          <p:cNvPr id="110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사실 정보</a:t>
            </a:r>
          </a:p>
        </p:txBody>
      </p:sp>
      <p:sp>
        <p:nvSpPr>
          <p:cNvPr id="127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속성</a:t>
            </a:r>
          </a:p>
        </p:txBody>
      </p:sp>
      <p:sp>
        <p:nvSpPr>
          <p:cNvPr id="13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돌 사이로 자라는 야생 식물의 모습을 근접 촬영한 사진"/>
          <p:cNvSpPr>
            <a:spLocks noGrp="1"/>
          </p:cNvSpPr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어두운 구름 아래 흙길을 전경으로 두고 형성된 커다란 바위의 대형"/>
          <p:cNvSpPr>
            <a:spLocks noGrp="1"/>
          </p:cNvSpPr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화산암 사이로 자라는 야생 식물을 근접 촬영한 사진"/>
          <p:cNvSpPr>
            <a:spLocks noGrp="1"/>
          </p:cNvSpPr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푸른 암벽으로 둘러싸인 폭포"/>
          <p:cNvSpPr>
            <a:spLocks noGrp="1"/>
          </p:cNvSpPr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72" name="Maroo Privacy"/>
          <p:cNvSpPr txBox="1"/>
          <p:nvPr/>
        </p:nvSpPr>
        <p:spPr>
          <a:xfrm>
            <a:off x="1524000" y="3810000"/>
            <a:ext cx="10414000" cy="1079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Maroo Privacy</a:t>
            </a:r>
          </a:p>
        </p:txBody>
      </p:sp>
      <p:sp>
        <p:nvSpPr>
          <p:cNvPr id="173" name="기관용 비공개 급여 워크숍"/>
          <p:cNvSpPr txBox="1"/>
          <p:nvPr/>
        </p:nvSpPr>
        <p:spPr>
          <a:xfrm>
            <a:off x="1523999" y="5461000"/>
            <a:ext cx="11430002" cy="77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기관용 비공개 급여 워크숍</a:t>
            </a:r>
          </a:p>
        </p:txBody>
      </p:sp>
      <p:sp>
        <p:nvSpPr>
          <p:cNvPr id="174" name="Track B · 75분 · 1인 1환경"/>
          <p:cNvSpPr txBox="1"/>
          <p:nvPr/>
        </p:nvSpPr>
        <p:spPr>
          <a:xfrm>
            <a:off x="1587500" y="7366000"/>
            <a:ext cx="9652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Track B · 75분 · 1인 1환경</a:t>
            </a:r>
          </a:p>
        </p:txBody>
      </p:sp>
      <p:sp>
        <p:nvSpPr>
          <p:cNvPr id="175" name="직사각형"/>
          <p:cNvSpPr/>
          <p:nvPr/>
        </p:nvSpPr>
        <p:spPr>
          <a:xfrm>
            <a:off x="13970000" y="3428999"/>
            <a:ext cx="2921001" cy="1905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6" name="OKRW"/>
          <p:cNvSpPr txBox="1"/>
          <p:nvPr/>
        </p:nvSpPr>
        <p:spPr>
          <a:xfrm>
            <a:off x="14274800" y="3746500"/>
            <a:ext cx="2311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OKRW</a:t>
            </a:r>
          </a:p>
        </p:txBody>
      </p:sp>
      <p:sp>
        <p:nvSpPr>
          <p:cNvPr id="177" name="자산"/>
          <p:cNvSpPr txBox="1"/>
          <p:nvPr/>
        </p:nvSpPr>
        <p:spPr>
          <a:xfrm>
            <a:off x="14274800" y="4445000"/>
            <a:ext cx="231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자산</a:t>
            </a:r>
          </a:p>
        </p:txBody>
      </p:sp>
      <p:sp>
        <p:nvSpPr>
          <p:cNvPr id="178" name="→"/>
          <p:cNvSpPr txBox="1"/>
          <p:nvPr/>
        </p:nvSpPr>
        <p:spPr>
          <a:xfrm>
            <a:off x="17018000" y="3937000"/>
            <a:ext cx="1143000" cy="67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179" name="직사각형"/>
          <p:cNvSpPr/>
          <p:nvPr/>
        </p:nvSpPr>
        <p:spPr>
          <a:xfrm>
            <a:off x="18160999" y="3428999"/>
            <a:ext cx="2921001" cy="1905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0" name="PCL"/>
          <p:cNvSpPr txBox="1"/>
          <p:nvPr/>
        </p:nvSpPr>
        <p:spPr>
          <a:xfrm>
            <a:off x="18465800" y="3746500"/>
            <a:ext cx="2311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PCL</a:t>
            </a:r>
          </a:p>
        </p:txBody>
      </p:sp>
      <p:sp>
        <p:nvSpPr>
          <p:cNvPr id="181" name="정책"/>
          <p:cNvSpPr txBox="1"/>
          <p:nvPr/>
        </p:nvSpPr>
        <p:spPr>
          <a:xfrm>
            <a:off x="18465800" y="4445000"/>
            <a:ext cx="231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정책</a:t>
            </a:r>
          </a:p>
        </p:txBody>
      </p:sp>
      <p:sp>
        <p:nvSpPr>
          <p:cNvPr id="182" name="↓"/>
          <p:cNvSpPr txBox="1"/>
          <p:nvPr/>
        </p:nvSpPr>
        <p:spPr>
          <a:xfrm>
            <a:off x="19050000" y="5588000"/>
            <a:ext cx="1143000" cy="67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8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↓</a:t>
            </a:r>
          </a:p>
        </p:txBody>
      </p:sp>
      <p:sp>
        <p:nvSpPr>
          <p:cNvPr id="183" name="직사각형"/>
          <p:cNvSpPr/>
          <p:nvPr/>
        </p:nvSpPr>
        <p:spPr>
          <a:xfrm>
            <a:off x="16065500" y="6731000"/>
            <a:ext cx="5016500" cy="22225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84" name="x/privacy"/>
          <p:cNvSpPr txBox="1"/>
          <p:nvPr/>
        </p:nvSpPr>
        <p:spPr>
          <a:xfrm>
            <a:off x="16370300" y="7048500"/>
            <a:ext cx="44069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x/privacy</a:t>
            </a:r>
          </a:p>
        </p:txBody>
      </p:sp>
      <p:sp>
        <p:nvSpPr>
          <p:cNvPr id="185" name="proof 검증 · note state"/>
          <p:cNvSpPr txBox="1"/>
          <p:nvPr/>
        </p:nvSpPr>
        <p:spPr>
          <a:xfrm>
            <a:off x="16370300" y="7747000"/>
            <a:ext cx="44069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proof 검증 · note state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오늘 완성할 것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오늘 완성할 것</a:t>
            </a:r>
          </a:p>
        </p:txBody>
      </p:sp>
      <p:sp>
        <p:nvSpPr>
          <p:cNvPr id="191" name="Maroo Testnet의 OKRW, PCL, Privacy 상태를 읽는다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Maroo Testnet의 OKRW, PCL, Privacy 상태를 읽는다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Clairveil Local에서 실제 proof와 직원별 scan을 확인한다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Maroo Privacy deposit과 transfer를 제출하고 receipt를 판정한다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성공, 거부, 미검증을 증거로 구분한다</a:t>
            </a:r>
          </a:p>
        </p:txBody>
      </p:sp>
      <p:sp>
        <p:nvSpPr>
          <p:cNvPr id="19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참가자와 시나리오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참가자와 시나리오</a:t>
            </a:r>
          </a:p>
        </p:txBody>
      </p:sp>
      <p:sp>
        <p:nvSpPr>
          <p:cNvPr id="198" name="대상: 금융기관의 시니어 백엔드·블록체인 엔지니어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대상: 금융기관의 시니어 백엔드·블록체인 엔지니어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방식: 각 참가자가 회사 자금관리자와 직원 확인자 역할을 순서대로 수행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계획: 합성 급여 300을 EMP-A, EMP-B, EMP-C에 배분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목표: 4주에서 8주 안에 Maroo PoC의 go 또는 no-go 조건 제안</a:t>
            </a:r>
          </a:p>
        </p:txBody>
      </p:sp>
      <p:sp>
        <p:nvSpPr>
          <p:cNvPr id="19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75분 진행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75분 진행</a:t>
            </a:r>
          </a:p>
        </p:txBody>
      </p:sp>
      <p:sp>
        <p:nvSpPr>
          <p:cNvPr id="2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graphicFrame>
        <p:nvGraphicFramePr>
          <p:cNvPr id="206" name="표 1"/>
          <p:cNvGraphicFramePr/>
          <p:nvPr/>
        </p:nvGraphicFramePr>
        <p:xfrm>
          <a:off x="1270000" y="2413000"/>
          <a:ext cx="21844000" cy="89154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 err="1">
                          <a:solidFill>
                            <a:srgbClr val="FFFFFF"/>
                          </a:solidFill>
                        </a:rPr>
                        <a:t>시간</a:t>
                      </a:r>
                      <a:endParaRPr sz="3200" b="1" dirty="0">
                        <a:solidFill>
                          <a:srgbClr val="FFFFFF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구간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완료 조건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00–07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목표와 역할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급여 완료 조건 설명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07–17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공통 환경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환경 readiness 통과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17–27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Maroo 상태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chain, OKRW, PCL, Privacy 확인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27–44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Clairveil Local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정상 급여와 실패 통제 확인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44–52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Maroo 매핑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PCL과 애플리케이션 책임 구분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52–63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Maroo 실행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deposit과 transfer receipt 확보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63–69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첫 실패 계층 분류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</a:rPr>
                        <a:t>69–75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 dirty="0" err="1">
                          <a:solidFill>
                            <a:srgbClr val="FFFFFF"/>
                          </a:solidFill>
                        </a:rPr>
                        <a:t>종료</a:t>
                      </a:r>
                      <a:endParaRPr sz="3200" dirty="0">
                        <a:solidFill>
                          <a:srgbClr val="FFFFFF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 dirty="0" err="1">
                          <a:solidFill>
                            <a:srgbClr val="FFFFFF"/>
                          </a:solidFill>
                        </a:rPr>
                        <a:t>증거와</a:t>
                      </a:r>
                      <a:r>
                        <a:rPr sz="320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3200" dirty="0" err="1">
                          <a:solidFill>
                            <a:srgbClr val="FFFFFF"/>
                          </a:solidFill>
                        </a:rPr>
                        <a:t>다음</a:t>
                      </a:r>
                      <a:r>
                        <a:rPr sz="320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3200" dirty="0" err="1">
                          <a:solidFill>
                            <a:srgbClr val="FFFFFF"/>
                          </a:solidFill>
                        </a:rPr>
                        <a:t>단계</a:t>
                      </a:r>
                      <a:r>
                        <a:rPr sz="320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3200" dirty="0" err="1">
                          <a:solidFill>
                            <a:srgbClr val="FFFFFF"/>
                          </a:solidFill>
                        </a:rPr>
                        <a:t>기록</a:t>
                      </a:r>
                      <a:endParaRPr sz="3200" dirty="0">
                        <a:solidFill>
                          <a:srgbClr val="FFFFFF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증거 라벨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증거 라벨</a:t>
            </a:r>
          </a:p>
        </p:txBody>
      </p:sp>
      <p:sp>
        <p:nvSpPr>
          <p:cNvPr id="21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graphicFrame>
        <p:nvGraphicFramePr>
          <p:cNvPr id="213" name="표 1"/>
          <p:cNvGraphicFramePr/>
          <p:nvPr/>
        </p:nvGraphicFramePr>
        <p:xfrm>
          <a:off x="1270000" y="2413000"/>
          <a:ext cx="21844000" cy="49530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라벨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이번 워크숍 예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[Live Testnet]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Maroo RPC를 실제 사용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read-only 상태와 실패 receipt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[Local]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Clairveil localnet 상태 변경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deposit, batch, 직원별 scan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[Simulation]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체인 없이 계약 규칙 검사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bundle과 대사 negative test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[Docs Only]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문서와 ABI에서만 확인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호환 off-chain prover 요구사항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급여 완료의 네 단계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급여 완료의 네 단계</a:t>
            </a:r>
          </a:p>
        </p:txBody>
      </p:sp>
      <p:sp>
        <p:nvSpPr>
          <p:cNvPr id="21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20" name="01"/>
          <p:cNvSpPr txBox="1"/>
          <p:nvPr/>
        </p:nvSpPr>
        <p:spPr>
          <a:xfrm>
            <a:off x="1397000" y="3238500"/>
            <a:ext cx="1524000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01</a:t>
            </a:r>
          </a:p>
        </p:txBody>
      </p:sp>
      <p:sp>
        <p:nvSpPr>
          <p:cNvPr id="221" name="Deposit"/>
          <p:cNvSpPr txBox="1"/>
          <p:nvPr/>
        </p:nvSpPr>
        <p:spPr>
          <a:xfrm>
            <a:off x="1397000" y="4508500"/>
            <a:ext cx="457200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Deposit</a:t>
            </a:r>
          </a:p>
        </p:txBody>
      </p:sp>
      <p:sp>
        <p:nvSpPr>
          <p:cNvPr id="222" name="회사 자금을 privacy pool에 넣고 treasury note를 확인"/>
          <p:cNvSpPr txBox="1"/>
          <p:nvPr/>
        </p:nvSpPr>
        <p:spPr>
          <a:xfrm>
            <a:off x="1397000" y="5778500"/>
            <a:ext cx="4572000" cy="801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회사 자금을 privacy pool에 넣고 treasury note를 확인</a:t>
            </a:r>
          </a:p>
        </p:txBody>
      </p:sp>
      <p:sp>
        <p:nvSpPr>
          <p:cNvPr id="223" name="02"/>
          <p:cNvSpPr txBox="1"/>
          <p:nvPr/>
        </p:nvSpPr>
        <p:spPr>
          <a:xfrm>
            <a:off x="7112000" y="3238500"/>
            <a:ext cx="1524000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02</a:t>
            </a:r>
          </a:p>
        </p:txBody>
      </p:sp>
      <p:sp>
        <p:nvSpPr>
          <p:cNvPr id="224" name="Batch"/>
          <p:cNvSpPr txBox="1"/>
          <p:nvPr/>
        </p:nvSpPr>
        <p:spPr>
          <a:xfrm>
            <a:off x="7112000" y="4508500"/>
            <a:ext cx="457200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Batch</a:t>
            </a:r>
          </a:p>
        </p:txBody>
      </p:sp>
      <p:sp>
        <p:nvSpPr>
          <p:cNvPr id="225" name="proof 하나로 직원 output 세 개 생성"/>
          <p:cNvSpPr txBox="1"/>
          <p:nvPr/>
        </p:nvSpPr>
        <p:spPr>
          <a:xfrm>
            <a:off x="7112000" y="5778500"/>
            <a:ext cx="457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proof 하나로 직원 output 세 개 생성</a:t>
            </a:r>
          </a:p>
        </p:txBody>
      </p:sp>
      <p:sp>
        <p:nvSpPr>
          <p:cNvPr id="226" name="03"/>
          <p:cNvSpPr txBox="1"/>
          <p:nvPr/>
        </p:nvSpPr>
        <p:spPr>
          <a:xfrm>
            <a:off x="12827000" y="3238500"/>
            <a:ext cx="1524000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03</a:t>
            </a:r>
          </a:p>
        </p:txBody>
      </p:sp>
      <p:sp>
        <p:nvSpPr>
          <p:cNvPr id="227" name="Scan"/>
          <p:cNvSpPr txBox="1"/>
          <p:nvPr/>
        </p:nvSpPr>
        <p:spPr>
          <a:xfrm>
            <a:off x="12827000" y="4508500"/>
            <a:ext cx="457200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Scan</a:t>
            </a:r>
          </a:p>
        </p:txBody>
      </p:sp>
      <p:sp>
        <p:nvSpPr>
          <p:cNvPr id="228" name="EMP-A, EMP-B, EMP-C가 각자 note 탐색"/>
          <p:cNvSpPr txBox="1"/>
          <p:nvPr/>
        </p:nvSpPr>
        <p:spPr>
          <a:xfrm>
            <a:off x="12827000" y="5778500"/>
            <a:ext cx="4572000" cy="801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EMP-A, EMP-B, EMP-C가 각자 note 탐색</a:t>
            </a:r>
          </a:p>
        </p:txBody>
      </p:sp>
      <p:sp>
        <p:nvSpPr>
          <p:cNvPr id="229" name="04"/>
          <p:cNvSpPr txBox="1"/>
          <p:nvPr/>
        </p:nvSpPr>
        <p:spPr>
          <a:xfrm>
            <a:off x="18542000" y="3238500"/>
            <a:ext cx="1524000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04</a:t>
            </a:r>
          </a:p>
        </p:txBody>
      </p:sp>
      <p:sp>
        <p:nvSpPr>
          <p:cNvPr id="230" name="Audit"/>
          <p:cNvSpPr txBox="1"/>
          <p:nvPr/>
        </p:nvSpPr>
        <p:spPr>
          <a:xfrm>
            <a:off x="18542000" y="4508500"/>
            <a:ext cx="457200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Audit</a:t>
            </a:r>
          </a:p>
        </p:txBody>
      </p:sp>
      <p:sp>
        <p:nvSpPr>
          <p:cNvPr id="231" name="총액, disclosure, key epoch를 대사"/>
          <p:cNvSpPr txBox="1"/>
          <p:nvPr/>
        </p:nvSpPr>
        <p:spPr>
          <a:xfrm>
            <a:off x="18542000" y="5778500"/>
            <a:ext cx="4572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총액, disclosure, key epoch를 대사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236" name="Maroo 비공개 급여 아키텍처와 신뢰 경계"/>
          <p:cNvSpPr txBox="1"/>
          <p:nvPr/>
        </p:nvSpPr>
        <p:spPr>
          <a:xfrm>
            <a:off x="1270000" y="698500"/>
            <a:ext cx="19685000" cy="82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Maroo 비공개 급여 아키텍처와 신뢰 경계</a:t>
            </a:r>
          </a:p>
        </p:txBody>
      </p:sp>
      <p:sp>
        <p:nvSpPr>
          <p:cNvPr id="237" name="직사각형"/>
          <p:cNvSpPr/>
          <p:nvPr/>
        </p:nvSpPr>
        <p:spPr>
          <a:xfrm>
            <a:off x="888999" y="2095500"/>
            <a:ext cx="12700002" cy="9271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38" name="사각형"/>
          <p:cNvSpPr/>
          <p:nvPr/>
        </p:nvSpPr>
        <p:spPr>
          <a:xfrm>
            <a:off x="14223999" y="2095500"/>
            <a:ext cx="9271001" cy="927100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39" name="OFF-CHAIN · 기관 통제 영역"/>
          <p:cNvSpPr txBox="1"/>
          <p:nvPr/>
        </p:nvSpPr>
        <p:spPr>
          <a:xfrm>
            <a:off x="1270000" y="2349500"/>
            <a:ext cx="82550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OFF-CHAIN · 기관 통제 영역</a:t>
            </a:r>
          </a:p>
        </p:txBody>
      </p:sp>
      <p:sp>
        <p:nvSpPr>
          <p:cNvPr id="240" name="ON-CHAIN · MAROO"/>
          <p:cNvSpPr txBox="1"/>
          <p:nvPr/>
        </p:nvSpPr>
        <p:spPr>
          <a:xfrm>
            <a:off x="14605000" y="2349500"/>
            <a:ext cx="66040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ON-CHAIN · MAROO</a:t>
            </a:r>
          </a:p>
        </p:txBody>
      </p:sp>
      <p:sp>
        <p:nvSpPr>
          <p:cNvPr id="241" name="직사각형"/>
          <p:cNvSpPr/>
          <p:nvPr/>
        </p:nvSpPr>
        <p:spPr>
          <a:xfrm>
            <a:off x="1333500" y="3492500"/>
            <a:ext cx="3238500" cy="2159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Payroll app"/>
          <p:cNvSpPr txBox="1"/>
          <p:nvPr/>
        </p:nvSpPr>
        <p:spPr>
          <a:xfrm>
            <a:off x="1638300" y="3810000"/>
            <a:ext cx="26289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Payroll app</a:t>
            </a:r>
          </a:p>
        </p:txBody>
      </p:sp>
      <p:sp>
        <p:nvSpPr>
          <p:cNvPr id="243" name="employee registry"/>
          <p:cNvSpPr txBox="1"/>
          <p:nvPr/>
        </p:nvSpPr>
        <p:spPr>
          <a:xfrm>
            <a:off x="1638300" y="4508500"/>
            <a:ext cx="26289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employee registry</a:t>
            </a:r>
          </a:p>
        </p:txBody>
      </p:sp>
      <p:sp>
        <p:nvSpPr>
          <p:cNvPr id="244" name="approved plan digest"/>
          <p:cNvSpPr txBox="1"/>
          <p:nvPr/>
        </p:nvSpPr>
        <p:spPr>
          <a:xfrm>
            <a:off x="1638300" y="5016500"/>
            <a:ext cx="26289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approved plan digest</a:t>
            </a:r>
          </a:p>
        </p:txBody>
      </p:sp>
      <p:sp>
        <p:nvSpPr>
          <p:cNvPr id="245" name="직사각형"/>
          <p:cNvSpPr/>
          <p:nvPr/>
        </p:nvSpPr>
        <p:spPr>
          <a:xfrm>
            <a:off x="5143500" y="3492500"/>
            <a:ext cx="3429000" cy="2159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6" name="Off-chain prover"/>
          <p:cNvSpPr txBox="1"/>
          <p:nvPr/>
        </p:nvSpPr>
        <p:spPr>
          <a:xfrm>
            <a:off x="5448300" y="3810000"/>
            <a:ext cx="2819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Off-chain prover</a:t>
            </a:r>
          </a:p>
        </p:txBody>
      </p:sp>
      <p:sp>
        <p:nvSpPr>
          <p:cNvPr id="247" name="self-host 또는 managed"/>
          <p:cNvSpPr txBox="1"/>
          <p:nvPr/>
        </p:nvSpPr>
        <p:spPr>
          <a:xfrm>
            <a:off x="5448300" y="4508500"/>
            <a:ext cx="2819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self-host 또는 managed</a:t>
            </a:r>
          </a:p>
        </p:txBody>
      </p:sp>
      <p:sp>
        <p:nvSpPr>
          <p:cNvPr id="248" name="witness → proof"/>
          <p:cNvSpPr txBox="1"/>
          <p:nvPr/>
        </p:nvSpPr>
        <p:spPr>
          <a:xfrm>
            <a:off x="5448300" y="5016500"/>
            <a:ext cx="2819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witness → proof</a:t>
            </a:r>
          </a:p>
        </p:txBody>
      </p:sp>
      <p:sp>
        <p:nvSpPr>
          <p:cNvPr id="249" name="직사각형"/>
          <p:cNvSpPr/>
          <p:nvPr/>
        </p:nvSpPr>
        <p:spPr>
          <a:xfrm>
            <a:off x="9144000" y="3492500"/>
            <a:ext cx="3746501" cy="2159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0" name="Company wallet"/>
          <p:cNvSpPr txBox="1"/>
          <p:nvPr/>
        </p:nvSpPr>
        <p:spPr>
          <a:xfrm>
            <a:off x="9448800" y="3810000"/>
            <a:ext cx="31369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Company wallet</a:t>
            </a:r>
          </a:p>
        </p:txBody>
      </p:sp>
      <p:sp>
        <p:nvSpPr>
          <p:cNvPr id="251" name="COMPANY_PRIVATE_KEY"/>
          <p:cNvSpPr txBox="1"/>
          <p:nvPr/>
        </p:nvSpPr>
        <p:spPr>
          <a:xfrm>
            <a:off x="9448800" y="4508500"/>
            <a:ext cx="31369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COMPANY_PRIVATE_KEY</a:t>
            </a:r>
          </a:p>
        </p:txBody>
      </p:sp>
      <p:sp>
        <p:nvSpPr>
          <p:cNvPr id="252" name="검토·서명·제출"/>
          <p:cNvSpPr txBox="1"/>
          <p:nvPr/>
        </p:nvSpPr>
        <p:spPr>
          <a:xfrm>
            <a:off x="9448800" y="5016500"/>
            <a:ext cx="31369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검토·서명·제출</a:t>
            </a:r>
          </a:p>
        </p:txBody>
      </p:sp>
      <p:sp>
        <p:nvSpPr>
          <p:cNvPr id="253" name="직사각형"/>
          <p:cNvSpPr/>
          <p:nvPr/>
        </p:nvSpPr>
        <p:spPr>
          <a:xfrm>
            <a:off x="1397000" y="7747000"/>
            <a:ext cx="4572000" cy="2159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4" name="Employee scanner"/>
          <p:cNvSpPr txBox="1"/>
          <p:nvPr/>
        </p:nvSpPr>
        <p:spPr>
          <a:xfrm>
            <a:off x="1701800" y="8064500"/>
            <a:ext cx="3962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Employee scanner</a:t>
            </a:r>
          </a:p>
        </p:txBody>
      </p:sp>
      <p:sp>
        <p:nvSpPr>
          <p:cNvPr id="255" name="viewing key"/>
          <p:cNvSpPr txBox="1"/>
          <p:nvPr/>
        </p:nvSpPr>
        <p:spPr>
          <a:xfrm>
            <a:off x="1701800" y="8763000"/>
            <a:ext cx="3962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viewing key</a:t>
            </a:r>
          </a:p>
        </p:txBody>
      </p:sp>
      <p:sp>
        <p:nvSpPr>
          <p:cNvPr id="256" name="직원별 note 확인"/>
          <p:cNvSpPr txBox="1"/>
          <p:nvPr/>
        </p:nvSpPr>
        <p:spPr>
          <a:xfrm>
            <a:off x="1701800" y="9271000"/>
            <a:ext cx="3962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직원별 note 확인</a:t>
            </a:r>
          </a:p>
        </p:txBody>
      </p:sp>
      <p:sp>
        <p:nvSpPr>
          <p:cNvPr id="257" name="직사각형"/>
          <p:cNvSpPr/>
          <p:nvPr/>
        </p:nvSpPr>
        <p:spPr>
          <a:xfrm>
            <a:off x="7048500" y="7747000"/>
            <a:ext cx="4572001" cy="2159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8" name="Auditor"/>
          <p:cNvSpPr txBox="1"/>
          <p:nvPr/>
        </p:nvSpPr>
        <p:spPr>
          <a:xfrm>
            <a:off x="7353300" y="8064500"/>
            <a:ext cx="3962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Auditor</a:t>
            </a:r>
          </a:p>
        </p:txBody>
      </p:sp>
      <p:sp>
        <p:nvSpPr>
          <p:cNvPr id="259" name="disclosure key"/>
          <p:cNvSpPr txBox="1"/>
          <p:nvPr/>
        </p:nvSpPr>
        <p:spPr>
          <a:xfrm>
            <a:off x="7353300" y="8763000"/>
            <a:ext cx="3962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disclosure key</a:t>
            </a:r>
          </a:p>
        </p:txBody>
      </p:sp>
      <p:sp>
        <p:nvSpPr>
          <p:cNvPr id="260" name="허용 범위 대사"/>
          <p:cNvSpPr txBox="1"/>
          <p:nvPr/>
        </p:nvSpPr>
        <p:spPr>
          <a:xfrm>
            <a:off x="7353300" y="9271000"/>
            <a:ext cx="3962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허용 범위 대사</a:t>
            </a:r>
          </a:p>
        </p:txBody>
      </p:sp>
      <p:sp>
        <p:nvSpPr>
          <p:cNvPr id="261" name="→"/>
          <p:cNvSpPr txBox="1"/>
          <p:nvPr/>
        </p:nvSpPr>
        <p:spPr>
          <a:xfrm>
            <a:off x="4572000" y="4127500"/>
            <a:ext cx="57150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262" name="→"/>
          <p:cNvSpPr txBox="1"/>
          <p:nvPr/>
        </p:nvSpPr>
        <p:spPr>
          <a:xfrm>
            <a:off x="8572500" y="4127500"/>
            <a:ext cx="57150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263" name="approved plan"/>
          <p:cNvSpPr txBox="1"/>
          <p:nvPr/>
        </p:nvSpPr>
        <p:spPr>
          <a:xfrm>
            <a:off x="4191000" y="5778500"/>
            <a:ext cx="24130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approved plan</a:t>
            </a:r>
          </a:p>
        </p:txBody>
      </p:sp>
      <p:sp>
        <p:nvSpPr>
          <p:cNvPr id="264" name="proof + outputs"/>
          <p:cNvSpPr txBox="1"/>
          <p:nvPr/>
        </p:nvSpPr>
        <p:spPr>
          <a:xfrm>
            <a:off x="8255000" y="5778500"/>
            <a:ext cx="26670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proof + outputs</a:t>
            </a:r>
          </a:p>
        </p:txBody>
      </p:sp>
      <p:sp>
        <p:nvSpPr>
          <p:cNvPr id="265" name="signing key는 prover에 전달하지 않음"/>
          <p:cNvSpPr txBox="1"/>
          <p:nvPr/>
        </p:nvSpPr>
        <p:spPr>
          <a:xfrm>
            <a:off x="5524500" y="6540500"/>
            <a:ext cx="55880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FFBF2C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signing key는 prover에 전달하지 않음</a:t>
            </a:r>
          </a:p>
        </p:txBody>
      </p:sp>
      <p:sp>
        <p:nvSpPr>
          <p:cNvPr id="266" name="직사각형"/>
          <p:cNvSpPr/>
          <p:nvPr/>
        </p:nvSpPr>
        <p:spPr>
          <a:xfrm>
            <a:off x="14605000" y="3175000"/>
            <a:ext cx="8382001" cy="64770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67" name="Privacy policy-aware wrapper"/>
          <p:cNvSpPr txBox="1"/>
          <p:nvPr/>
        </p:nvSpPr>
        <p:spPr>
          <a:xfrm>
            <a:off x="15113000" y="3365500"/>
            <a:ext cx="7239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Privacy policy-aware wrapper</a:t>
            </a:r>
          </a:p>
        </p:txBody>
      </p:sp>
      <p:sp>
        <p:nvSpPr>
          <p:cNvPr id="268" name="직사각형"/>
          <p:cNvSpPr/>
          <p:nvPr/>
        </p:nvSpPr>
        <p:spPr>
          <a:xfrm>
            <a:off x="14922500" y="4381500"/>
            <a:ext cx="3302000" cy="20955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69" name="PCL pre / post"/>
          <p:cNvSpPr txBox="1"/>
          <p:nvPr/>
        </p:nvSpPr>
        <p:spPr>
          <a:xfrm>
            <a:off x="15227300" y="4699000"/>
            <a:ext cx="2692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PCL pre / post</a:t>
            </a:r>
          </a:p>
        </p:txBody>
      </p:sp>
      <p:sp>
        <p:nvSpPr>
          <p:cNvPr id="270" name="signer · EAS · denylist"/>
          <p:cNvSpPr txBox="1"/>
          <p:nvPr/>
        </p:nvSpPr>
        <p:spPr>
          <a:xfrm>
            <a:off x="15227300" y="5397500"/>
            <a:ext cx="2692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signer · EAS · denylist</a:t>
            </a:r>
          </a:p>
        </p:txBody>
      </p:sp>
      <p:sp>
        <p:nvSpPr>
          <p:cNvPr id="271" name="평가·기록"/>
          <p:cNvSpPr txBox="1"/>
          <p:nvPr/>
        </p:nvSpPr>
        <p:spPr>
          <a:xfrm>
            <a:off x="15227300" y="5905500"/>
            <a:ext cx="2692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평가·기록</a:t>
            </a:r>
          </a:p>
        </p:txBody>
      </p:sp>
      <p:sp>
        <p:nvSpPr>
          <p:cNvPr id="272" name="직사각형"/>
          <p:cNvSpPr/>
          <p:nvPr/>
        </p:nvSpPr>
        <p:spPr>
          <a:xfrm>
            <a:off x="18923000" y="4381500"/>
            <a:ext cx="3619500" cy="20955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3" name="x/privacy verifier"/>
          <p:cNvSpPr txBox="1"/>
          <p:nvPr/>
        </p:nvSpPr>
        <p:spPr>
          <a:xfrm>
            <a:off x="19227800" y="4699000"/>
            <a:ext cx="30099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x/privacy verifier</a:t>
            </a:r>
          </a:p>
        </p:txBody>
      </p:sp>
      <p:sp>
        <p:nvSpPr>
          <p:cNvPr id="274" name="VK로 proof 검증"/>
          <p:cNvSpPr txBox="1"/>
          <p:nvPr/>
        </p:nvSpPr>
        <p:spPr>
          <a:xfrm>
            <a:off x="19227800" y="5397500"/>
            <a:ext cx="30099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VK로 proof 검증</a:t>
            </a:r>
          </a:p>
        </p:txBody>
      </p:sp>
      <p:sp>
        <p:nvSpPr>
          <p:cNvPr id="275" name="가치 보존 판정"/>
          <p:cNvSpPr txBox="1"/>
          <p:nvPr/>
        </p:nvSpPr>
        <p:spPr>
          <a:xfrm>
            <a:off x="19227800" y="5905500"/>
            <a:ext cx="30099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가치 보존 판정</a:t>
            </a:r>
          </a:p>
        </p:txBody>
      </p:sp>
      <p:sp>
        <p:nvSpPr>
          <p:cNvPr id="276" name="pre →"/>
          <p:cNvSpPr txBox="1"/>
          <p:nvPr/>
        </p:nvSpPr>
        <p:spPr>
          <a:xfrm>
            <a:off x="18224500" y="4762500"/>
            <a:ext cx="762000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7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pre →</a:t>
            </a:r>
          </a:p>
        </p:txBody>
      </p:sp>
      <p:sp>
        <p:nvSpPr>
          <p:cNvPr id="277" name="← post"/>
          <p:cNvSpPr txBox="1"/>
          <p:nvPr/>
        </p:nvSpPr>
        <p:spPr>
          <a:xfrm>
            <a:off x="18224500" y="5651500"/>
            <a:ext cx="889000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7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← post</a:t>
            </a:r>
          </a:p>
        </p:txBody>
      </p:sp>
      <p:sp>
        <p:nvSpPr>
          <p:cNvPr id="278" name="직사각형"/>
          <p:cNvSpPr/>
          <p:nvPr/>
        </p:nvSpPr>
        <p:spPr>
          <a:xfrm>
            <a:off x="16319500" y="7429500"/>
            <a:ext cx="4572001" cy="18415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9" name="On-chain state"/>
          <p:cNvSpPr txBox="1"/>
          <p:nvPr/>
        </p:nvSpPr>
        <p:spPr>
          <a:xfrm>
            <a:off x="16624300" y="7747000"/>
            <a:ext cx="3962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On-chain state</a:t>
            </a:r>
          </a:p>
        </p:txBody>
      </p:sp>
      <p:sp>
        <p:nvSpPr>
          <p:cNvPr id="280" name="OKRW escrow · Merkle root"/>
          <p:cNvSpPr txBox="1"/>
          <p:nvPr/>
        </p:nvSpPr>
        <p:spPr>
          <a:xfrm>
            <a:off x="16624300" y="8445500"/>
            <a:ext cx="3962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OKRW escrow · Merkle root</a:t>
            </a:r>
          </a:p>
        </p:txBody>
      </p:sp>
      <p:sp>
        <p:nvSpPr>
          <p:cNvPr id="281" name="nullifiers · commitments"/>
          <p:cNvSpPr txBox="1"/>
          <p:nvPr/>
        </p:nvSpPr>
        <p:spPr>
          <a:xfrm>
            <a:off x="16624300" y="8953500"/>
            <a:ext cx="3962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nullifiers · commitments</a:t>
            </a:r>
          </a:p>
        </p:txBody>
      </p:sp>
      <p:sp>
        <p:nvSpPr>
          <p:cNvPr id="282" name="↓"/>
          <p:cNvSpPr txBox="1"/>
          <p:nvPr/>
        </p:nvSpPr>
        <p:spPr>
          <a:xfrm>
            <a:off x="20447000" y="6540500"/>
            <a:ext cx="698500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↓</a:t>
            </a:r>
          </a:p>
        </p:txBody>
      </p:sp>
      <p:sp>
        <p:nvSpPr>
          <p:cNvPr id="283" name="signed tx + proof + deposit msg.value →"/>
          <p:cNvSpPr txBox="1"/>
          <p:nvPr/>
        </p:nvSpPr>
        <p:spPr>
          <a:xfrm>
            <a:off x="10033000" y="2921000"/>
            <a:ext cx="44450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signed tx + proof + deposit msg.value →</a:t>
            </a:r>
          </a:p>
        </p:txBody>
      </p:sp>
      <p:sp>
        <p:nvSpPr>
          <p:cNvPr id="284" name="선"/>
          <p:cNvSpPr/>
          <p:nvPr/>
        </p:nvSpPr>
        <p:spPr>
          <a:xfrm flipV="1">
            <a:off x="12890500" y="4572000"/>
            <a:ext cx="1714500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5" name="선"/>
          <p:cNvSpPr/>
          <p:nvPr/>
        </p:nvSpPr>
        <p:spPr>
          <a:xfrm flipH="1">
            <a:off x="18605500" y="9271000"/>
            <a:ext cx="1" cy="1206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6" name="선"/>
          <p:cNvSpPr/>
          <p:nvPr/>
        </p:nvSpPr>
        <p:spPr>
          <a:xfrm flipH="1" flipV="1">
            <a:off x="3683001" y="10477500"/>
            <a:ext cx="14922499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7" name="선"/>
          <p:cNvSpPr/>
          <p:nvPr/>
        </p:nvSpPr>
        <p:spPr>
          <a:xfrm flipH="1" flipV="1">
            <a:off x="3683000" y="9905999"/>
            <a:ext cx="1" cy="57150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8" name="선"/>
          <p:cNvSpPr/>
          <p:nvPr/>
        </p:nvSpPr>
        <p:spPr>
          <a:xfrm flipH="1" flipV="1">
            <a:off x="9334500" y="9905999"/>
            <a:ext cx="1" cy="57150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9" name="←"/>
          <p:cNvSpPr txBox="1"/>
          <p:nvPr/>
        </p:nvSpPr>
        <p:spPr>
          <a:xfrm>
            <a:off x="10096500" y="100965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←</a:t>
            </a:r>
          </a:p>
        </p:txBody>
      </p:sp>
      <p:sp>
        <p:nvSpPr>
          <p:cNvPr id="290" name="receipt · commitments · ciphertext · disclosure"/>
          <p:cNvSpPr txBox="1"/>
          <p:nvPr/>
        </p:nvSpPr>
        <p:spPr>
          <a:xfrm>
            <a:off x="10604500" y="10096500"/>
            <a:ext cx="63500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receipt · commitments · ciphertext · disclosure</a:t>
            </a:r>
          </a:p>
        </p:txBody>
      </p:sp>
      <p:sp>
        <p:nvSpPr>
          <p:cNvPr id="291" name="PCL은 정책을 평가하고 · verifier는 proof와 상태를 검증하며 · app/scanner/auditor는 급여 의도를 대사한다"/>
          <p:cNvSpPr txBox="1"/>
          <p:nvPr/>
        </p:nvSpPr>
        <p:spPr>
          <a:xfrm>
            <a:off x="2603500" y="11811000"/>
            <a:ext cx="19177001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PCL은 정책을 평가하고 · verifier는 proof와 상태를 검증하며 · app/scanner/auditor는 급여 의도를 대사한다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296" name="급여 1회의 트랜잭션 시퀀스"/>
          <p:cNvSpPr txBox="1"/>
          <p:nvPr/>
        </p:nvSpPr>
        <p:spPr>
          <a:xfrm>
            <a:off x="1270000" y="635000"/>
            <a:ext cx="19050001" cy="825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급여 1회의 트랜잭션 시퀀스</a:t>
            </a:r>
          </a:p>
        </p:txBody>
      </p:sp>
      <p:sp>
        <p:nvSpPr>
          <p:cNvPr id="297" name="Payroll app"/>
          <p:cNvSpPr txBox="1"/>
          <p:nvPr/>
        </p:nvSpPr>
        <p:spPr>
          <a:xfrm>
            <a:off x="1524000" y="1968500"/>
            <a:ext cx="3111500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Payroll app</a:t>
            </a:r>
          </a:p>
        </p:txBody>
      </p:sp>
      <p:sp>
        <p:nvSpPr>
          <p:cNvPr id="298" name="선"/>
          <p:cNvSpPr/>
          <p:nvPr/>
        </p:nvSpPr>
        <p:spPr>
          <a:xfrm flipH="1">
            <a:off x="2539999" y="2730499"/>
            <a:ext cx="1" cy="869950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99" name="Off-chain prover"/>
          <p:cNvSpPr txBox="1"/>
          <p:nvPr/>
        </p:nvSpPr>
        <p:spPr>
          <a:xfrm>
            <a:off x="5207000" y="1968500"/>
            <a:ext cx="3111500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Off-chain prover</a:t>
            </a:r>
          </a:p>
        </p:txBody>
      </p:sp>
      <p:sp>
        <p:nvSpPr>
          <p:cNvPr id="300" name="선"/>
          <p:cNvSpPr/>
          <p:nvPr/>
        </p:nvSpPr>
        <p:spPr>
          <a:xfrm flipH="1">
            <a:off x="6222999" y="2730499"/>
            <a:ext cx="1" cy="869950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1" name="Company wallet"/>
          <p:cNvSpPr txBox="1"/>
          <p:nvPr/>
        </p:nvSpPr>
        <p:spPr>
          <a:xfrm>
            <a:off x="8890000" y="1968500"/>
            <a:ext cx="3111500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Company wallet</a:t>
            </a:r>
          </a:p>
        </p:txBody>
      </p:sp>
      <p:sp>
        <p:nvSpPr>
          <p:cNvPr id="302" name="선"/>
          <p:cNvSpPr/>
          <p:nvPr/>
        </p:nvSpPr>
        <p:spPr>
          <a:xfrm flipH="1">
            <a:off x="9906000" y="2730500"/>
            <a:ext cx="1" cy="869950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3" name="Policy wrapper / PCL"/>
          <p:cNvSpPr txBox="1"/>
          <p:nvPr/>
        </p:nvSpPr>
        <p:spPr>
          <a:xfrm>
            <a:off x="12573000" y="1968500"/>
            <a:ext cx="3111500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Policy wrapper / PCL</a:t>
            </a:r>
          </a:p>
        </p:txBody>
      </p:sp>
      <p:sp>
        <p:nvSpPr>
          <p:cNvPr id="304" name="선"/>
          <p:cNvSpPr/>
          <p:nvPr/>
        </p:nvSpPr>
        <p:spPr>
          <a:xfrm flipH="1">
            <a:off x="13588999" y="2730500"/>
            <a:ext cx="1" cy="869950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5" name="x/privacy verifier"/>
          <p:cNvSpPr txBox="1"/>
          <p:nvPr/>
        </p:nvSpPr>
        <p:spPr>
          <a:xfrm>
            <a:off x="16256000" y="1968500"/>
            <a:ext cx="3111500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x/privacy verifier</a:t>
            </a:r>
          </a:p>
        </p:txBody>
      </p:sp>
      <p:sp>
        <p:nvSpPr>
          <p:cNvPr id="306" name="선"/>
          <p:cNvSpPr/>
          <p:nvPr/>
        </p:nvSpPr>
        <p:spPr>
          <a:xfrm flipH="1">
            <a:off x="17271999" y="2730499"/>
            <a:ext cx="1" cy="869950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7" name="Scanner / auditor"/>
          <p:cNvSpPr txBox="1"/>
          <p:nvPr/>
        </p:nvSpPr>
        <p:spPr>
          <a:xfrm>
            <a:off x="19939000" y="1968500"/>
            <a:ext cx="3111500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1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Scanner / auditor</a:t>
            </a:r>
          </a:p>
        </p:txBody>
      </p:sp>
      <p:sp>
        <p:nvSpPr>
          <p:cNvPr id="308" name="선"/>
          <p:cNvSpPr/>
          <p:nvPr/>
        </p:nvSpPr>
        <p:spPr>
          <a:xfrm flipH="1">
            <a:off x="20954999" y="2730499"/>
            <a:ext cx="1" cy="869950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9" name="DEPOSIT"/>
          <p:cNvSpPr txBox="1"/>
          <p:nvPr/>
        </p:nvSpPr>
        <p:spPr>
          <a:xfrm>
            <a:off x="1333500" y="3111500"/>
            <a:ext cx="2032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DEPOSIT</a:t>
            </a:r>
          </a:p>
        </p:txBody>
      </p:sp>
      <p:sp>
        <p:nvSpPr>
          <p:cNvPr id="310" name="01"/>
          <p:cNvSpPr txBox="1"/>
          <p:nvPr/>
        </p:nvSpPr>
        <p:spPr>
          <a:xfrm>
            <a:off x="8890000" y="3111500"/>
            <a:ext cx="698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01</a:t>
            </a:r>
          </a:p>
        </p:txBody>
      </p:sp>
      <p:sp>
        <p:nvSpPr>
          <p:cNvPr id="311" name="deposit{value} + proof"/>
          <p:cNvSpPr txBox="1"/>
          <p:nvPr/>
        </p:nvSpPr>
        <p:spPr>
          <a:xfrm>
            <a:off x="10096500" y="2984500"/>
            <a:ext cx="3048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deposit{value} + proof</a:t>
            </a:r>
          </a:p>
        </p:txBody>
      </p:sp>
      <p:sp>
        <p:nvSpPr>
          <p:cNvPr id="312" name="선"/>
          <p:cNvSpPr/>
          <p:nvPr/>
        </p:nvSpPr>
        <p:spPr>
          <a:xfrm>
            <a:off x="9905999" y="3619500"/>
            <a:ext cx="3683001" cy="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13" name="→"/>
          <p:cNvSpPr txBox="1"/>
          <p:nvPr/>
        </p:nvSpPr>
        <p:spPr>
          <a:xfrm>
            <a:off x="13144500" y="32385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314" name="02"/>
          <p:cNvSpPr txBox="1"/>
          <p:nvPr/>
        </p:nvSpPr>
        <p:spPr>
          <a:xfrm>
            <a:off x="12573000" y="4191000"/>
            <a:ext cx="698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02</a:t>
            </a:r>
          </a:p>
        </p:txBody>
      </p:sp>
      <p:sp>
        <p:nvSpPr>
          <p:cNvPr id="315" name="PCL lifecycle (pre/post)"/>
          <p:cNvSpPr txBox="1"/>
          <p:nvPr/>
        </p:nvSpPr>
        <p:spPr>
          <a:xfrm>
            <a:off x="13843000" y="4064000"/>
            <a:ext cx="28575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PCL lifecycle (pre/post)</a:t>
            </a:r>
          </a:p>
        </p:txBody>
      </p:sp>
      <p:sp>
        <p:nvSpPr>
          <p:cNvPr id="316" name="verify(VK) · state update"/>
          <p:cNvSpPr txBox="1"/>
          <p:nvPr/>
        </p:nvSpPr>
        <p:spPr>
          <a:xfrm>
            <a:off x="17526000" y="4064000"/>
            <a:ext cx="3048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verify(VK) · state update</a:t>
            </a:r>
          </a:p>
        </p:txBody>
      </p:sp>
      <p:sp>
        <p:nvSpPr>
          <p:cNvPr id="317" name="선"/>
          <p:cNvSpPr/>
          <p:nvPr/>
        </p:nvSpPr>
        <p:spPr>
          <a:xfrm flipV="1">
            <a:off x="13589000" y="4698999"/>
            <a:ext cx="3683000" cy="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18" name="→"/>
          <p:cNvSpPr txBox="1"/>
          <p:nvPr/>
        </p:nvSpPr>
        <p:spPr>
          <a:xfrm>
            <a:off x="16827500" y="43180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319" name="03"/>
          <p:cNvSpPr txBox="1"/>
          <p:nvPr/>
        </p:nvSpPr>
        <p:spPr>
          <a:xfrm>
            <a:off x="16256000" y="5270500"/>
            <a:ext cx="698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03</a:t>
            </a:r>
          </a:p>
        </p:txBody>
      </p:sp>
      <p:sp>
        <p:nvSpPr>
          <p:cNvPr id="320" name="receipt · treasury root"/>
          <p:cNvSpPr txBox="1"/>
          <p:nvPr/>
        </p:nvSpPr>
        <p:spPr>
          <a:xfrm>
            <a:off x="10985500" y="5143500"/>
            <a:ext cx="3302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receipt · treasury root</a:t>
            </a:r>
          </a:p>
        </p:txBody>
      </p:sp>
      <p:sp>
        <p:nvSpPr>
          <p:cNvPr id="321" name="선"/>
          <p:cNvSpPr/>
          <p:nvPr/>
        </p:nvSpPr>
        <p:spPr>
          <a:xfrm flipH="1" flipV="1">
            <a:off x="9906000" y="5778500"/>
            <a:ext cx="7366000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22" name="←"/>
          <p:cNvSpPr txBox="1"/>
          <p:nvPr/>
        </p:nvSpPr>
        <p:spPr>
          <a:xfrm>
            <a:off x="9588500" y="53975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←</a:t>
            </a:r>
          </a:p>
        </p:txBody>
      </p:sp>
      <p:sp>
        <p:nvSpPr>
          <p:cNvPr id="323" name="PAYROLL BATCH"/>
          <p:cNvSpPr txBox="1"/>
          <p:nvPr/>
        </p:nvSpPr>
        <p:spPr>
          <a:xfrm>
            <a:off x="1333500" y="6540500"/>
            <a:ext cx="2667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PAYROLL BATCH</a:t>
            </a:r>
          </a:p>
        </p:txBody>
      </p:sp>
      <p:sp>
        <p:nvSpPr>
          <p:cNvPr id="324" name="04"/>
          <p:cNvSpPr txBox="1"/>
          <p:nvPr/>
        </p:nvSpPr>
        <p:spPr>
          <a:xfrm>
            <a:off x="1524000" y="7048500"/>
            <a:ext cx="698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04</a:t>
            </a:r>
          </a:p>
        </p:txBody>
      </p:sp>
      <p:sp>
        <p:nvSpPr>
          <p:cNvPr id="325" name="approved plan + witness"/>
          <p:cNvSpPr txBox="1"/>
          <p:nvPr/>
        </p:nvSpPr>
        <p:spPr>
          <a:xfrm>
            <a:off x="2667000" y="6921500"/>
            <a:ext cx="31115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approved plan + witness</a:t>
            </a:r>
          </a:p>
        </p:txBody>
      </p:sp>
      <p:sp>
        <p:nvSpPr>
          <p:cNvPr id="326" name="선"/>
          <p:cNvSpPr/>
          <p:nvPr/>
        </p:nvSpPr>
        <p:spPr>
          <a:xfrm flipV="1">
            <a:off x="2540000" y="7556500"/>
            <a:ext cx="3683000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27" name="→"/>
          <p:cNvSpPr txBox="1"/>
          <p:nvPr/>
        </p:nvSpPr>
        <p:spPr>
          <a:xfrm>
            <a:off x="5778500" y="71755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328" name="05"/>
          <p:cNvSpPr txBox="1"/>
          <p:nvPr/>
        </p:nvSpPr>
        <p:spPr>
          <a:xfrm>
            <a:off x="5207000" y="8064500"/>
            <a:ext cx="698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05</a:t>
            </a:r>
          </a:p>
        </p:txBody>
      </p:sp>
      <p:sp>
        <p:nvSpPr>
          <p:cNvPr id="329" name="proof + outputs"/>
          <p:cNvSpPr txBox="1"/>
          <p:nvPr/>
        </p:nvSpPr>
        <p:spPr>
          <a:xfrm>
            <a:off x="6604000" y="7937500"/>
            <a:ext cx="2413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proof + outputs</a:t>
            </a:r>
          </a:p>
        </p:txBody>
      </p:sp>
      <p:sp>
        <p:nvSpPr>
          <p:cNvPr id="330" name="선"/>
          <p:cNvSpPr/>
          <p:nvPr/>
        </p:nvSpPr>
        <p:spPr>
          <a:xfrm>
            <a:off x="6222999" y="8572499"/>
            <a:ext cx="3683002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31" name="→"/>
          <p:cNvSpPr txBox="1"/>
          <p:nvPr/>
        </p:nvSpPr>
        <p:spPr>
          <a:xfrm>
            <a:off x="9461500" y="81915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332" name="06"/>
          <p:cNvSpPr txBox="1"/>
          <p:nvPr/>
        </p:nvSpPr>
        <p:spPr>
          <a:xfrm>
            <a:off x="8890000" y="9080500"/>
            <a:ext cx="698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06</a:t>
            </a:r>
          </a:p>
        </p:txBody>
      </p:sp>
      <p:sp>
        <p:nvSpPr>
          <p:cNvPr id="333" name="signed batch tx"/>
          <p:cNvSpPr txBox="1"/>
          <p:nvPr/>
        </p:nvSpPr>
        <p:spPr>
          <a:xfrm>
            <a:off x="10287000" y="8953500"/>
            <a:ext cx="2286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signed batch tx</a:t>
            </a:r>
          </a:p>
        </p:txBody>
      </p:sp>
      <p:sp>
        <p:nvSpPr>
          <p:cNvPr id="334" name="선"/>
          <p:cNvSpPr/>
          <p:nvPr/>
        </p:nvSpPr>
        <p:spPr>
          <a:xfrm>
            <a:off x="9906000" y="9588500"/>
            <a:ext cx="3683000" cy="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35" name="→"/>
          <p:cNvSpPr txBox="1"/>
          <p:nvPr/>
        </p:nvSpPr>
        <p:spPr>
          <a:xfrm>
            <a:off x="13144500" y="92075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336" name="07"/>
          <p:cNvSpPr txBox="1"/>
          <p:nvPr/>
        </p:nvSpPr>
        <p:spPr>
          <a:xfrm>
            <a:off x="12573000" y="10096500"/>
            <a:ext cx="698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07</a:t>
            </a:r>
          </a:p>
        </p:txBody>
      </p:sp>
      <p:sp>
        <p:nvSpPr>
          <p:cNvPr id="337" name="PCL lifecycle"/>
          <p:cNvSpPr txBox="1"/>
          <p:nvPr/>
        </p:nvSpPr>
        <p:spPr>
          <a:xfrm>
            <a:off x="13843000" y="9969500"/>
            <a:ext cx="2159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PCL lifecycle</a:t>
            </a:r>
          </a:p>
        </p:txBody>
      </p:sp>
      <p:sp>
        <p:nvSpPr>
          <p:cNvPr id="338" name="verify · state update"/>
          <p:cNvSpPr txBox="1"/>
          <p:nvPr/>
        </p:nvSpPr>
        <p:spPr>
          <a:xfrm>
            <a:off x="17526000" y="9969500"/>
            <a:ext cx="2794000" cy="40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0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verify · state update</a:t>
            </a:r>
          </a:p>
        </p:txBody>
      </p:sp>
      <p:sp>
        <p:nvSpPr>
          <p:cNvPr id="339" name="선"/>
          <p:cNvSpPr/>
          <p:nvPr/>
        </p:nvSpPr>
        <p:spPr>
          <a:xfrm>
            <a:off x="13589000" y="10604500"/>
            <a:ext cx="3683000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0" name="→"/>
          <p:cNvSpPr txBox="1"/>
          <p:nvPr/>
        </p:nvSpPr>
        <p:spPr>
          <a:xfrm>
            <a:off x="16827500" y="102235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341" name="08"/>
          <p:cNvSpPr txBox="1"/>
          <p:nvPr/>
        </p:nvSpPr>
        <p:spPr>
          <a:xfrm>
            <a:off x="16256000" y="10985500"/>
            <a:ext cx="6985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08</a:t>
            </a:r>
          </a:p>
        </p:txBody>
      </p:sp>
      <p:sp>
        <p:nvSpPr>
          <p:cNvPr id="342" name="commitments · ciphertext"/>
          <p:cNvSpPr txBox="1"/>
          <p:nvPr/>
        </p:nvSpPr>
        <p:spPr>
          <a:xfrm>
            <a:off x="17526000" y="10858500"/>
            <a:ext cx="31750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commitments · ciphertext</a:t>
            </a:r>
          </a:p>
        </p:txBody>
      </p:sp>
      <p:sp>
        <p:nvSpPr>
          <p:cNvPr id="343" name="scan + audit"/>
          <p:cNvSpPr txBox="1"/>
          <p:nvPr/>
        </p:nvSpPr>
        <p:spPr>
          <a:xfrm>
            <a:off x="21336000" y="10858500"/>
            <a:ext cx="17145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scan + audit</a:t>
            </a:r>
          </a:p>
        </p:txBody>
      </p:sp>
      <p:sp>
        <p:nvSpPr>
          <p:cNvPr id="344" name="선"/>
          <p:cNvSpPr/>
          <p:nvPr/>
        </p:nvSpPr>
        <p:spPr>
          <a:xfrm>
            <a:off x="17272000" y="11493499"/>
            <a:ext cx="3683000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45" name="→"/>
          <p:cNvSpPr txBox="1"/>
          <p:nvPr/>
        </p:nvSpPr>
        <p:spPr>
          <a:xfrm>
            <a:off x="20510500" y="11112500"/>
            <a:ext cx="5715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346" name="완료 = receipt 포함 + 직원별 note 탐색 + payroll plan 대사"/>
          <p:cNvSpPr txBox="1"/>
          <p:nvPr/>
        </p:nvSpPr>
        <p:spPr>
          <a:xfrm>
            <a:off x="5461000" y="12001500"/>
            <a:ext cx="13462000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완료 = receipt 포함 + 직원별 note 탐색 + payroll plan 대사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키·서비스 책임 경계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키·서비스 책임 경계</a:t>
            </a:r>
          </a:p>
        </p:txBody>
      </p:sp>
      <p:sp>
        <p:nvSpPr>
          <p:cNvPr id="35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graphicFrame>
        <p:nvGraphicFramePr>
          <p:cNvPr id="353" name="표 1"/>
          <p:cNvGraphicFramePr/>
          <p:nvPr/>
        </p:nvGraphicFramePr>
        <p:xfrm>
          <a:off x="1270000" y="2413000"/>
          <a:ext cx="21844000" cy="79248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주체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보유 key / state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책임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대표 실패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Payroll app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registry·plan digest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승인 plan과 output 결속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직원 profile 오결속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Off-chain prover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witness·proving artifact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proof와 암호화 output 생성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호환 실패·witness 노출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Company wallet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COMPANY_PRIVATE_KEY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검토·서명·제출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키 노출·잘못된 chain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PCL wrapper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policy state·EAS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호출 전후 정책 평가·기록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typed rejection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x/privacy verifier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VK·root·nullifier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proof 검증과 상태 전이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invalid proof·stale root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Employee scanner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viewing key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본인 note 탐색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receipt 성공·scan 0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Auditor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disclosure key·plan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허용 범위와 업무 의도 대사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오지급 미탐지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공통 환경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공통 환경</a:t>
            </a:r>
          </a:p>
        </p:txBody>
      </p:sp>
      <p:sp>
        <p:nvSpPr>
          <p:cNvPr id="35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360" name="설치는 사전에 마치고, 수업에서는 버전과 Clairveil commit을 함께 확인한다."/>
          <p:cNvSpPr txBox="1"/>
          <p:nvPr/>
        </p:nvSpPr>
        <p:spPr>
          <a:xfrm>
            <a:off x="1524000" y="2413000"/>
            <a:ext cx="21336001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설치는 사전에 마치고, 수업에서는 버전과 Clairveil commit을 함께 확인한다.</a:t>
            </a:r>
          </a:p>
        </p:txBody>
      </p:sp>
      <p:sp>
        <p:nvSpPr>
          <p:cNvPr id="361" name="bun --version…"/>
          <p:cNvSpPr txBox="1"/>
          <p:nvPr/>
        </p:nvSpPr>
        <p:spPr>
          <a:xfrm>
            <a:off x="1524000" y="4191000"/>
            <a:ext cx="21336000" cy="6697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bun --version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anvil --version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cast --version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forge --version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go version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git -C ../clairveil rev-parse HEAD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bun install --cwd demo --frozen-lockfile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bun run demo/scripts/check-workshop-environment.ts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계정과 급여 계획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계정과 급여 계획</a:t>
            </a:r>
          </a:p>
        </p:txBody>
      </p:sp>
      <p:sp>
        <p:nvSpPr>
          <p:cNvPr id="36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graphicFrame>
        <p:nvGraphicFramePr>
          <p:cNvPr id="368" name="표 1"/>
          <p:cNvGraphicFramePr/>
          <p:nvPr/>
        </p:nvGraphicFramePr>
        <p:xfrm>
          <a:off x="1270000" y="2413000"/>
          <a:ext cx="21844000" cy="49530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COMPANY_ACCOUNT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회사 공개 EVM 주소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deposit과 transfer 호출자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COMPANY_PRIVATE_KEY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회사 testnet signer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demo/.env에만 저장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EMPLOYEE_ACCOUNT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별도 직원 공개 계정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회사 signer와 달라야 함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EMP-A/B/C profile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비공개 note 수취인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세 profile이 서로 달라야 함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급여 계획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급여 계획</a:t>
            </a:r>
          </a:p>
        </p:txBody>
      </p:sp>
      <p:sp>
        <p:nvSpPr>
          <p:cNvPr id="37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375" name="300"/>
          <p:cNvSpPr txBox="1"/>
          <p:nvPr/>
        </p:nvSpPr>
        <p:spPr>
          <a:xfrm>
            <a:off x="9334500" y="2667000"/>
            <a:ext cx="5715000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76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300</a:t>
            </a:r>
          </a:p>
        </p:txBody>
      </p:sp>
      <p:sp>
        <p:nvSpPr>
          <p:cNvPr id="376" name="합성 급여 총액"/>
          <p:cNvSpPr txBox="1"/>
          <p:nvPr/>
        </p:nvSpPr>
        <p:spPr>
          <a:xfrm>
            <a:off x="9398000" y="4254500"/>
            <a:ext cx="5588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합성 급여 총액</a:t>
            </a:r>
          </a:p>
        </p:txBody>
      </p:sp>
      <p:sp>
        <p:nvSpPr>
          <p:cNvPr id="377" name="EMP-A"/>
          <p:cNvSpPr txBox="1"/>
          <p:nvPr/>
        </p:nvSpPr>
        <p:spPr>
          <a:xfrm>
            <a:off x="2286000" y="6731000"/>
            <a:ext cx="53340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1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EMP-A</a:t>
            </a:r>
          </a:p>
        </p:txBody>
      </p:sp>
      <p:sp>
        <p:nvSpPr>
          <p:cNvPr id="378" name="100"/>
          <p:cNvSpPr txBox="1"/>
          <p:nvPr/>
        </p:nvSpPr>
        <p:spPr>
          <a:xfrm>
            <a:off x="2286000" y="7937500"/>
            <a:ext cx="5334000" cy="1003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59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100</a:t>
            </a:r>
          </a:p>
        </p:txBody>
      </p:sp>
      <p:sp>
        <p:nvSpPr>
          <p:cNvPr id="379" name="서로 다른 shielded profile"/>
          <p:cNvSpPr txBox="1"/>
          <p:nvPr/>
        </p:nvSpPr>
        <p:spPr>
          <a:xfrm>
            <a:off x="2286000" y="9588500"/>
            <a:ext cx="55880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서로 다른 shielded profile</a:t>
            </a:r>
          </a:p>
        </p:txBody>
      </p:sp>
      <p:sp>
        <p:nvSpPr>
          <p:cNvPr id="380" name="EMP-B"/>
          <p:cNvSpPr txBox="1"/>
          <p:nvPr/>
        </p:nvSpPr>
        <p:spPr>
          <a:xfrm>
            <a:off x="9779000" y="6731000"/>
            <a:ext cx="53340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1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EMP-B</a:t>
            </a:r>
          </a:p>
        </p:txBody>
      </p:sp>
      <p:sp>
        <p:nvSpPr>
          <p:cNvPr id="381" name="120"/>
          <p:cNvSpPr txBox="1"/>
          <p:nvPr/>
        </p:nvSpPr>
        <p:spPr>
          <a:xfrm>
            <a:off x="9779000" y="7937500"/>
            <a:ext cx="5334000" cy="1003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59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120</a:t>
            </a:r>
          </a:p>
        </p:txBody>
      </p:sp>
      <p:sp>
        <p:nvSpPr>
          <p:cNvPr id="382" name="서로 다른 shielded profile"/>
          <p:cNvSpPr txBox="1"/>
          <p:nvPr/>
        </p:nvSpPr>
        <p:spPr>
          <a:xfrm>
            <a:off x="9779000" y="9588500"/>
            <a:ext cx="55880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서로 다른 shielded profile</a:t>
            </a:r>
          </a:p>
        </p:txBody>
      </p:sp>
      <p:sp>
        <p:nvSpPr>
          <p:cNvPr id="383" name="EMP-C"/>
          <p:cNvSpPr txBox="1"/>
          <p:nvPr/>
        </p:nvSpPr>
        <p:spPr>
          <a:xfrm>
            <a:off x="17272000" y="6731000"/>
            <a:ext cx="53340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1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EMP-C</a:t>
            </a:r>
          </a:p>
        </p:txBody>
      </p:sp>
      <p:sp>
        <p:nvSpPr>
          <p:cNvPr id="384" name="80"/>
          <p:cNvSpPr txBox="1"/>
          <p:nvPr/>
        </p:nvSpPr>
        <p:spPr>
          <a:xfrm>
            <a:off x="17272000" y="7937500"/>
            <a:ext cx="5334000" cy="1003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59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80</a:t>
            </a:r>
          </a:p>
        </p:txBody>
      </p:sp>
      <p:sp>
        <p:nvSpPr>
          <p:cNvPr id="385" name="서로 다른 shielded profile"/>
          <p:cNvSpPr txBox="1"/>
          <p:nvPr/>
        </p:nvSpPr>
        <p:spPr>
          <a:xfrm>
            <a:off x="17272000" y="9588500"/>
            <a:ext cx="55880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서로 다른 shielded profile</a:t>
            </a:r>
          </a:p>
        </p:txBody>
      </p:sp>
      <p:sp>
        <p:nvSpPr>
          <p:cNvPr id="386" name="Clairveil Local에서는 uclair, Maroo 목표에서는 OKRW 상당"/>
          <p:cNvSpPr txBox="1"/>
          <p:nvPr/>
        </p:nvSpPr>
        <p:spPr>
          <a:xfrm>
            <a:off x="6350000" y="11430000"/>
            <a:ext cx="116840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Clairveil Local에서는 uclair, Maroo 목표에서는 OKRW 상당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Maroo read-only prefligh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Maroo read-only preflight</a:t>
            </a:r>
          </a:p>
        </p:txBody>
      </p:sp>
      <p:sp>
        <p:nvSpPr>
          <p:cNvPr id="39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393" name="회사 계정, 잔액, OKRW, PCL, Privacy 상태를 읽는다. 이 단계는 상태를 바꾸지 않는다."/>
          <p:cNvSpPr txBox="1"/>
          <p:nvPr/>
        </p:nvSpPr>
        <p:spPr>
          <a:xfrm>
            <a:off x="1524000" y="2413000"/>
            <a:ext cx="213360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회사 계정, 잔액, OKRW, PCL, Privacy 상태를 읽는다. 이 단계는 상태를 바꾸지 않는다.</a:t>
            </a:r>
          </a:p>
        </p:txBody>
      </p:sp>
      <p:sp>
        <p:nvSpPr>
          <p:cNvPr id="394" name="bun run demo/scripts/run.ts \…"/>
          <p:cNvSpPr txBox="1"/>
          <p:nvPr/>
        </p:nvSpPr>
        <p:spPr>
          <a:xfrm>
            <a:off x="1524000" y="4191000"/>
            <a:ext cx="21336000" cy="491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bun run demo/scripts/run.ts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--target maroo-testnet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--action preflight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--env demo/.env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--plan demo/fixtures/payroll-plan.json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--out evidence/live-testnet/preflight.json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Maroo readiness 판정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Maroo readiness 판정</a:t>
            </a:r>
          </a:p>
        </p:txBody>
      </p:sp>
      <p:sp>
        <p:nvSpPr>
          <p:cNvPr id="40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graphicFrame>
        <p:nvGraphicFramePr>
          <p:cNvPr id="401" name="표 1"/>
          <p:cNvGraphicFramePr/>
          <p:nvPr/>
        </p:nvGraphicFramePr>
        <p:xfrm>
          <a:off x="1270000" y="2413000"/>
          <a:ext cx="21844000" cy="59436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66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확인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통과 기준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Network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chainId 450815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Company signer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COMPANY_ACCOUNT와 private key 파생 주소 일치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Role separation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COMPANY_ACCOUNT와 EMPLOYEE_ACCOUNT가 다름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Funding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가스와 300 OKRW 상당 deposit 여유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Policy state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global과 Privacy policy raw state 기록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406" name="Clairveil Local · 실제 proof를 확인하는 격리 환경"/>
          <p:cNvSpPr txBox="1"/>
          <p:nvPr/>
        </p:nvSpPr>
        <p:spPr>
          <a:xfrm>
            <a:off x="1270000" y="698500"/>
            <a:ext cx="19685001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6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Clairveil Local · 실제 proof를 확인하는 격리 환경</a:t>
            </a:r>
          </a:p>
        </p:txBody>
      </p:sp>
      <p:sp>
        <p:nvSpPr>
          <p:cNvPr id="407" name="직사각형"/>
          <p:cNvSpPr/>
          <p:nvPr/>
        </p:nvSpPr>
        <p:spPr>
          <a:xfrm>
            <a:off x="952500" y="2159000"/>
            <a:ext cx="22479001" cy="82550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08" name="LOCAL PROCESS BOUNDARY"/>
          <p:cNvSpPr txBox="1"/>
          <p:nvPr/>
        </p:nvSpPr>
        <p:spPr>
          <a:xfrm>
            <a:off x="1397000" y="2413000"/>
            <a:ext cx="8255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LOCAL PROCESS BOUNDARY</a:t>
            </a:r>
          </a:p>
        </p:txBody>
      </p:sp>
      <p:sp>
        <p:nvSpPr>
          <p:cNvPr id="409" name="직사각형"/>
          <p:cNvSpPr/>
          <p:nvPr/>
        </p:nvSpPr>
        <p:spPr>
          <a:xfrm>
            <a:off x="1397000" y="4000500"/>
            <a:ext cx="3556000" cy="2159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10" name="Bun runner"/>
          <p:cNvSpPr txBox="1"/>
          <p:nvPr/>
        </p:nvSpPr>
        <p:spPr>
          <a:xfrm>
            <a:off x="1701800" y="4318000"/>
            <a:ext cx="294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Bun runner</a:t>
            </a:r>
          </a:p>
        </p:txBody>
      </p:sp>
      <p:sp>
        <p:nvSpPr>
          <p:cNvPr id="411" name="환경 준비·실행·정리"/>
          <p:cNvSpPr txBox="1"/>
          <p:nvPr/>
        </p:nvSpPr>
        <p:spPr>
          <a:xfrm>
            <a:off x="1701800" y="50165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환경 준비·실행·정리</a:t>
            </a:r>
          </a:p>
        </p:txBody>
      </p:sp>
      <p:sp>
        <p:nvSpPr>
          <p:cNvPr id="412" name="evidence JSON"/>
          <p:cNvSpPr txBox="1"/>
          <p:nvPr/>
        </p:nvSpPr>
        <p:spPr>
          <a:xfrm>
            <a:off x="1701800" y="55245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evidence JSON</a:t>
            </a:r>
          </a:p>
        </p:txBody>
      </p:sp>
      <p:sp>
        <p:nvSpPr>
          <p:cNvPr id="413" name="직사각형"/>
          <p:cNvSpPr/>
          <p:nvPr/>
        </p:nvSpPr>
        <p:spPr>
          <a:xfrm>
            <a:off x="5969000" y="4000500"/>
            <a:ext cx="3556000" cy="2159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14" name="Go prover"/>
          <p:cNvSpPr txBox="1"/>
          <p:nvPr/>
        </p:nvSpPr>
        <p:spPr>
          <a:xfrm>
            <a:off x="6273800" y="4318000"/>
            <a:ext cx="294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Go prover</a:t>
            </a:r>
          </a:p>
        </p:txBody>
      </p:sp>
      <p:sp>
        <p:nvSpPr>
          <p:cNvPr id="415" name="off-chain · witness → proof"/>
          <p:cNvSpPr txBox="1"/>
          <p:nvPr/>
        </p:nvSpPr>
        <p:spPr>
          <a:xfrm>
            <a:off x="6273800" y="50165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off-chain · witness → proof</a:t>
            </a:r>
          </a:p>
        </p:txBody>
      </p:sp>
      <p:sp>
        <p:nvSpPr>
          <p:cNvPr id="416" name="3 encrypted outputs"/>
          <p:cNvSpPr txBox="1"/>
          <p:nvPr/>
        </p:nvSpPr>
        <p:spPr>
          <a:xfrm>
            <a:off x="6273800" y="55245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3 encrypted outputs</a:t>
            </a:r>
          </a:p>
        </p:txBody>
      </p:sp>
      <p:sp>
        <p:nvSpPr>
          <p:cNvPr id="417" name="직사각형"/>
          <p:cNvSpPr/>
          <p:nvPr/>
        </p:nvSpPr>
        <p:spPr>
          <a:xfrm>
            <a:off x="10541000" y="4000500"/>
            <a:ext cx="3556000" cy="2159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18" name="Prepared tx"/>
          <p:cNvSpPr txBox="1"/>
          <p:nvPr/>
        </p:nvSpPr>
        <p:spPr>
          <a:xfrm>
            <a:off x="10845800" y="4318000"/>
            <a:ext cx="294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Prepared tx</a:t>
            </a:r>
          </a:p>
        </p:txBody>
      </p:sp>
      <p:sp>
        <p:nvSpPr>
          <p:cNvPr id="419" name="deposit · batch"/>
          <p:cNvSpPr txBox="1"/>
          <p:nvPr/>
        </p:nvSpPr>
        <p:spPr>
          <a:xfrm>
            <a:off x="10845800" y="50165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deposit · batch</a:t>
            </a:r>
          </a:p>
        </p:txBody>
      </p:sp>
      <p:sp>
        <p:nvSpPr>
          <p:cNvPr id="420" name="input 1 · output 3"/>
          <p:cNvSpPr txBox="1"/>
          <p:nvPr/>
        </p:nvSpPr>
        <p:spPr>
          <a:xfrm>
            <a:off x="10845800" y="55245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input 1 · output 3</a:t>
            </a:r>
          </a:p>
        </p:txBody>
      </p:sp>
      <p:sp>
        <p:nvSpPr>
          <p:cNvPr id="421" name="직사각형"/>
          <p:cNvSpPr/>
          <p:nvPr/>
        </p:nvSpPr>
        <p:spPr>
          <a:xfrm>
            <a:off x="15113000" y="4000500"/>
            <a:ext cx="3556000" cy="2159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22" name="Local x/privacy"/>
          <p:cNvSpPr txBox="1"/>
          <p:nvPr/>
        </p:nvSpPr>
        <p:spPr>
          <a:xfrm>
            <a:off x="15417800" y="4318000"/>
            <a:ext cx="294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Local x/privacy</a:t>
            </a:r>
          </a:p>
        </p:txBody>
      </p:sp>
      <p:sp>
        <p:nvSpPr>
          <p:cNvPr id="423" name="proof verifier · state"/>
          <p:cNvSpPr txBox="1"/>
          <p:nvPr/>
        </p:nvSpPr>
        <p:spPr>
          <a:xfrm>
            <a:off x="15417800" y="50165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proof verifier · state</a:t>
            </a:r>
          </a:p>
        </p:txBody>
      </p:sp>
      <p:sp>
        <p:nvSpPr>
          <p:cNvPr id="424" name="root · nullifier"/>
          <p:cNvSpPr txBox="1"/>
          <p:nvPr/>
        </p:nvSpPr>
        <p:spPr>
          <a:xfrm>
            <a:off x="15417800" y="55245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root · nullifier</a:t>
            </a:r>
          </a:p>
        </p:txBody>
      </p:sp>
      <p:sp>
        <p:nvSpPr>
          <p:cNvPr id="425" name="직사각형"/>
          <p:cNvSpPr/>
          <p:nvPr/>
        </p:nvSpPr>
        <p:spPr>
          <a:xfrm>
            <a:off x="19685000" y="4000500"/>
            <a:ext cx="3175000" cy="2159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26" name="3 scanners"/>
          <p:cNvSpPr txBox="1"/>
          <p:nvPr/>
        </p:nvSpPr>
        <p:spPr>
          <a:xfrm>
            <a:off x="19989800" y="4318000"/>
            <a:ext cx="2565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3 scanners</a:t>
            </a:r>
          </a:p>
        </p:txBody>
      </p:sp>
      <p:sp>
        <p:nvSpPr>
          <p:cNvPr id="427" name="A 100 · B 120"/>
          <p:cNvSpPr txBox="1"/>
          <p:nvPr/>
        </p:nvSpPr>
        <p:spPr>
          <a:xfrm>
            <a:off x="19989800" y="5016500"/>
            <a:ext cx="2565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 100 · B 120</a:t>
            </a:r>
          </a:p>
        </p:txBody>
      </p:sp>
      <p:sp>
        <p:nvSpPr>
          <p:cNvPr id="428" name="C 80 uclair"/>
          <p:cNvSpPr txBox="1"/>
          <p:nvPr/>
        </p:nvSpPr>
        <p:spPr>
          <a:xfrm>
            <a:off x="19989800" y="5524500"/>
            <a:ext cx="2565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 80 uclair</a:t>
            </a:r>
          </a:p>
        </p:txBody>
      </p:sp>
      <p:sp>
        <p:nvSpPr>
          <p:cNvPr id="429" name="→"/>
          <p:cNvSpPr txBox="1"/>
          <p:nvPr/>
        </p:nvSpPr>
        <p:spPr>
          <a:xfrm>
            <a:off x="5080000" y="4635500"/>
            <a:ext cx="7620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430" name="→"/>
          <p:cNvSpPr txBox="1"/>
          <p:nvPr/>
        </p:nvSpPr>
        <p:spPr>
          <a:xfrm>
            <a:off x="9652000" y="4635500"/>
            <a:ext cx="7620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431" name="→"/>
          <p:cNvSpPr txBox="1"/>
          <p:nvPr/>
        </p:nvSpPr>
        <p:spPr>
          <a:xfrm>
            <a:off x="14224000" y="4635500"/>
            <a:ext cx="7620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432" name="→"/>
          <p:cNvSpPr txBox="1"/>
          <p:nvPr/>
        </p:nvSpPr>
        <p:spPr>
          <a:xfrm>
            <a:off x="18796000" y="4635500"/>
            <a:ext cx="7620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433" name="직접 확인"/>
          <p:cNvSpPr txBox="1"/>
          <p:nvPr/>
        </p:nvSpPr>
        <p:spPr>
          <a:xfrm>
            <a:off x="2032000" y="7874000"/>
            <a:ext cx="3175001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40E19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직접 확인</a:t>
            </a:r>
          </a:p>
        </p:txBody>
      </p:sp>
      <p:sp>
        <p:nvSpPr>
          <p:cNvPr id="434" name="deposit · proof 1개 · output 3개 · 직원별 scan"/>
          <p:cNvSpPr txBox="1"/>
          <p:nvPr/>
        </p:nvSpPr>
        <p:spPr>
          <a:xfrm>
            <a:off x="5080000" y="7874000"/>
            <a:ext cx="8509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deposit · proof 1개 · output 3개 · 직원별 scan</a:t>
            </a:r>
          </a:p>
        </p:txBody>
      </p:sp>
      <p:sp>
        <p:nvSpPr>
          <p:cNvPr id="435" name="증명하지 않음"/>
          <p:cNvSpPr txBox="1"/>
          <p:nvPr/>
        </p:nvSpPr>
        <p:spPr>
          <a:xfrm>
            <a:off x="2032000" y="8890000"/>
            <a:ext cx="3175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증명하지 않음</a:t>
            </a:r>
          </a:p>
        </p:txBody>
      </p:sp>
      <p:sp>
        <p:nvSpPr>
          <p:cNvPr id="436" name="Maroo OKRW · PCL · VK · proof 포맷 호환"/>
          <p:cNvSpPr txBox="1"/>
          <p:nvPr/>
        </p:nvSpPr>
        <p:spPr>
          <a:xfrm>
            <a:off x="5080000" y="8890000"/>
            <a:ext cx="8890000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Maroo OKRW · PCL · VK · proof 포맷 호환</a:t>
            </a:r>
          </a:p>
        </p:txBody>
      </p:sp>
      <p:sp>
        <p:nvSpPr>
          <p:cNvPr id="437" name="[Local] 결과는 [Live Testnet] 성공 증거와 합치지 않는다"/>
          <p:cNvSpPr txBox="1"/>
          <p:nvPr/>
        </p:nvSpPr>
        <p:spPr>
          <a:xfrm>
            <a:off x="5461000" y="11430000"/>
            <a:ext cx="13462000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[Local] 결과는 [Live Testnet] 성공 증거와 합치지 않는다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lairveil Local 실행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Clairveil Local 실행</a:t>
            </a:r>
          </a:p>
        </p:txBody>
      </p:sp>
      <p:sp>
        <p:nvSpPr>
          <p:cNvPr id="44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444" name="runner가 임시 localnet을 만들고 정상 급여와 두 통제 사례를 실행한 뒤 정리한다."/>
          <p:cNvSpPr txBox="1"/>
          <p:nvPr/>
        </p:nvSpPr>
        <p:spPr>
          <a:xfrm>
            <a:off x="1524000" y="2413000"/>
            <a:ext cx="21336001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runner가 임시 localnet을 만들고 정상 급여와 두 통제 사례를 실행한 뒤 정리한다.</a:t>
            </a:r>
          </a:p>
        </p:txBody>
      </p:sp>
      <p:sp>
        <p:nvSpPr>
          <p:cNvPr id="445" name="bun run demo/scripts/run.ts \…"/>
          <p:cNvSpPr txBox="1"/>
          <p:nvPr/>
        </p:nvSpPr>
        <p:spPr>
          <a:xfrm>
            <a:off x="1524000" y="4191000"/>
            <a:ext cx="21336000" cy="402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bun run demo/scripts/run.ts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--target clairveil-local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--action payroll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--clairveil ../clairveil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--out evidence/local/payroll-summary.json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정상 급여 결과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정상 급여 결과</a:t>
            </a:r>
          </a:p>
        </p:txBody>
      </p:sp>
      <p:sp>
        <p:nvSpPr>
          <p:cNvPr id="45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452" name="code 0 · proof 1개 · output 3개"/>
          <p:cNvSpPr txBox="1"/>
          <p:nvPr/>
        </p:nvSpPr>
        <p:spPr>
          <a:xfrm>
            <a:off x="1524000" y="2794000"/>
            <a:ext cx="21336000" cy="927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5400">
                <a:solidFill>
                  <a:srgbClr val="40E19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code 0 · proof 1개 · output 3개</a:t>
            </a:r>
          </a:p>
        </p:txBody>
      </p:sp>
      <p:sp>
        <p:nvSpPr>
          <p:cNvPr id="453" name="Deposit 300uclair…"/>
          <p:cNvSpPr txBox="1"/>
          <p:nvPr/>
        </p:nvSpPr>
        <p:spPr>
          <a:xfrm>
            <a:off x="1524000" y="4953000"/>
            <a:ext cx="21336000" cy="443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Deposit 300uclair</a:t>
            </a:r>
          </a:p>
          <a:p>
            <a:pPr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EMP-A 100uclair, EMP-B 120uclair, EMP-C 80uclair</a:t>
            </a:r>
          </a:p>
          <a:p>
            <a:pPr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각 직원 scan에서 batch tx와 연결된 신규 note 1개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458" name="주요 상태 전이 · 무엇이 공개되고 무엇이 숨겨지는가"/>
          <p:cNvSpPr txBox="1"/>
          <p:nvPr/>
        </p:nvSpPr>
        <p:spPr>
          <a:xfrm>
            <a:off x="1270000" y="698500"/>
            <a:ext cx="20955000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6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주요 상태 전이 · 무엇이 공개되고 무엇이 숨겨지는가</a:t>
            </a:r>
          </a:p>
        </p:txBody>
      </p:sp>
      <p:sp>
        <p:nvSpPr>
          <p:cNvPr id="459" name="직사각형"/>
          <p:cNvSpPr/>
          <p:nvPr/>
        </p:nvSpPr>
        <p:spPr>
          <a:xfrm>
            <a:off x="1143000" y="3302000"/>
            <a:ext cx="3810000" cy="2286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60" name="① Public OKRW"/>
          <p:cNvSpPr txBox="1"/>
          <p:nvPr/>
        </p:nvSpPr>
        <p:spPr>
          <a:xfrm>
            <a:off x="1447799" y="3619500"/>
            <a:ext cx="3200401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① Public OKRW</a:t>
            </a:r>
          </a:p>
        </p:txBody>
      </p:sp>
      <p:sp>
        <p:nvSpPr>
          <p:cNvPr id="461" name="company balance"/>
          <p:cNvSpPr txBox="1"/>
          <p:nvPr/>
        </p:nvSpPr>
        <p:spPr>
          <a:xfrm>
            <a:off x="1447800" y="4318000"/>
            <a:ext cx="3200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company balance</a:t>
            </a:r>
          </a:p>
        </p:txBody>
      </p:sp>
      <p:sp>
        <p:nvSpPr>
          <p:cNvPr id="462" name="msg.value = 300"/>
          <p:cNvSpPr txBox="1"/>
          <p:nvPr/>
        </p:nvSpPr>
        <p:spPr>
          <a:xfrm>
            <a:off x="1447800" y="4826000"/>
            <a:ext cx="3200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msg.value = 300</a:t>
            </a:r>
          </a:p>
        </p:txBody>
      </p:sp>
      <p:sp>
        <p:nvSpPr>
          <p:cNvPr id="463" name="deposit →"/>
          <p:cNvSpPr txBox="1"/>
          <p:nvPr/>
        </p:nvSpPr>
        <p:spPr>
          <a:xfrm>
            <a:off x="5143500" y="4064000"/>
            <a:ext cx="22860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deposit →</a:t>
            </a:r>
          </a:p>
        </p:txBody>
      </p:sp>
      <p:sp>
        <p:nvSpPr>
          <p:cNvPr id="464" name="직사각형"/>
          <p:cNvSpPr/>
          <p:nvPr/>
        </p:nvSpPr>
        <p:spPr>
          <a:xfrm>
            <a:off x="7493000" y="3302000"/>
            <a:ext cx="3937000" cy="2286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65" name="② Treasury note"/>
          <p:cNvSpPr txBox="1"/>
          <p:nvPr/>
        </p:nvSpPr>
        <p:spPr>
          <a:xfrm>
            <a:off x="7797800" y="3619500"/>
            <a:ext cx="3327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② Treasury note</a:t>
            </a:r>
          </a:p>
        </p:txBody>
      </p:sp>
      <p:sp>
        <p:nvSpPr>
          <p:cNvPr id="466" name="commitment · root₀"/>
          <p:cNvSpPr txBox="1"/>
          <p:nvPr/>
        </p:nvSpPr>
        <p:spPr>
          <a:xfrm>
            <a:off x="7797800" y="4318000"/>
            <a:ext cx="3327400" cy="39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commitment · root₀</a:t>
            </a:r>
          </a:p>
        </p:txBody>
      </p:sp>
      <p:sp>
        <p:nvSpPr>
          <p:cNvPr id="467" name="평문 금액은 비공개"/>
          <p:cNvSpPr txBox="1"/>
          <p:nvPr/>
        </p:nvSpPr>
        <p:spPr>
          <a:xfrm>
            <a:off x="7797800" y="4826000"/>
            <a:ext cx="3327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평문 금액은 비공개</a:t>
            </a:r>
          </a:p>
        </p:txBody>
      </p:sp>
      <p:sp>
        <p:nvSpPr>
          <p:cNvPr id="468" name="검증 →"/>
          <p:cNvSpPr txBox="1"/>
          <p:nvPr/>
        </p:nvSpPr>
        <p:spPr>
          <a:xfrm>
            <a:off x="11620500" y="4064000"/>
            <a:ext cx="19050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검증 →</a:t>
            </a:r>
          </a:p>
        </p:txBody>
      </p:sp>
      <p:sp>
        <p:nvSpPr>
          <p:cNvPr id="469" name="직사각형"/>
          <p:cNvSpPr/>
          <p:nvPr/>
        </p:nvSpPr>
        <p:spPr>
          <a:xfrm>
            <a:off x="13589000" y="3302000"/>
            <a:ext cx="3937001" cy="2286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70" name="③ Input spent"/>
          <p:cNvSpPr txBox="1"/>
          <p:nvPr/>
        </p:nvSpPr>
        <p:spPr>
          <a:xfrm>
            <a:off x="13893800" y="3619500"/>
            <a:ext cx="3327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③ Input spent</a:t>
            </a:r>
          </a:p>
        </p:txBody>
      </p:sp>
      <p:sp>
        <p:nvSpPr>
          <p:cNvPr id="471" name="nullifier 공개"/>
          <p:cNvSpPr txBox="1"/>
          <p:nvPr/>
        </p:nvSpPr>
        <p:spPr>
          <a:xfrm>
            <a:off x="13893800" y="4318000"/>
            <a:ext cx="3327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nullifier 공개</a:t>
            </a:r>
          </a:p>
        </p:txBody>
      </p:sp>
      <p:sp>
        <p:nvSpPr>
          <p:cNvPr id="472" name="root₀ → root₁"/>
          <p:cNvSpPr txBox="1"/>
          <p:nvPr/>
        </p:nvSpPr>
        <p:spPr>
          <a:xfrm>
            <a:off x="13893800" y="4826000"/>
            <a:ext cx="3327400" cy="39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root₀ → root₁</a:t>
            </a:r>
          </a:p>
        </p:txBody>
      </p:sp>
      <p:sp>
        <p:nvSpPr>
          <p:cNvPr id="473" name="→"/>
          <p:cNvSpPr txBox="1"/>
          <p:nvPr/>
        </p:nvSpPr>
        <p:spPr>
          <a:xfrm>
            <a:off x="17716500" y="4064000"/>
            <a:ext cx="11430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5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474" name="직사각형"/>
          <p:cNvSpPr/>
          <p:nvPr/>
        </p:nvSpPr>
        <p:spPr>
          <a:xfrm>
            <a:off x="18796000" y="3301999"/>
            <a:ext cx="4445001" cy="2286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75" name="④ Output × 3"/>
          <p:cNvSpPr txBox="1"/>
          <p:nvPr/>
        </p:nvSpPr>
        <p:spPr>
          <a:xfrm>
            <a:off x="19100800" y="3619500"/>
            <a:ext cx="3835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④ Output × 3</a:t>
            </a:r>
          </a:p>
        </p:txBody>
      </p:sp>
      <p:sp>
        <p:nvSpPr>
          <p:cNvPr id="476" name="commitments 공개"/>
          <p:cNvSpPr txBox="1"/>
          <p:nvPr/>
        </p:nvSpPr>
        <p:spPr>
          <a:xfrm>
            <a:off x="19100800" y="4318000"/>
            <a:ext cx="3835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commitments 공개</a:t>
            </a:r>
          </a:p>
        </p:txBody>
      </p:sp>
      <p:sp>
        <p:nvSpPr>
          <p:cNvPr id="477" name="직원·금액 평문 비공개"/>
          <p:cNvSpPr txBox="1"/>
          <p:nvPr/>
        </p:nvSpPr>
        <p:spPr>
          <a:xfrm>
            <a:off x="19100800" y="4826000"/>
            <a:ext cx="3835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직원·금액 평문 비공개</a:t>
            </a:r>
          </a:p>
        </p:txBody>
      </p:sp>
      <p:sp>
        <p:nvSpPr>
          <p:cNvPr id="478" name="↓ EMP-A viewing key"/>
          <p:cNvSpPr txBox="1"/>
          <p:nvPr/>
        </p:nvSpPr>
        <p:spPr>
          <a:xfrm>
            <a:off x="18542000" y="6604000"/>
            <a:ext cx="45720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00E9FF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↓ EMP-A viewing key</a:t>
            </a:r>
          </a:p>
        </p:txBody>
      </p:sp>
      <p:sp>
        <p:nvSpPr>
          <p:cNvPr id="479" name="↓ EMP-B viewing key"/>
          <p:cNvSpPr txBox="1"/>
          <p:nvPr/>
        </p:nvSpPr>
        <p:spPr>
          <a:xfrm>
            <a:off x="18542000" y="7620000"/>
            <a:ext cx="45720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00E9FF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↓ EMP-B viewing key</a:t>
            </a:r>
          </a:p>
        </p:txBody>
      </p:sp>
      <p:sp>
        <p:nvSpPr>
          <p:cNvPr id="480" name="↓ EMP-C viewing key"/>
          <p:cNvSpPr txBox="1"/>
          <p:nvPr/>
        </p:nvSpPr>
        <p:spPr>
          <a:xfrm>
            <a:off x="18542000" y="8636000"/>
            <a:ext cx="4572000" cy="44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200">
                <a:solidFill>
                  <a:srgbClr val="00E9FF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↓ EMP-C viewing key</a:t>
            </a:r>
          </a:p>
        </p:txBody>
      </p:sp>
      <p:sp>
        <p:nvSpPr>
          <p:cNvPr id="481" name="직사각형"/>
          <p:cNvSpPr/>
          <p:nvPr/>
        </p:nvSpPr>
        <p:spPr>
          <a:xfrm>
            <a:off x="10414000" y="7429500"/>
            <a:ext cx="6096001" cy="2413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2" name="⑤ Delivery evidence"/>
          <p:cNvSpPr txBox="1"/>
          <p:nvPr/>
        </p:nvSpPr>
        <p:spPr>
          <a:xfrm>
            <a:off x="10718800" y="7747000"/>
            <a:ext cx="548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40E19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⑤ Delivery evidence</a:t>
            </a:r>
          </a:p>
        </p:txBody>
      </p:sp>
      <p:sp>
        <p:nvSpPr>
          <p:cNvPr id="483" name="직원별 note · batch tx binding"/>
          <p:cNvSpPr txBox="1"/>
          <p:nvPr/>
        </p:nvSpPr>
        <p:spPr>
          <a:xfrm>
            <a:off x="10718800" y="8445500"/>
            <a:ext cx="548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직원별 note · batch tx binding</a:t>
            </a:r>
          </a:p>
        </p:txBody>
      </p:sp>
      <p:sp>
        <p:nvSpPr>
          <p:cNvPr id="484" name="auditor의 plan/disclosure 대사"/>
          <p:cNvSpPr txBox="1"/>
          <p:nvPr/>
        </p:nvSpPr>
        <p:spPr>
          <a:xfrm>
            <a:off x="10718800" y="8953500"/>
            <a:ext cx="548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auditor의 plan/disclosure 대사</a:t>
            </a:r>
          </a:p>
        </p:txBody>
      </p:sp>
      <p:sp>
        <p:nvSpPr>
          <p:cNvPr id="485" name="PUBLIC"/>
          <p:cNvSpPr txBox="1"/>
          <p:nvPr/>
        </p:nvSpPr>
        <p:spPr>
          <a:xfrm>
            <a:off x="1397000" y="7366000"/>
            <a:ext cx="2667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PUBLIC</a:t>
            </a:r>
          </a:p>
        </p:txBody>
      </p:sp>
      <p:sp>
        <p:nvSpPr>
          <p:cNvPr id="486" name="tx hash · root · nullifier"/>
          <p:cNvSpPr txBox="1"/>
          <p:nvPr/>
        </p:nvSpPr>
        <p:spPr>
          <a:xfrm>
            <a:off x="1397000" y="8255000"/>
            <a:ext cx="66040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tx hash · root · nullifier</a:t>
            </a:r>
          </a:p>
        </p:txBody>
      </p:sp>
      <p:sp>
        <p:nvSpPr>
          <p:cNvPr id="487" name="commitments · input/output count"/>
          <p:cNvSpPr txBox="1"/>
          <p:nvPr/>
        </p:nvSpPr>
        <p:spPr>
          <a:xfrm>
            <a:off x="1397000" y="8953500"/>
            <a:ext cx="66040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commitments · input/output count</a:t>
            </a:r>
          </a:p>
        </p:txBody>
      </p:sp>
      <p:sp>
        <p:nvSpPr>
          <p:cNvPr id="488" name="PRIVATE"/>
          <p:cNvSpPr txBox="1"/>
          <p:nvPr/>
        </p:nvSpPr>
        <p:spPr>
          <a:xfrm>
            <a:off x="1396999" y="9779000"/>
            <a:ext cx="2667001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PRIVATE</a:t>
            </a:r>
          </a:p>
        </p:txBody>
      </p:sp>
      <p:sp>
        <p:nvSpPr>
          <p:cNvPr id="489" name="직원 mapping · note amount"/>
          <p:cNvSpPr txBox="1"/>
          <p:nvPr/>
        </p:nvSpPr>
        <p:spPr>
          <a:xfrm>
            <a:off x="1397000" y="10668000"/>
            <a:ext cx="66040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직원 mapping · note amount</a:t>
            </a:r>
          </a:p>
        </p:txBody>
      </p:sp>
      <p:sp>
        <p:nvSpPr>
          <p:cNvPr id="490" name="viewing / disclosure key"/>
          <p:cNvSpPr txBox="1"/>
          <p:nvPr/>
        </p:nvSpPr>
        <p:spPr>
          <a:xfrm>
            <a:off x="1397000" y="11366500"/>
            <a:ext cx="660400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viewing / disclosure key</a:t>
            </a:r>
          </a:p>
        </p:txBody>
      </p:sp>
      <p:sp>
        <p:nvSpPr>
          <p:cNvPr id="491" name="receipt 성공은 ④까지의 증거 · 급여 완료는 ⑤까지 필요"/>
          <p:cNvSpPr txBox="1"/>
          <p:nvPr/>
        </p:nvSpPr>
        <p:spPr>
          <a:xfrm>
            <a:off x="6350000" y="12065000"/>
            <a:ext cx="12700000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receipt 성공은 ④까지의 증거 · 급여 완료는 ⑤까지 필요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데이터 가시성 매트릭스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데이터 가시성 매트릭스</a:t>
            </a:r>
          </a:p>
        </p:txBody>
      </p:sp>
      <p:sp>
        <p:nvSpPr>
          <p:cNvPr id="49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graphicFrame>
        <p:nvGraphicFramePr>
          <p:cNvPr id="498" name="표 1"/>
          <p:cNvGraphicFramePr/>
          <p:nvPr/>
        </p:nvGraphicFramePr>
        <p:xfrm>
          <a:off x="1270000" y="2413000"/>
          <a:ext cx="21844000" cy="503936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관찰자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급여 평문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직원 매핑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commitment·proof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보유 key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Public RPC / explorer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보이지 않음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보이지 않음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보임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없음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Company wallet / app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plan에서 앎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registry에서 앎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제출·조회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signing key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EMP-A/B/C scanner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본인 note만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본인만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본인 note와 결속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viewing key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Auditor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권한 범위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권한 범위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disclosure와 대사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disclosure key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503" name="실패 모드 1 · 300으로 301을 지급하려면"/>
          <p:cNvSpPr txBox="1"/>
          <p:nvPr/>
        </p:nvSpPr>
        <p:spPr>
          <a:xfrm>
            <a:off x="1270000" y="698500"/>
            <a:ext cx="19685000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6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실패 모드 1 · 300으로 301을 지급하려면</a:t>
            </a:r>
          </a:p>
        </p:txBody>
      </p:sp>
      <p:sp>
        <p:nvSpPr>
          <p:cNvPr id="504" name="직사각형"/>
          <p:cNvSpPr/>
          <p:nvPr/>
        </p:nvSpPr>
        <p:spPr>
          <a:xfrm>
            <a:off x="952499" y="2159000"/>
            <a:ext cx="14986001" cy="82550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05" name="직사각형"/>
          <p:cNvSpPr/>
          <p:nvPr/>
        </p:nvSpPr>
        <p:spPr>
          <a:xfrm>
            <a:off x="16509999" y="2158999"/>
            <a:ext cx="6921501" cy="8255001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06" name="OFF-CHAIN · BROADCAST 전"/>
          <p:cNvSpPr txBox="1"/>
          <p:nvPr/>
        </p:nvSpPr>
        <p:spPr>
          <a:xfrm>
            <a:off x="1397000" y="2413000"/>
            <a:ext cx="8255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OFF-CHAIN · BROADCAST 전</a:t>
            </a:r>
          </a:p>
        </p:txBody>
      </p:sp>
      <p:sp>
        <p:nvSpPr>
          <p:cNvPr id="507" name="NOT REACHED"/>
          <p:cNvSpPr txBox="1"/>
          <p:nvPr/>
        </p:nvSpPr>
        <p:spPr>
          <a:xfrm>
            <a:off x="16954500" y="2413000"/>
            <a:ext cx="5080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FF636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NOT REACHED</a:t>
            </a:r>
          </a:p>
        </p:txBody>
      </p:sp>
      <p:sp>
        <p:nvSpPr>
          <p:cNvPr id="508" name="직사각형"/>
          <p:cNvSpPr/>
          <p:nvPr/>
        </p:nvSpPr>
        <p:spPr>
          <a:xfrm>
            <a:off x="1460500" y="4191000"/>
            <a:ext cx="3556000" cy="2286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09" name="Treasury note"/>
          <p:cNvSpPr txBox="1"/>
          <p:nvPr/>
        </p:nvSpPr>
        <p:spPr>
          <a:xfrm>
            <a:off x="1765300" y="4508500"/>
            <a:ext cx="294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Treasury note</a:t>
            </a:r>
          </a:p>
        </p:txBody>
      </p:sp>
      <p:sp>
        <p:nvSpPr>
          <p:cNvPr id="510" name="available = 300"/>
          <p:cNvSpPr txBox="1"/>
          <p:nvPr/>
        </p:nvSpPr>
        <p:spPr>
          <a:xfrm>
            <a:off x="1765300" y="52070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available = 300</a:t>
            </a:r>
          </a:p>
        </p:txBody>
      </p:sp>
      <p:sp>
        <p:nvSpPr>
          <p:cNvPr id="511" name="root₀"/>
          <p:cNvSpPr txBox="1"/>
          <p:nvPr/>
        </p:nvSpPr>
        <p:spPr>
          <a:xfrm>
            <a:off x="1765300" y="5715000"/>
            <a:ext cx="2946400" cy="397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root₀</a:t>
            </a:r>
          </a:p>
        </p:txBody>
      </p:sp>
      <p:sp>
        <p:nvSpPr>
          <p:cNvPr id="512" name="→"/>
          <p:cNvSpPr txBox="1"/>
          <p:nvPr/>
        </p:nvSpPr>
        <p:spPr>
          <a:xfrm>
            <a:off x="5143500" y="49530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513" name="직사각형"/>
          <p:cNvSpPr/>
          <p:nvPr/>
        </p:nvSpPr>
        <p:spPr>
          <a:xfrm>
            <a:off x="6096000" y="4191000"/>
            <a:ext cx="3556000" cy="2286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14" name="Payroll plan"/>
          <p:cNvSpPr txBox="1"/>
          <p:nvPr/>
        </p:nvSpPr>
        <p:spPr>
          <a:xfrm>
            <a:off x="6400800" y="4508500"/>
            <a:ext cx="294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Payroll plan</a:t>
            </a:r>
          </a:p>
        </p:txBody>
      </p:sp>
      <p:sp>
        <p:nvSpPr>
          <p:cNvPr id="515" name="A 101 + B 120"/>
          <p:cNvSpPr txBox="1"/>
          <p:nvPr/>
        </p:nvSpPr>
        <p:spPr>
          <a:xfrm>
            <a:off x="6400800" y="52070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 101 + B 120</a:t>
            </a:r>
          </a:p>
        </p:txBody>
      </p:sp>
      <p:sp>
        <p:nvSpPr>
          <p:cNvPr id="516" name="+ C 80 = 301"/>
          <p:cNvSpPr txBox="1"/>
          <p:nvPr/>
        </p:nvSpPr>
        <p:spPr>
          <a:xfrm>
            <a:off x="6400800" y="57150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+ C 80 = 301</a:t>
            </a:r>
          </a:p>
        </p:txBody>
      </p:sp>
      <p:sp>
        <p:nvSpPr>
          <p:cNvPr id="517" name="→"/>
          <p:cNvSpPr txBox="1"/>
          <p:nvPr/>
        </p:nvSpPr>
        <p:spPr>
          <a:xfrm>
            <a:off x="9779000" y="49530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518" name="직사각형"/>
          <p:cNvSpPr/>
          <p:nvPr/>
        </p:nvSpPr>
        <p:spPr>
          <a:xfrm>
            <a:off x="10731500" y="4191000"/>
            <a:ext cx="4191001" cy="2286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19" name="Input selection"/>
          <p:cNvSpPr txBox="1"/>
          <p:nvPr/>
        </p:nvSpPr>
        <p:spPr>
          <a:xfrm>
            <a:off x="11036300" y="4508500"/>
            <a:ext cx="3581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636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Input selection</a:t>
            </a:r>
          </a:p>
        </p:txBody>
      </p:sp>
      <p:sp>
        <p:nvSpPr>
          <p:cNvPr id="520" name="301 &gt; 300"/>
          <p:cNvSpPr txBox="1"/>
          <p:nvPr/>
        </p:nvSpPr>
        <p:spPr>
          <a:xfrm>
            <a:off x="11036300" y="5207000"/>
            <a:ext cx="358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301 &gt; 300</a:t>
            </a:r>
          </a:p>
        </p:txBody>
      </p:sp>
      <p:sp>
        <p:nvSpPr>
          <p:cNvPr id="521" name="REJECT"/>
          <p:cNvSpPr txBox="1"/>
          <p:nvPr/>
        </p:nvSpPr>
        <p:spPr>
          <a:xfrm>
            <a:off x="11036300" y="5715000"/>
            <a:ext cx="358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REJECT</a:t>
            </a:r>
          </a:p>
        </p:txBody>
      </p:sp>
      <p:sp>
        <p:nvSpPr>
          <p:cNvPr id="522" name="×"/>
          <p:cNvSpPr txBox="1"/>
          <p:nvPr/>
        </p:nvSpPr>
        <p:spPr>
          <a:xfrm>
            <a:off x="15494000" y="4826000"/>
            <a:ext cx="889000" cy="77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400">
                <a:solidFill>
                  <a:srgbClr val="FF636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×</a:t>
            </a:r>
          </a:p>
        </p:txBody>
      </p:sp>
      <p:sp>
        <p:nvSpPr>
          <p:cNvPr id="523" name="직사각형"/>
          <p:cNvSpPr/>
          <p:nvPr/>
        </p:nvSpPr>
        <p:spPr>
          <a:xfrm>
            <a:off x="17145000" y="3809999"/>
            <a:ext cx="5461000" cy="1651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24" name="Off-chain prover"/>
          <p:cNvSpPr txBox="1"/>
          <p:nvPr/>
        </p:nvSpPr>
        <p:spPr>
          <a:xfrm>
            <a:off x="17449800" y="4127500"/>
            <a:ext cx="4851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636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Off-chain prover</a:t>
            </a:r>
          </a:p>
        </p:txBody>
      </p:sp>
      <p:sp>
        <p:nvSpPr>
          <p:cNvPr id="525" name="호출되지 않음"/>
          <p:cNvSpPr txBox="1"/>
          <p:nvPr/>
        </p:nvSpPr>
        <p:spPr>
          <a:xfrm>
            <a:off x="17449800" y="4826000"/>
            <a:ext cx="485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호출되지 않음</a:t>
            </a:r>
          </a:p>
        </p:txBody>
      </p:sp>
      <p:sp>
        <p:nvSpPr>
          <p:cNvPr id="526" name="직사각형"/>
          <p:cNvSpPr/>
          <p:nvPr/>
        </p:nvSpPr>
        <p:spPr>
          <a:xfrm>
            <a:off x="17145000" y="6350000"/>
            <a:ext cx="5461000" cy="1651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27" name="On-chain verifier"/>
          <p:cNvSpPr txBox="1"/>
          <p:nvPr/>
        </p:nvSpPr>
        <p:spPr>
          <a:xfrm>
            <a:off x="17449800" y="6667500"/>
            <a:ext cx="4851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636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On-chain verifier</a:t>
            </a:r>
          </a:p>
        </p:txBody>
      </p:sp>
      <p:sp>
        <p:nvSpPr>
          <p:cNvPr id="528" name="transaction 미도달"/>
          <p:cNvSpPr txBox="1"/>
          <p:nvPr/>
        </p:nvSpPr>
        <p:spPr>
          <a:xfrm>
            <a:off x="17449800" y="7366000"/>
            <a:ext cx="485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transaction 미도달</a:t>
            </a:r>
          </a:p>
        </p:txBody>
      </p:sp>
      <p:sp>
        <p:nvSpPr>
          <p:cNvPr id="529" name="관찰 증거"/>
          <p:cNvSpPr txBox="1"/>
          <p:nvPr/>
        </p:nvSpPr>
        <p:spPr>
          <a:xfrm>
            <a:off x="1905000" y="8001000"/>
            <a:ext cx="3175001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40E19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관찰 증거</a:t>
            </a:r>
          </a:p>
        </p:txBody>
      </p:sp>
      <p:sp>
        <p:nvSpPr>
          <p:cNvPr id="530" name="proof 0 · broadcastAttempted=false · treasuryStateUnchanged=true"/>
          <p:cNvSpPr txBox="1"/>
          <p:nvPr/>
        </p:nvSpPr>
        <p:spPr>
          <a:xfrm>
            <a:off x="5207000" y="8001000"/>
            <a:ext cx="10033001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3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proof 0 · broadcastAttempted=false · treasuryStateUnchanged=true</a:t>
            </a:r>
          </a:p>
        </p:txBody>
      </p:sp>
      <p:sp>
        <p:nvSpPr>
          <p:cNvPr id="531" name="Maroo 설계: proof 전 plan 합계 대사 + x/privacy verifier의 가치 보존 검증"/>
          <p:cNvSpPr txBox="1"/>
          <p:nvPr/>
        </p:nvSpPr>
        <p:spPr>
          <a:xfrm>
            <a:off x="4000500" y="11620500"/>
            <a:ext cx="16383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Maroo 설계: proof 전 plan 합계 대사 + x/privacy verifier의 가치 보존 검증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sp>
        <p:nvSpPr>
          <p:cNvPr id="536" name="실패 모드 2 · chain 성공, 급여 업무 실패"/>
          <p:cNvSpPr txBox="1"/>
          <p:nvPr/>
        </p:nvSpPr>
        <p:spPr>
          <a:xfrm>
            <a:off x="1270000" y="698500"/>
            <a:ext cx="19685000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6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실패 모드 2 · chain 성공, 급여 업무 실패</a:t>
            </a:r>
          </a:p>
        </p:txBody>
      </p:sp>
      <p:sp>
        <p:nvSpPr>
          <p:cNvPr id="537" name="BUSINESS INTENT"/>
          <p:cNvSpPr txBox="1"/>
          <p:nvPr/>
        </p:nvSpPr>
        <p:spPr>
          <a:xfrm>
            <a:off x="1333500" y="2222500"/>
            <a:ext cx="6350001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BUSINESS INTENT</a:t>
            </a:r>
          </a:p>
        </p:txBody>
      </p:sp>
      <p:sp>
        <p:nvSpPr>
          <p:cNvPr id="538" name="CHAIN VALIDATION"/>
          <p:cNvSpPr txBox="1"/>
          <p:nvPr/>
        </p:nvSpPr>
        <p:spPr>
          <a:xfrm>
            <a:off x="9652000" y="2222500"/>
            <a:ext cx="6350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CHAIN VALIDATION</a:t>
            </a:r>
          </a:p>
        </p:txBody>
      </p:sp>
      <p:sp>
        <p:nvSpPr>
          <p:cNvPr id="539" name="DELIVERY CHECK"/>
          <p:cNvSpPr txBox="1"/>
          <p:nvPr/>
        </p:nvSpPr>
        <p:spPr>
          <a:xfrm>
            <a:off x="18161000" y="2222500"/>
            <a:ext cx="5080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DELIVERY CHECK</a:t>
            </a:r>
          </a:p>
        </p:txBody>
      </p:sp>
      <p:sp>
        <p:nvSpPr>
          <p:cNvPr id="540" name="직사각형"/>
          <p:cNvSpPr/>
          <p:nvPr/>
        </p:nvSpPr>
        <p:spPr>
          <a:xfrm>
            <a:off x="1270000" y="3810000"/>
            <a:ext cx="4064000" cy="2413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41" name="Approved plan"/>
          <p:cNvSpPr txBox="1"/>
          <p:nvPr/>
        </p:nvSpPr>
        <p:spPr>
          <a:xfrm>
            <a:off x="1574800" y="4127500"/>
            <a:ext cx="3454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Approved plan</a:t>
            </a:r>
          </a:p>
        </p:txBody>
      </p:sp>
      <p:sp>
        <p:nvSpPr>
          <p:cNvPr id="542" name="EMP-B"/>
          <p:cNvSpPr txBox="1"/>
          <p:nvPr/>
        </p:nvSpPr>
        <p:spPr>
          <a:xfrm>
            <a:off x="1574800" y="4826000"/>
            <a:ext cx="3454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EMP-B</a:t>
            </a:r>
          </a:p>
        </p:txBody>
      </p:sp>
      <p:sp>
        <p:nvSpPr>
          <p:cNvPr id="543" name="120uclair"/>
          <p:cNvSpPr txBox="1"/>
          <p:nvPr/>
        </p:nvSpPr>
        <p:spPr>
          <a:xfrm>
            <a:off x="1574800" y="5334000"/>
            <a:ext cx="3454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120uclair</a:t>
            </a:r>
          </a:p>
        </p:txBody>
      </p:sp>
      <p:sp>
        <p:nvSpPr>
          <p:cNvPr id="544" name="→"/>
          <p:cNvSpPr txBox="1"/>
          <p:nvPr/>
        </p:nvSpPr>
        <p:spPr>
          <a:xfrm>
            <a:off x="5461000" y="46355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545" name="직사각형"/>
          <p:cNvSpPr/>
          <p:nvPr/>
        </p:nvSpPr>
        <p:spPr>
          <a:xfrm>
            <a:off x="6413500" y="3810000"/>
            <a:ext cx="4064000" cy="2413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46" name="Actual output"/>
          <p:cNvSpPr txBox="1"/>
          <p:nvPr/>
        </p:nvSpPr>
        <p:spPr>
          <a:xfrm>
            <a:off x="6718300" y="4127500"/>
            <a:ext cx="3454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Actual output</a:t>
            </a:r>
          </a:p>
        </p:txBody>
      </p:sp>
      <p:sp>
        <p:nvSpPr>
          <p:cNvPr id="547" name="EMP-C"/>
          <p:cNvSpPr txBox="1"/>
          <p:nvPr/>
        </p:nvSpPr>
        <p:spPr>
          <a:xfrm>
            <a:off x="6718300" y="4826000"/>
            <a:ext cx="3454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EMP-C</a:t>
            </a:r>
          </a:p>
        </p:txBody>
      </p:sp>
      <p:sp>
        <p:nvSpPr>
          <p:cNvPr id="548" name="valid shielded profile"/>
          <p:cNvSpPr txBox="1"/>
          <p:nvPr/>
        </p:nvSpPr>
        <p:spPr>
          <a:xfrm>
            <a:off x="6718300" y="5334000"/>
            <a:ext cx="3454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valid shielded profile</a:t>
            </a:r>
          </a:p>
        </p:txBody>
      </p:sp>
      <p:sp>
        <p:nvSpPr>
          <p:cNvPr id="549" name="→"/>
          <p:cNvSpPr txBox="1"/>
          <p:nvPr/>
        </p:nvSpPr>
        <p:spPr>
          <a:xfrm>
            <a:off x="10604500" y="46355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550" name="직사각형"/>
          <p:cNvSpPr/>
          <p:nvPr/>
        </p:nvSpPr>
        <p:spPr>
          <a:xfrm>
            <a:off x="11557000" y="3810000"/>
            <a:ext cx="3556001" cy="2413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51" name="PCL wrapper"/>
          <p:cNvSpPr txBox="1"/>
          <p:nvPr/>
        </p:nvSpPr>
        <p:spPr>
          <a:xfrm>
            <a:off x="11861800" y="4127500"/>
            <a:ext cx="294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40E19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PCL wrapper</a:t>
            </a:r>
          </a:p>
        </p:txBody>
      </p:sp>
      <p:sp>
        <p:nvSpPr>
          <p:cNvPr id="552" name="configured policy"/>
          <p:cNvSpPr txBox="1"/>
          <p:nvPr/>
        </p:nvSpPr>
        <p:spPr>
          <a:xfrm>
            <a:off x="11861800" y="48260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configured policy</a:t>
            </a:r>
          </a:p>
        </p:txBody>
      </p:sp>
      <p:sp>
        <p:nvSpPr>
          <p:cNvPr id="553" name="ALLOW"/>
          <p:cNvSpPr txBox="1"/>
          <p:nvPr/>
        </p:nvSpPr>
        <p:spPr>
          <a:xfrm>
            <a:off x="11861800" y="5334000"/>
            <a:ext cx="294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ALLOW</a:t>
            </a:r>
          </a:p>
        </p:txBody>
      </p:sp>
      <p:sp>
        <p:nvSpPr>
          <p:cNvPr id="554" name="→"/>
          <p:cNvSpPr txBox="1"/>
          <p:nvPr/>
        </p:nvSpPr>
        <p:spPr>
          <a:xfrm>
            <a:off x="15240000" y="46355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555" name="직사각형"/>
          <p:cNvSpPr/>
          <p:nvPr/>
        </p:nvSpPr>
        <p:spPr>
          <a:xfrm>
            <a:off x="16192499" y="3810000"/>
            <a:ext cx="3175001" cy="2413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56" name="Verifier"/>
          <p:cNvSpPr txBox="1"/>
          <p:nvPr/>
        </p:nvSpPr>
        <p:spPr>
          <a:xfrm>
            <a:off x="16497300" y="4127500"/>
            <a:ext cx="2565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40E19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Verifier</a:t>
            </a:r>
          </a:p>
        </p:txBody>
      </p:sp>
      <p:sp>
        <p:nvSpPr>
          <p:cNvPr id="557" name="x/privacy · proof valid"/>
          <p:cNvSpPr txBox="1"/>
          <p:nvPr/>
        </p:nvSpPr>
        <p:spPr>
          <a:xfrm>
            <a:off x="16497300" y="4826000"/>
            <a:ext cx="2565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x/privacy · proof valid</a:t>
            </a:r>
          </a:p>
        </p:txBody>
      </p:sp>
      <p:sp>
        <p:nvSpPr>
          <p:cNvPr id="558" name="value conserved"/>
          <p:cNvSpPr txBox="1"/>
          <p:nvPr/>
        </p:nvSpPr>
        <p:spPr>
          <a:xfrm>
            <a:off x="16497300" y="5334000"/>
            <a:ext cx="2565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value conserved</a:t>
            </a:r>
          </a:p>
        </p:txBody>
      </p:sp>
      <p:sp>
        <p:nvSpPr>
          <p:cNvPr id="559" name="→"/>
          <p:cNvSpPr txBox="1"/>
          <p:nvPr/>
        </p:nvSpPr>
        <p:spPr>
          <a:xfrm>
            <a:off x="19494500" y="46355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560" name="직사각형"/>
          <p:cNvSpPr/>
          <p:nvPr/>
        </p:nvSpPr>
        <p:spPr>
          <a:xfrm>
            <a:off x="20447000" y="3810000"/>
            <a:ext cx="2667000" cy="2413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61" name="Receipt"/>
          <p:cNvSpPr txBox="1"/>
          <p:nvPr/>
        </p:nvSpPr>
        <p:spPr>
          <a:xfrm>
            <a:off x="20751800" y="4127500"/>
            <a:ext cx="2057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40E19E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Receipt</a:t>
            </a:r>
          </a:p>
        </p:txBody>
      </p:sp>
      <p:sp>
        <p:nvSpPr>
          <p:cNvPr id="562" name="code 0"/>
          <p:cNvSpPr txBox="1"/>
          <p:nvPr/>
        </p:nvSpPr>
        <p:spPr>
          <a:xfrm>
            <a:off x="20751800" y="4826000"/>
            <a:ext cx="2057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code 0</a:t>
            </a:r>
          </a:p>
        </p:txBody>
      </p:sp>
      <p:sp>
        <p:nvSpPr>
          <p:cNvPr id="563" name="SUCCESS"/>
          <p:cNvSpPr txBox="1"/>
          <p:nvPr/>
        </p:nvSpPr>
        <p:spPr>
          <a:xfrm>
            <a:off x="20751800" y="5334000"/>
            <a:ext cx="2057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SUCCESS</a:t>
            </a:r>
          </a:p>
        </p:txBody>
      </p:sp>
      <p:sp>
        <p:nvSpPr>
          <p:cNvPr id="564" name="직사각형"/>
          <p:cNvSpPr/>
          <p:nvPr/>
        </p:nvSpPr>
        <p:spPr>
          <a:xfrm>
            <a:off x="3873500" y="8064499"/>
            <a:ext cx="5461000" cy="2032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65" name="EMP-B scan"/>
          <p:cNvSpPr txBox="1"/>
          <p:nvPr/>
        </p:nvSpPr>
        <p:spPr>
          <a:xfrm>
            <a:off x="4178300" y="8382000"/>
            <a:ext cx="4851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636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EMP-B scan</a:t>
            </a:r>
          </a:p>
        </p:txBody>
      </p:sp>
      <p:sp>
        <p:nvSpPr>
          <p:cNvPr id="566" name="new note = 0"/>
          <p:cNvSpPr txBox="1"/>
          <p:nvPr/>
        </p:nvSpPr>
        <p:spPr>
          <a:xfrm>
            <a:off x="4178300" y="9080500"/>
            <a:ext cx="485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new note = 0</a:t>
            </a:r>
          </a:p>
        </p:txBody>
      </p:sp>
      <p:sp>
        <p:nvSpPr>
          <p:cNvPr id="567" name="의도한 직원 미수령"/>
          <p:cNvSpPr txBox="1"/>
          <p:nvPr/>
        </p:nvSpPr>
        <p:spPr>
          <a:xfrm>
            <a:off x="4178300" y="9588500"/>
            <a:ext cx="485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의도한 직원 미수령</a:t>
            </a:r>
          </a:p>
        </p:txBody>
      </p:sp>
      <p:sp>
        <p:nvSpPr>
          <p:cNvPr id="568" name="직사각형"/>
          <p:cNvSpPr/>
          <p:nvPr/>
        </p:nvSpPr>
        <p:spPr>
          <a:xfrm>
            <a:off x="10223500" y="8064499"/>
            <a:ext cx="5461000" cy="2032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69" name="EMP-C scan"/>
          <p:cNvSpPr txBox="1"/>
          <p:nvPr/>
        </p:nvSpPr>
        <p:spPr>
          <a:xfrm>
            <a:off x="10528300" y="8382000"/>
            <a:ext cx="4851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EMP-C scan</a:t>
            </a:r>
          </a:p>
        </p:txBody>
      </p:sp>
      <p:sp>
        <p:nvSpPr>
          <p:cNvPr id="570" name="new note = 1"/>
          <p:cNvSpPr txBox="1"/>
          <p:nvPr/>
        </p:nvSpPr>
        <p:spPr>
          <a:xfrm>
            <a:off x="10528300" y="9080500"/>
            <a:ext cx="485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new note = 1</a:t>
            </a:r>
          </a:p>
        </p:txBody>
      </p:sp>
      <p:sp>
        <p:nvSpPr>
          <p:cNvPr id="571" name="다른 직원 수령"/>
          <p:cNvSpPr txBox="1"/>
          <p:nvPr/>
        </p:nvSpPr>
        <p:spPr>
          <a:xfrm>
            <a:off x="10528300" y="9588500"/>
            <a:ext cx="485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다른 직원 수령</a:t>
            </a:r>
          </a:p>
        </p:txBody>
      </p:sp>
      <p:sp>
        <p:nvSpPr>
          <p:cNvPr id="572" name="직사각형"/>
          <p:cNvSpPr/>
          <p:nvPr/>
        </p:nvSpPr>
        <p:spPr>
          <a:xfrm>
            <a:off x="16573500" y="8064499"/>
            <a:ext cx="5461000" cy="2032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73" name="Auditor verdict"/>
          <p:cNvSpPr txBox="1"/>
          <p:nvPr/>
        </p:nvSpPr>
        <p:spPr>
          <a:xfrm>
            <a:off x="16878300" y="8382000"/>
            <a:ext cx="4851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6368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Auditor verdict</a:t>
            </a:r>
          </a:p>
        </p:txBody>
      </p:sp>
      <p:sp>
        <p:nvSpPr>
          <p:cNvPr id="574" name="plan ≠ scan"/>
          <p:cNvSpPr txBox="1"/>
          <p:nvPr/>
        </p:nvSpPr>
        <p:spPr>
          <a:xfrm>
            <a:off x="16878300" y="9080500"/>
            <a:ext cx="485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plan ≠ scan</a:t>
            </a:r>
          </a:p>
        </p:txBody>
      </p:sp>
      <p:sp>
        <p:nvSpPr>
          <p:cNvPr id="575" name="BUSINESS FAILURE"/>
          <p:cNvSpPr txBox="1"/>
          <p:nvPr/>
        </p:nvSpPr>
        <p:spPr>
          <a:xfrm>
            <a:off x="16878300" y="9588500"/>
            <a:ext cx="4851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BUSINESS FAILURE</a:t>
            </a:r>
          </a:p>
        </p:txBody>
      </p:sp>
      <p:sp>
        <p:nvSpPr>
          <p:cNvPr id="576" name="→"/>
          <p:cNvSpPr txBox="1"/>
          <p:nvPr/>
        </p:nvSpPr>
        <p:spPr>
          <a:xfrm>
            <a:off x="9461500" y="8699500"/>
            <a:ext cx="698500" cy="596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577" name="→"/>
          <p:cNvSpPr txBox="1"/>
          <p:nvPr/>
        </p:nvSpPr>
        <p:spPr>
          <a:xfrm>
            <a:off x="15811500" y="8699500"/>
            <a:ext cx="698500" cy="596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578" name="핵심 · PCL과 Privacy verifier의 성공만으로 직원 업무 의도는 증명되지 않는다"/>
          <p:cNvSpPr txBox="1"/>
          <p:nvPr/>
        </p:nvSpPr>
        <p:spPr>
          <a:xfrm>
            <a:off x="3810000" y="11620500"/>
            <a:ext cx="16764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핵심 · PCL과 Privacy verifier의 성공만으로 직원 업무 의도는 증명되지 않는다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583" name="Maroo 오지급 방지 · 세 경계에 통제를 배치한다"/>
          <p:cNvSpPr txBox="1"/>
          <p:nvPr/>
        </p:nvSpPr>
        <p:spPr>
          <a:xfrm>
            <a:off x="1270000" y="698500"/>
            <a:ext cx="20320000" cy="800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460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Maroo 오지급 방지 · 세 경계에 통제를 배치한다</a:t>
            </a:r>
          </a:p>
        </p:txBody>
      </p:sp>
      <p:sp>
        <p:nvSpPr>
          <p:cNvPr id="584" name="직사각형"/>
          <p:cNvSpPr/>
          <p:nvPr/>
        </p:nvSpPr>
        <p:spPr>
          <a:xfrm>
            <a:off x="888999" y="2222500"/>
            <a:ext cx="10033001" cy="82550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85" name="직사각형"/>
          <p:cNvSpPr/>
          <p:nvPr/>
        </p:nvSpPr>
        <p:spPr>
          <a:xfrm>
            <a:off x="11430000" y="2222500"/>
            <a:ext cx="6350000" cy="825500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86" name="직사각형"/>
          <p:cNvSpPr/>
          <p:nvPr/>
        </p:nvSpPr>
        <p:spPr>
          <a:xfrm>
            <a:off x="18287999" y="2222500"/>
            <a:ext cx="5207001" cy="825500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87" name="PRE-BROADCAST"/>
          <p:cNvSpPr txBox="1"/>
          <p:nvPr/>
        </p:nvSpPr>
        <p:spPr>
          <a:xfrm>
            <a:off x="1333500" y="2476500"/>
            <a:ext cx="4445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PRE-BROADCAST</a:t>
            </a:r>
          </a:p>
        </p:txBody>
      </p:sp>
      <p:sp>
        <p:nvSpPr>
          <p:cNvPr id="588" name="ON-CHAIN"/>
          <p:cNvSpPr txBox="1"/>
          <p:nvPr/>
        </p:nvSpPr>
        <p:spPr>
          <a:xfrm>
            <a:off x="11874500" y="2476500"/>
            <a:ext cx="3810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ON-CHAIN</a:t>
            </a:r>
          </a:p>
        </p:txBody>
      </p:sp>
      <p:sp>
        <p:nvSpPr>
          <p:cNvPr id="589" name="POST-RECEIPT"/>
          <p:cNvSpPr txBox="1"/>
          <p:nvPr/>
        </p:nvSpPr>
        <p:spPr>
          <a:xfrm>
            <a:off x="18732500" y="2476500"/>
            <a:ext cx="4064000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POST-RECEIPT</a:t>
            </a:r>
          </a:p>
        </p:txBody>
      </p:sp>
      <p:sp>
        <p:nvSpPr>
          <p:cNvPr id="590" name="직사각형"/>
          <p:cNvSpPr/>
          <p:nvPr/>
        </p:nvSpPr>
        <p:spPr>
          <a:xfrm>
            <a:off x="1397000" y="3810000"/>
            <a:ext cx="3810000" cy="2286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91" name="① Policy preflight"/>
          <p:cNvSpPr txBox="1"/>
          <p:nvPr/>
        </p:nvSpPr>
        <p:spPr>
          <a:xfrm>
            <a:off x="1701800" y="4127500"/>
            <a:ext cx="3200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① Policy preflight</a:t>
            </a:r>
          </a:p>
        </p:txBody>
      </p:sp>
      <p:sp>
        <p:nvSpPr>
          <p:cNvPr id="592" name="PCL · EAS 상태 read"/>
          <p:cNvSpPr txBox="1"/>
          <p:nvPr/>
        </p:nvSpPr>
        <p:spPr>
          <a:xfrm>
            <a:off x="1701800" y="4826000"/>
            <a:ext cx="3200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PCL · EAS 상태 read</a:t>
            </a:r>
          </a:p>
        </p:txBody>
      </p:sp>
      <p:sp>
        <p:nvSpPr>
          <p:cNvPr id="593" name="회사 호출자 사전 확인"/>
          <p:cNvSpPr txBox="1"/>
          <p:nvPr/>
        </p:nvSpPr>
        <p:spPr>
          <a:xfrm>
            <a:off x="1701800" y="5334000"/>
            <a:ext cx="3200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회사 호출자 사전 확인</a:t>
            </a:r>
          </a:p>
        </p:txBody>
      </p:sp>
      <p:sp>
        <p:nvSpPr>
          <p:cNvPr id="594" name="직사각형"/>
          <p:cNvSpPr/>
          <p:nvPr/>
        </p:nvSpPr>
        <p:spPr>
          <a:xfrm>
            <a:off x="6350000" y="3810000"/>
            <a:ext cx="3810000" cy="2286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95" name="② Recipient registry"/>
          <p:cNvSpPr txBox="1"/>
          <p:nvPr/>
        </p:nvSpPr>
        <p:spPr>
          <a:xfrm>
            <a:off x="6654800" y="4127500"/>
            <a:ext cx="3200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② Recipient registry</a:t>
            </a:r>
          </a:p>
        </p:txBody>
      </p:sp>
      <p:sp>
        <p:nvSpPr>
          <p:cNvPr id="596" name="employee ↔ shielded"/>
          <p:cNvSpPr txBox="1"/>
          <p:nvPr/>
        </p:nvSpPr>
        <p:spPr>
          <a:xfrm>
            <a:off x="6654800" y="4826000"/>
            <a:ext cx="3200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employee ↔ shielded</a:t>
            </a:r>
          </a:p>
        </p:txBody>
      </p:sp>
      <p:sp>
        <p:nvSpPr>
          <p:cNvPr id="597" name="승인 주소 매핑"/>
          <p:cNvSpPr txBox="1"/>
          <p:nvPr/>
        </p:nvSpPr>
        <p:spPr>
          <a:xfrm>
            <a:off x="6654800" y="5334000"/>
            <a:ext cx="3200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승인 주소 매핑</a:t>
            </a:r>
          </a:p>
        </p:txBody>
      </p:sp>
      <p:sp>
        <p:nvSpPr>
          <p:cNvPr id="598" name="직사각형"/>
          <p:cNvSpPr/>
          <p:nvPr/>
        </p:nvSpPr>
        <p:spPr>
          <a:xfrm>
            <a:off x="3810000" y="7239000"/>
            <a:ext cx="3810000" cy="2286001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99" name="③ Plan binding"/>
          <p:cNvSpPr txBox="1"/>
          <p:nvPr/>
        </p:nvSpPr>
        <p:spPr>
          <a:xfrm>
            <a:off x="4114800" y="7556500"/>
            <a:ext cx="3200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③ Plan binding</a:t>
            </a:r>
          </a:p>
        </p:txBody>
      </p:sp>
      <p:sp>
        <p:nvSpPr>
          <p:cNvPr id="600" name="payroll digest ↔ outputs"/>
          <p:cNvSpPr txBox="1"/>
          <p:nvPr/>
        </p:nvSpPr>
        <p:spPr>
          <a:xfrm>
            <a:off x="4114800" y="8255000"/>
            <a:ext cx="3200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payroll digest ↔ outputs</a:t>
            </a:r>
          </a:p>
        </p:txBody>
      </p:sp>
      <p:sp>
        <p:nvSpPr>
          <p:cNvPr id="601" name="mismatch면 fail closed"/>
          <p:cNvSpPr txBox="1"/>
          <p:nvPr/>
        </p:nvSpPr>
        <p:spPr>
          <a:xfrm>
            <a:off x="4114800" y="8763000"/>
            <a:ext cx="3200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mismatch면 fail closed</a:t>
            </a:r>
          </a:p>
        </p:txBody>
      </p:sp>
      <p:sp>
        <p:nvSpPr>
          <p:cNvPr id="602" name="직사각형"/>
          <p:cNvSpPr/>
          <p:nvPr/>
        </p:nvSpPr>
        <p:spPr>
          <a:xfrm>
            <a:off x="12192000" y="4445000"/>
            <a:ext cx="4826001" cy="2794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03" name="④ Wrapper + verifier"/>
          <p:cNvSpPr txBox="1"/>
          <p:nvPr/>
        </p:nvSpPr>
        <p:spPr>
          <a:xfrm>
            <a:off x="12496800" y="4762500"/>
            <a:ext cx="4216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④ Wrapper + verifier</a:t>
            </a:r>
          </a:p>
        </p:txBody>
      </p:sp>
      <p:sp>
        <p:nvSpPr>
          <p:cNvPr id="604" name="PCL pre/post policy"/>
          <p:cNvSpPr txBox="1"/>
          <p:nvPr/>
        </p:nvSpPr>
        <p:spPr>
          <a:xfrm>
            <a:off x="12496800" y="5461000"/>
            <a:ext cx="421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PCL pre/post policy</a:t>
            </a:r>
          </a:p>
        </p:txBody>
      </p:sp>
      <p:sp>
        <p:nvSpPr>
          <p:cNvPr id="605" name="VK · root · nullifier"/>
          <p:cNvSpPr txBox="1"/>
          <p:nvPr/>
        </p:nvSpPr>
        <p:spPr>
          <a:xfrm>
            <a:off x="12496800" y="5969000"/>
            <a:ext cx="421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VK · root · nullifier</a:t>
            </a:r>
          </a:p>
        </p:txBody>
      </p:sp>
      <p:sp>
        <p:nvSpPr>
          <p:cNvPr id="606" name="proof와 가치 보존"/>
          <p:cNvSpPr txBox="1"/>
          <p:nvPr/>
        </p:nvSpPr>
        <p:spPr>
          <a:xfrm>
            <a:off x="12496800" y="6477000"/>
            <a:ext cx="4216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proof와 가치 보존</a:t>
            </a:r>
          </a:p>
        </p:txBody>
      </p:sp>
      <p:sp>
        <p:nvSpPr>
          <p:cNvPr id="607" name="직사각형"/>
          <p:cNvSpPr/>
          <p:nvPr/>
        </p:nvSpPr>
        <p:spPr>
          <a:xfrm>
            <a:off x="18923000" y="4445000"/>
            <a:ext cx="3937000" cy="2794000"/>
          </a:xfrm>
          <a:prstGeom prst="rect">
            <a:avLst/>
          </a:prstGeom>
          <a:solidFill>
            <a:srgbClr val="FFFFFF">
              <a:alpha val="14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08" name="⑤ Reconciliation"/>
          <p:cNvSpPr txBox="1"/>
          <p:nvPr/>
        </p:nvSpPr>
        <p:spPr>
          <a:xfrm>
            <a:off x="19227800" y="4762500"/>
            <a:ext cx="33274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⑤ Reconciliation</a:t>
            </a:r>
          </a:p>
        </p:txBody>
      </p:sp>
      <p:sp>
        <p:nvSpPr>
          <p:cNvPr id="609" name="receipt ↔ employee scan"/>
          <p:cNvSpPr txBox="1"/>
          <p:nvPr/>
        </p:nvSpPr>
        <p:spPr>
          <a:xfrm>
            <a:off x="19227800" y="5461000"/>
            <a:ext cx="3327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receipt ↔ employee scan</a:t>
            </a:r>
          </a:p>
        </p:txBody>
      </p:sp>
      <p:sp>
        <p:nvSpPr>
          <p:cNvPr id="610" name="plan · disclosure 대사"/>
          <p:cNvSpPr txBox="1"/>
          <p:nvPr/>
        </p:nvSpPr>
        <p:spPr>
          <a:xfrm>
            <a:off x="19227800" y="5969000"/>
            <a:ext cx="3327400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plan · disclosure 대사</a:t>
            </a:r>
          </a:p>
        </p:txBody>
      </p:sp>
      <p:sp>
        <p:nvSpPr>
          <p:cNvPr id="611" name="→"/>
          <p:cNvSpPr txBox="1"/>
          <p:nvPr/>
        </p:nvSpPr>
        <p:spPr>
          <a:xfrm>
            <a:off x="5334000" y="45085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612" name="→"/>
          <p:cNvSpPr txBox="1"/>
          <p:nvPr/>
        </p:nvSpPr>
        <p:spPr>
          <a:xfrm>
            <a:off x="10223500" y="45085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613" name="→"/>
          <p:cNvSpPr txBox="1"/>
          <p:nvPr/>
        </p:nvSpPr>
        <p:spPr>
          <a:xfrm>
            <a:off x="17843500" y="5270500"/>
            <a:ext cx="8255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solidFill>
                  <a:srgbClr val="BEC9D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→</a:t>
            </a:r>
          </a:p>
        </p:txBody>
      </p:sp>
      <p:sp>
        <p:nvSpPr>
          <p:cNvPr id="614" name="온체인 proof 검증은 승인된 직원에게 지급했다는 업무 판정을 대신하지 않는다"/>
          <p:cNvSpPr txBox="1"/>
          <p:nvPr/>
        </p:nvSpPr>
        <p:spPr>
          <a:xfrm>
            <a:off x="5460999" y="11620500"/>
            <a:ext cx="16764001" cy="49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600">
                <a:solidFill>
                  <a:srgbClr val="FFBF2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온체인 proof 검증은 승인된 직원에게 지급했다는 업무 판정을 대신하지 않는다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Maroo 실행 경로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Maroo 실행 경로</a:t>
            </a:r>
          </a:p>
        </p:txBody>
      </p:sp>
      <p:sp>
        <p:nvSpPr>
          <p:cNvPr id="62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621" name="Path A · 호환 bundle 보유"/>
          <p:cNvSpPr txBox="1"/>
          <p:nvPr/>
        </p:nvSpPr>
        <p:spPr>
          <a:xfrm>
            <a:off x="1524000" y="2667000"/>
            <a:ext cx="965200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Path A · 호환 bundle 보유</a:t>
            </a:r>
          </a:p>
        </p:txBody>
      </p:sp>
      <p:sp>
        <p:nvSpPr>
          <p:cNvPr id="622" name="유효 deposit proof…"/>
          <p:cNvSpPr txBox="1"/>
          <p:nvPr/>
        </p:nvSpPr>
        <p:spPr>
          <a:xfrm>
            <a:off x="1524000" y="3810000"/>
            <a:ext cx="9652000" cy="613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유효 deposit proof</a:t>
            </a:r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status 1과 deposit event</a:t>
            </a:r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3-output batch와 직원 scan</a:t>
            </a:r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audit report 대사</a:t>
            </a:r>
          </a:p>
        </p:txBody>
      </p:sp>
      <p:sp>
        <p:nvSpPr>
          <p:cNvPr id="623" name="Path B · 현재 제출 경로"/>
          <p:cNvSpPr txBox="1"/>
          <p:nvPr/>
        </p:nvSpPr>
        <p:spPr>
          <a:xfrm>
            <a:off x="13208000" y="2667000"/>
            <a:ext cx="9652000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0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Path B · 현재 제출 경로</a:t>
            </a:r>
          </a:p>
        </p:txBody>
      </p:sp>
      <p:sp>
        <p:nvSpPr>
          <p:cNvPr id="624" name="ABI-valid invalid-proof probe…"/>
          <p:cNvSpPr txBox="1"/>
          <p:nvPr/>
        </p:nvSpPr>
        <p:spPr>
          <a:xfrm>
            <a:off x="13208000" y="3810000"/>
            <a:ext cx="9652000" cy="613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ABI-valid invalid-proof probe</a:t>
            </a:r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deposit과 transfer 실제 제출</a:t>
            </a:r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포함 후 revert 판정</a:t>
            </a:r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7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유효 지급 성공으로 기록하지 않음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ath B 실행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Path B 실행</a:t>
            </a:r>
          </a:p>
        </p:txBody>
      </p:sp>
      <p:sp>
        <p:nvSpPr>
          <p:cNvPr id="63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631" name="상태 변경을 허용하는 명시적 확인 문자열을 넣는다. 회사 signer만 사용한다."/>
          <p:cNvSpPr txBox="1"/>
          <p:nvPr/>
        </p:nvSpPr>
        <p:spPr>
          <a:xfrm>
            <a:off x="1524000" y="2413000"/>
            <a:ext cx="213360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700">
                <a:solidFill>
                  <a:srgbClr val="BEC9D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r>
              <a:t>상태 변경을 허용하는 명시적 확인 문자열을 넣는다. 회사 signer만 사용한다.</a:t>
            </a:r>
          </a:p>
        </p:txBody>
      </p:sp>
      <p:sp>
        <p:nvSpPr>
          <p:cNvPr id="632" name="bun run demo/scripts/run.ts \…"/>
          <p:cNvSpPr txBox="1"/>
          <p:nvPr/>
        </p:nvSpPr>
        <p:spPr>
          <a:xfrm>
            <a:off x="1524000" y="4191000"/>
            <a:ext cx="21336000" cy="580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bun run demo/scripts/run.ts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--target maroo-testnet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--action attempt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--kind privacy-deposit-transfer-probes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--env demo/.env --broadcast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--ack-state-change MAROO_TESTNET_ONLY \</a:t>
            </a:r>
          </a:p>
          <a:p>
            <a:pPr>
              <a:defRPr sz="2400">
                <a:solidFill>
                  <a:srgbClr val="00E9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--out evidence/live-testnet/state-change-attempt.json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실제 Maroo receip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실제 Maroo receipt</a:t>
            </a:r>
          </a:p>
        </p:txBody>
      </p:sp>
      <p:sp>
        <p:nvSpPr>
          <p:cNvPr id="63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graphicFrame>
        <p:nvGraphicFramePr>
          <p:cNvPr id="639" name="표 1"/>
          <p:cNvGraphicFramePr/>
          <p:nvPr/>
        </p:nvGraphicFramePr>
        <p:xfrm>
          <a:off x="1270000" y="2413000"/>
          <a:ext cx="21844000" cy="29718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44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호출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블록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관찰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deposit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included-revert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17,243,931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non-zero commitment 요구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>
                          <a:solidFill>
                            <a:srgbClr val="FFFFFF"/>
                          </a:solidFill>
                        </a:rPr>
                        <a:t>transfer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included-revert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17,243,934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 dirty="0">
                          <a:solidFill>
                            <a:srgbClr val="FFFFFF"/>
                          </a:solidFill>
                        </a:rPr>
                        <a:t>gas 1,000,000, decoded reason </a:t>
                      </a:r>
                      <a:r>
                        <a:rPr sz="3200" dirty="0" err="1">
                          <a:solidFill>
                            <a:srgbClr val="FFFFFF"/>
                          </a:solidFill>
                        </a:rPr>
                        <a:t>없음</a:t>
                      </a:r>
                      <a:endParaRPr sz="3200" dirty="0">
                        <a:solidFill>
                          <a:srgbClr val="FFFFFF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실패 모드 지도 · 첫 실패 계층을 찾는다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실패 모드 지도 · 첫 실패 계층을 찾는다</a:t>
            </a:r>
          </a:p>
        </p:txBody>
      </p:sp>
      <p:sp>
        <p:nvSpPr>
          <p:cNvPr id="6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graphicFrame>
        <p:nvGraphicFramePr>
          <p:cNvPr id="646" name="표 1"/>
          <p:cNvGraphicFramePr/>
          <p:nvPr/>
        </p:nvGraphicFramePr>
        <p:xfrm>
          <a:off x="1270000" y="2413000"/>
          <a:ext cx="21844000" cy="59436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787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관찰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경계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다음 확인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local validator가 거부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Wallet / app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schema, profileRef, 합계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PCL typed selector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On-chain policy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principal, EAS, denylist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proof, root, nullifier 오류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Off-chain prover → verifier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artifact/VK, root, spend 상태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receipt 성공, scan 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On-chain state → scanner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cursor, viewing key, output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receipt 성공, 다른 직원 scan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App/registry ↔ audit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registry와 plan binding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완료 증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완료 증거</a:t>
            </a:r>
          </a:p>
        </p:txBody>
      </p:sp>
      <p:sp>
        <p:nvSpPr>
          <p:cNvPr id="652" name="deposit receipt와 treasury not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deposit receipt와 treasury note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batch receipt와 outputCount 3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서로 다른 직원 scan 3건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audit total과 disclosure digest</a:t>
            </a:r>
          </a:p>
          <a:p>
            <a:pPr marL="368300" indent="-368300"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plan digest와 모든 결과의 연결</a:t>
            </a:r>
          </a:p>
        </p:txBody>
      </p:sp>
      <p:sp>
        <p:nvSpPr>
          <p:cNvPr id="6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워크숍 종료 판정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워크숍 종료 판정</a:t>
            </a:r>
          </a:p>
        </p:txBody>
      </p:sp>
      <p:sp>
        <p:nvSpPr>
          <p:cNvPr id="65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graphicFrame>
        <p:nvGraphicFramePr>
          <p:cNvPr id="660" name="표 1"/>
          <p:cNvGraphicFramePr/>
          <p:nvPr/>
        </p:nvGraphicFramePr>
        <p:xfrm>
          <a:off x="1270000" y="2413000"/>
          <a:ext cx="21844000" cy="49530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825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기록할 답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어디까지 실행했는가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Live, Local, Simulation, Docs Only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첫 실패 계층은 어디인가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준비, RPC, PCL, Privacy verifier, 직원 확인, 업무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직원 지급을 확인했는가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직원별 scan과 tx binding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dirty="0" err="1">
                          <a:solidFill>
                            <a:srgbClr val="FFFFFF"/>
                          </a:solidFill>
                        </a:rPr>
                        <a:t>프로덕션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3200" b="1" dirty="0" err="1">
                          <a:solidFill>
                            <a:srgbClr val="FFFFFF"/>
                          </a:solidFill>
                        </a:rPr>
                        <a:t>전에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3200" b="1" dirty="0" err="1">
                          <a:solidFill>
                            <a:srgbClr val="FFFFFF"/>
                          </a:solidFill>
                        </a:rPr>
                        <a:t>무엇이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3200" b="1" dirty="0" err="1">
                          <a:solidFill>
                            <a:srgbClr val="FFFFFF"/>
                          </a:solidFill>
                        </a:rPr>
                        <a:t>필요한가</a:t>
                      </a:r>
                      <a:endParaRPr sz="3200" b="1" dirty="0">
                        <a:solidFill>
                          <a:srgbClr val="FFFFFF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 dirty="0">
                          <a:solidFill>
                            <a:srgbClr val="FFFFFF"/>
                          </a:solidFill>
                        </a:rPr>
                        <a:t>proof </a:t>
                      </a:r>
                      <a:r>
                        <a:rPr sz="3200" dirty="0" err="1">
                          <a:solidFill>
                            <a:srgbClr val="FFFFFF"/>
                          </a:solidFill>
                        </a:rPr>
                        <a:t>생성</a:t>
                      </a:r>
                      <a:r>
                        <a:rPr sz="320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3200" dirty="0" err="1">
                          <a:solidFill>
                            <a:srgbClr val="FFFFFF"/>
                          </a:solidFill>
                        </a:rPr>
                        <a:t>모델</a:t>
                      </a:r>
                      <a:r>
                        <a:rPr sz="3200" dirty="0">
                          <a:solidFill>
                            <a:srgbClr val="FFFFFF"/>
                          </a:solidFill>
                        </a:rPr>
                        <a:t>, custody, policy, scanner owner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프로덕션 전 결정해야 할 것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프로덕션 전 결정해야 할 것</a:t>
            </a:r>
          </a:p>
        </p:txBody>
      </p:sp>
      <p:sp>
        <p:nvSpPr>
          <p:cNvPr id="666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graphicFrame>
        <p:nvGraphicFramePr>
          <p:cNvPr id="667" name="표 1"/>
          <p:cNvGraphicFramePr/>
          <p:nvPr/>
        </p:nvGraphicFramePr>
        <p:xfrm>
          <a:off x="1270000" y="2413000"/>
          <a:ext cx="21844000" cy="900176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이번 워크숍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프로덕션 결정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필수 owner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Off-chain proving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Local proof·Maroo 실패 probe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자체/managed 선택·witness 경계·artifact 호환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기관 ZK·Security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On-chain verifier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Maroo rejection 관찰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회로·VK 버전·업그레이드 확인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Maroo protocol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Custody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단일 testnet key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HSM·승인·회전·복구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Treasury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PCL / EAS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상태 read·책임 매핑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정책 변경·예외·denylist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Compliance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Employee registry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합성 profile 3개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입사·변경·퇴사 lifecycle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Payroll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Scanner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Local 직원별 scan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cursor·재시도·SLA·소유권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Wallet team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Audit / disclosure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digest와 scan 대사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접근권한·보존·감사 절차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Audit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>
                          <a:solidFill>
                            <a:srgbClr val="FFFFFF"/>
                          </a:solidFill>
                        </a:rPr>
                        <a:t>Operations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수동 evidence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monitoring·alert·incident runbook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SRE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마지막 질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 b="0" spc="-96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마지막 질문</a:t>
            </a:r>
          </a:p>
        </p:txBody>
      </p:sp>
      <p:sp>
        <p:nvSpPr>
          <p:cNvPr id="67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sp>
        <p:nvSpPr>
          <p:cNvPr id="674" name="어떤 증거가 있어야 급여를 완료 처리할 수 있는가"/>
          <p:cNvSpPr txBox="1"/>
          <p:nvPr/>
        </p:nvSpPr>
        <p:spPr>
          <a:xfrm>
            <a:off x="1524000" y="2794000"/>
            <a:ext cx="21336001" cy="927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5400">
                <a:solidFill>
                  <a:srgbClr val="00E9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r>
              <a:t>어떤 증거가 있어야 급여를 완료 처리할 수 있는가</a:t>
            </a:r>
          </a:p>
        </p:txBody>
      </p:sp>
      <p:sp>
        <p:nvSpPr>
          <p:cNvPr id="675" name="온체인 receipt만으로는 부족하다…"/>
          <p:cNvSpPr txBox="1"/>
          <p:nvPr/>
        </p:nvSpPr>
        <p:spPr>
          <a:xfrm>
            <a:off x="1524000" y="4953000"/>
            <a:ext cx="21336000" cy="248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온체인 receipt만으로는 부족하다</a:t>
            </a:r>
          </a:p>
          <a:p>
            <a:pPr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  <a:p>
            <a:pPr>
              <a:defRPr sz="29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PCL 정책 판정, 온체인 proof 검증, 직원별 scan과 업무 계획 대사를 함께 본다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3044</Words>
  <Application>Microsoft Macintosh PowerPoint</Application>
  <PresentationFormat>사용자 지정</PresentationFormat>
  <Paragraphs>601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Helvetica Neue</vt:lpstr>
      <vt:lpstr>Helvetica Neue Medium</vt:lpstr>
      <vt:lpstr>20_BasicBlack</vt:lpstr>
      <vt:lpstr>PowerPoint 프레젠테이션</vt:lpstr>
      <vt:lpstr>오늘 완성할 것</vt:lpstr>
      <vt:lpstr>참가자와 시나리오</vt:lpstr>
      <vt:lpstr>75분 진행</vt:lpstr>
      <vt:lpstr>증거 라벨</vt:lpstr>
      <vt:lpstr>급여 완료의 네 단계</vt:lpstr>
      <vt:lpstr>PowerPoint 프레젠테이션</vt:lpstr>
      <vt:lpstr>PowerPoint 프레젠테이션</vt:lpstr>
      <vt:lpstr>키·서비스 책임 경계</vt:lpstr>
      <vt:lpstr>공통 환경</vt:lpstr>
      <vt:lpstr>계정과 급여 계획</vt:lpstr>
      <vt:lpstr>급여 계획</vt:lpstr>
      <vt:lpstr>Maroo read-only preflight</vt:lpstr>
      <vt:lpstr>Maroo readiness 판정</vt:lpstr>
      <vt:lpstr>PowerPoint 프레젠테이션</vt:lpstr>
      <vt:lpstr>Clairveil Local 실행</vt:lpstr>
      <vt:lpstr>정상 급여 결과</vt:lpstr>
      <vt:lpstr>PowerPoint 프레젠테이션</vt:lpstr>
      <vt:lpstr>데이터 가시성 매트릭스</vt:lpstr>
      <vt:lpstr>PowerPoint 프레젠테이션</vt:lpstr>
      <vt:lpstr>PowerPoint 프레젠테이션</vt:lpstr>
      <vt:lpstr>PowerPoint 프레젠테이션</vt:lpstr>
      <vt:lpstr>Maroo 실행 경로</vt:lpstr>
      <vt:lpstr>Path B 실행</vt:lpstr>
      <vt:lpstr>실제 Maroo receipt</vt:lpstr>
      <vt:lpstr>실패 모드 지도 · 첫 실패 계층을 찾는다</vt:lpstr>
      <vt:lpstr>완료 증거</vt:lpstr>
      <vt:lpstr>워크숍 종료 판정</vt:lpstr>
      <vt:lpstr>프로덕션 전 결정해야 할 것</vt:lpstr>
      <vt:lpstr>마지막 질문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구민재[ 정보보호대학원석사과정졸업 / 금융보안학과 ]</cp:lastModifiedBy>
  <cp:revision>1</cp:revision>
  <dcterms:modified xsi:type="dcterms:W3CDTF">2026-09-04T06:40:34Z</dcterms:modified>
</cp:coreProperties>
</file>