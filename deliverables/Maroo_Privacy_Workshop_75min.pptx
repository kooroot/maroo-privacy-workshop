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FFFFFF"/>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firstRow>
  </a:tblStyle>
  <a:tblStyle styleId="{C7B018BB-80A7-4F77-B60F-C8B233D01FF8}"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25400" cap="flat">
              <a:solidFill>
                <a:srgbClr val="FFFFFF"/>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firstCol>
    <a:lastRow>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1">
                  <a:lumOff val="13543"/>
                </a:schemeClr>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solidFill>
            <a:srgbClr val="014D80"/>
          </a:solidFill>
        </a:fill>
      </a:tcStyle>
    </a:firstRow>
  </a:tblStyle>
  <a:tblStyle styleId="{EEE7283C-3CF3-47DC-8721-378D4A62B228}"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alpha val="63790"/>
            </a:srgbClr>
          </a:solidFill>
        </a:fill>
      </a:tcStyle>
    </a:band2H>
    <a:firstCol>
      <a:tcTxStyle b="off" i="off">
        <a:font>
          <a:latin typeface="Helvetica Neue Medium"/>
          <a:ea typeface="Helvetica Neue Medium"/>
          <a:cs typeface="Helvetica Neue Medium"/>
        </a:font>
        <a:srgbClr val="FFFFFF"/>
      </a:tcTxStyle>
      <a:tcStyle>
        <a:tcBdr>
          <a:left>
            <a:ln w="12700" cap="flat">
              <a:solidFill>
                <a:srgbClr val="A9A9A9"/>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09D00"/>
          </a:solidFill>
        </a:fill>
      </a:tcStyle>
    </a:firstCol>
    <a:lastRow>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61D836"/>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ff" i="off">
        <a:font>
          <a:latin typeface="Helvetica Neue Medium"/>
          <a:ea typeface="Helvetica Neue Medium"/>
          <a:cs typeface="Helvetica Neue Medium"/>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027002"/>
          </a:solidFill>
        </a:fill>
      </a:tcStyle>
    </a:firstRow>
  </a:tblStyle>
  <a:tblStyle styleId="{CF821DB8-F4EB-4A41-A1BA-3FCAFE7338EE}" styleName="">
    <a:tblBg/>
    <a:wholeTbl>
      <a:tcTxStyle b="off"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12700" cap="flat">
              <a:solidFill>
                <a:srgbClr val="A9A9A9"/>
              </a:solidFill>
              <a:prstDash val="solid"/>
              <a:miter lim="400000"/>
            </a:ln>
          </a:top>
          <a:bottom>
            <a:ln w="12700" cap="flat">
              <a:solidFill>
                <a:srgbClr val="A9A9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wholeTbl>
    <a:band2H>
      <a:tcTxStyle/>
      <a:tcStyle>
        <a:tcBdr/>
        <a:fill>
          <a:solidFill>
            <a:srgbClr val="747676">
              <a:alpha val="63790"/>
            </a:srgb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E3E5E8"/>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chemeClr val="accent4">
              <a:hueOff val="-613784"/>
              <a:lumOff val="1275"/>
            </a:schemeClr>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4">
                  <a:hueOff val="-613784"/>
                  <a:lumOff val="1275"/>
                </a:schemeClr>
              </a:solidFill>
              <a:prstDash val="solid"/>
              <a:miter lim="400000"/>
            </a:ln>
          </a:top>
          <a:bottom>
            <a:ln w="12700" cap="flat">
              <a:solidFill>
                <a:srgbClr val="E3E5E8"/>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E3E5E8"/>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FF5300"/>
          </a:solidFill>
        </a:fill>
      </a:tcStyle>
    </a:firstRow>
  </a:tblStyle>
  <a:tblStyle styleId="{33BA23B1-9221-436E-865A-0063620EA4FD}" styleName="">
    <a:tblBg/>
    <a:wholeTbl>
      <a:tcTxStyle b="off"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noFill/>
        </a:fill>
      </a:tcStyle>
    </a:wholeTbl>
    <a:band2H>
      <a:tcTxStyle/>
      <a:tcStyle>
        <a:tcBdr/>
        <a:fill>
          <a:solidFill>
            <a:srgbClr val="747676">
              <a:alpha val="63790"/>
            </a:srgbClr>
          </a:solidFill>
        </a:fill>
      </a:tcStyle>
    </a:band2H>
    <a:firstCol>
      <a:tcTxStyle b="on" i="off">
        <a:fontRef idx="minor">
          <a:srgbClr val="FFFFFF"/>
        </a:fontRef>
        <a:srgbClr val="FFFFFF"/>
      </a:tcTxStyle>
      <a:tcStyle>
        <a:tcBdr>
          <a:left>
            <a:ln w="12700" cap="flat">
              <a:solidFill>
                <a:srgbClr val="A6AAA9"/>
              </a:solidFill>
              <a:prstDash val="solid"/>
              <a:miter lim="400000"/>
            </a:ln>
          </a:left>
          <a:right>
            <a:ln w="12700" cap="flat">
              <a:solidFill>
                <a:srgbClr val="C0C0C0"/>
              </a:solidFill>
              <a:prstDash val="solid"/>
              <a:miter lim="400000"/>
            </a:ln>
          </a:right>
          <a:top>
            <a:ln w="12700" cap="flat">
              <a:solidFill>
                <a:srgbClr val="C0C0C0"/>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98195F"/>
          </a:solidFill>
        </a:fill>
      </a:tcStyle>
    </a:firstCol>
    <a:lastRow>
      <a:tcTxStyle b="on" i="off">
        <a:fontRef idx="minor">
          <a:srgbClr val="FFFFFF"/>
        </a:fontRef>
        <a:srgbClr val="FFFFFF"/>
      </a:tcTxStyle>
      <a:tcStyle>
        <a:tcBdr>
          <a:left>
            <a:ln w="12700" cap="flat">
              <a:solidFill>
                <a:srgbClr val="A9A9A9"/>
              </a:solidFill>
              <a:prstDash val="solid"/>
              <a:miter lim="400000"/>
            </a:ln>
          </a:left>
          <a:right>
            <a:ln w="12700" cap="flat">
              <a:solidFill>
                <a:srgbClr val="A9A9A9"/>
              </a:solidFill>
              <a:prstDash val="solid"/>
              <a:miter lim="400000"/>
            </a:ln>
          </a:right>
          <a:top>
            <a:ln w="38100" cap="flat">
              <a:solidFill>
                <a:schemeClr val="accent6"/>
              </a:solidFill>
              <a:prstDash val="solid"/>
              <a:miter lim="400000"/>
            </a:ln>
          </a:top>
          <a:bottom>
            <a:ln w="12700" cap="flat">
              <a:solidFill>
                <a:srgbClr val="A6AAA9"/>
              </a:solidFill>
              <a:prstDash val="solid"/>
              <a:miter lim="400000"/>
            </a:ln>
          </a:bottom>
          <a:insideH>
            <a:ln w="12700" cap="flat">
              <a:solidFill>
                <a:srgbClr val="A9A9A9"/>
              </a:solidFill>
              <a:prstDash val="solid"/>
              <a:miter lim="400000"/>
            </a:ln>
          </a:insideH>
          <a:insideV>
            <a:ln w="12700" cap="flat">
              <a:solidFill>
                <a:srgbClr val="A9A9A9"/>
              </a:solidFill>
              <a:prstDash val="solid"/>
              <a:miter lim="400000"/>
            </a:ln>
          </a:insideV>
        </a:tcBdr>
        <a:fill>
          <a:noFill/>
        </a:fill>
      </a:tcStyle>
    </a:lastRow>
    <a:firstRow>
      <a:tcTxStyle b="on" i="off">
        <a:fontRef idx="minor">
          <a:srgbClr val="FFFFFF"/>
        </a:fontRef>
        <a:srgbClr val="FFFFFF"/>
      </a:tcTxStyle>
      <a:tcStyle>
        <a:tcBdr>
          <a:left>
            <a:ln w="12700" cap="flat">
              <a:solidFill>
                <a:srgbClr val="C0C0C0"/>
              </a:solidFill>
              <a:prstDash val="solid"/>
              <a:miter lim="400000"/>
            </a:ln>
          </a:left>
          <a:right>
            <a:ln w="12700" cap="flat">
              <a:solidFill>
                <a:srgbClr val="C0C0C0"/>
              </a:solidFill>
              <a:prstDash val="solid"/>
              <a:miter lim="400000"/>
            </a:ln>
          </a:right>
          <a:top>
            <a:ln w="12700" cap="flat">
              <a:solidFill>
                <a:srgbClr val="A6AAA9"/>
              </a:solidFill>
              <a:prstDash val="solid"/>
              <a:miter lim="400000"/>
            </a:ln>
          </a:top>
          <a:bottom>
            <a:ln w="12700" cap="flat">
              <a:solidFill>
                <a:srgbClr val="C0C0C0"/>
              </a:solidFill>
              <a:prstDash val="solid"/>
              <a:miter lim="400000"/>
            </a:ln>
          </a:bottom>
          <a:insideH>
            <a:ln w="12700" cap="flat">
              <a:solidFill>
                <a:srgbClr val="C0C0C0"/>
              </a:solidFill>
              <a:prstDash val="solid"/>
              <a:miter lim="400000"/>
            </a:ln>
          </a:insideH>
          <a:insideV>
            <a:ln w="12700" cap="flat">
              <a:solidFill>
                <a:srgbClr val="C0C0C0"/>
              </a:solidFill>
              <a:prstDash val="solid"/>
              <a:miter lim="400000"/>
            </a:ln>
          </a:insideV>
        </a:tcBdr>
        <a:fill>
          <a:solidFill>
            <a:srgbClr val="650E48"/>
          </a:solidFill>
        </a:fill>
      </a:tcStyle>
    </a:firstRow>
  </a:tblStyle>
  <a:tblStyle styleId="{2708684C-4D16-4618-839F-0558EEFCDFE6}" styleName="">
    <a:tblBg/>
    <a:wholeTbl>
      <a:tcTxStyle b="off"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wholeTbl>
    <a:band2H>
      <a:tcTxStyle/>
      <a:tcStyle>
        <a:tcBdr/>
        <a:fill>
          <a:solidFill>
            <a:srgbClr val="747676">
              <a:alpha val="64000"/>
            </a:srgbClr>
          </a:solidFill>
        </a:fill>
      </a:tcStyle>
    </a:band2H>
    <a:firstCol>
      <a:tcTxStyle b="on" i="off">
        <a:fontRef idx="minor">
          <a:srgbClr val="FFFFFF"/>
        </a:fontRef>
        <a:srgbClr val="FFFFFF"/>
      </a:tcTxStyle>
      <a:tcStyle>
        <a:tcBdr>
          <a:left>
            <a:ln w="12700" cap="flat">
              <a:solidFill>
                <a:srgbClr val="A9A9A9"/>
              </a:solidFill>
              <a:prstDash val="solid"/>
              <a:miter lim="400000"/>
            </a:ln>
          </a:left>
          <a:right>
            <a:ln w="381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262727"/>
          </a:solidFill>
        </a:fill>
      </a:tcStyle>
    </a:firstCol>
    <a:la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38100" cap="flat">
              <a:solidFill>
                <a:srgbClr val="FFFFFF"/>
              </a:solidFill>
              <a:prstDash val="solid"/>
              <a:miter lim="400000"/>
            </a:ln>
          </a:top>
          <a:bottom>
            <a:ln w="12700" cap="flat">
              <a:solidFill>
                <a:srgbClr val="A9A9A9"/>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noFill/>
        </a:fill>
      </a:tcStyle>
    </a:lastRow>
    <a:firstRow>
      <a:tcTxStyle b="on" i="off">
        <a:fontRef idx="min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A9A9A9"/>
              </a:solidFill>
              <a:prstDash val="solid"/>
              <a:miter lim="400000"/>
            </a:ln>
          </a:top>
          <a:bottom>
            <a:ln w="381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42424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60" d="100"/>
          <a:sy n="6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8" name="Shape 168"/>
          <p:cNvSpPr>
            <a:spLocks noGrp="1" noRot="1" noChangeAspect="1"/>
          </p:cNvSpPr>
          <p:nvPr>
            <p:ph type="sldImg"/>
          </p:nvPr>
        </p:nvSpPr>
        <p:spPr>
          <a:xfrm>
            <a:off x="1143000" y="685800"/>
            <a:ext cx="4572000" cy="3429000"/>
          </a:xfrm>
          <a:prstGeom prst="rect">
            <a:avLst/>
          </a:prstGeom>
        </p:spPr>
        <p:txBody>
          <a:bodyPr/>
          <a:lstStyle/>
          <a:p>
            <a:endParaRPr/>
          </a:p>
        </p:txBody>
      </p:sp>
      <p:sp>
        <p:nvSpPr>
          <p:cNvPr id="169" name="Shape 16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Shape 186"/>
          <p:cNvSpPr>
            <a:spLocks noGrp="1" noRot="1" noChangeAspect="1"/>
          </p:cNvSpPr>
          <p:nvPr>
            <p:ph type="sldImg"/>
          </p:nvPr>
        </p:nvSpPr>
        <p:spPr>
          <a:prstGeom prst="rect">
            <a:avLst/>
          </a:prstGeom>
        </p:spPr>
        <p:txBody>
          <a:bodyPr/>
          <a:lstStyle/>
          <a:p>
            <a:endParaRPr/>
          </a:p>
        </p:txBody>
      </p:sp>
      <p:sp>
        <p:nvSpPr>
          <p:cNvPr id="187" name="Shape 187"/>
          <p:cNvSpPr>
            <a:spLocks noGrp="1"/>
          </p:cNvSpPr>
          <p:nvPr>
            <p:ph type="body" sz="quarter" idx="1"/>
          </p:nvPr>
        </p:nvSpPr>
        <p:spPr>
          <a:prstGeom prst="rect">
            <a:avLst/>
          </a:prstGeom>
        </p:spPr>
        <p:txBody>
          <a:bodyPr/>
          <a:lstStyle/>
          <a:p>
            <a:r>
              <a:t>워크숍 시작 전 참가자에게 demo/.env나 private key를 화면에 띄우지 말라고 안내한다. 표지의 네이티브 도형은 OKRW, PCL, Privacy의 연결을 나타낸다.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Shape 193"/>
          <p:cNvSpPr>
            <a:spLocks noGrp="1" noRot="1" noChangeAspect="1"/>
          </p:cNvSpPr>
          <p:nvPr>
            <p:ph type="sldImg"/>
          </p:nvPr>
        </p:nvSpPr>
        <p:spPr>
          <a:xfrm>
            <a:off x="381000" y="685800"/>
            <a:ext cx="6096000" cy="3429000"/>
          </a:xfrm>
          <a:prstGeom prst="rect">
            <a:avLst/>
          </a:prstGeom>
        </p:spPr>
        <p:txBody>
          <a:bodyPr/>
          <a:lstStyle/>
          <a:p>
            <a:endParaRPr/>
          </a:p>
        </p:txBody>
      </p:sp>
      <p:sp>
        <p:nvSpPr>
          <p:cNvPr id="194" name="Shape 194"/>
          <p:cNvSpPr>
            <a:spLocks noGrp="1"/>
          </p:cNvSpPr>
          <p:nvPr>
            <p:ph type="body" sz="quarter" idx="1"/>
          </p:nvPr>
        </p:nvSpPr>
        <p:spPr>
          <a:prstGeom prst="rect">
            <a:avLst/>
          </a:prstGeom>
        </p:spPr>
        <p:txBody>
          <a:bodyPr/>
          <a:lstStyle/>
          <a:p>
            <a:r>
              <a:t>시간 00–07. 학습 목표 O1부터 O6을 소개한다. 핵심 질문: tx가 포함되면 급여가 끝난 것인가? 참가자의 첫 답을 듣고 6번 슬라이드에서 다시 확인한다.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hape 200"/>
          <p:cNvSpPr>
            <a:spLocks noGrp="1" noRot="1" noChangeAspect="1"/>
          </p:cNvSpPr>
          <p:nvPr>
            <p:ph type="sldImg"/>
          </p:nvPr>
        </p:nvSpPr>
        <p:spPr>
          <a:xfrm>
            <a:off x="381000" y="685800"/>
            <a:ext cx="6096000" cy="3429000"/>
          </a:xfrm>
          <a:prstGeom prst="rect">
            <a:avLst/>
          </a:prstGeom>
        </p:spPr>
        <p:txBody>
          <a:bodyPr/>
          <a:lstStyle/>
          <a:p>
            <a:endParaRPr/>
          </a:p>
        </p:txBody>
      </p:sp>
      <p:sp>
        <p:nvSpPr>
          <p:cNvPr id="201" name="Shape 201"/>
          <p:cNvSpPr>
            <a:spLocks noGrp="1"/>
          </p:cNvSpPr>
          <p:nvPr>
            <p:ph type="body" sz="quarter" idx="1"/>
          </p:nvPr>
        </p:nvSpPr>
        <p:spPr>
          <a:prstGeom prst="rect">
            <a:avLst/>
          </a:prstGeom>
        </p:spPr>
        <p:txBody>
          <a:bodyPr/>
          <a:lstStyle/>
          <a:p>
            <a:r>
              <a:t>시간 00–07. 2인 1조가 아니라 1인 1환경이다. 실제 직원 정보와 운영 지갑을 쓰지 않는다. 참가자는 자기 결과만 제출한다.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Shape 207"/>
          <p:cNvSpPr>
            <a:spLocks noGrp="1" noRot="1" noChangeAspect="1"/>
          </p:cNvSpPr>
          <p:nvPr>
            <p:ph type="sldImg"/>
          </p:nvPr>
        </p:nvSpPr>
        <p:spPr>
          <a:xfrm>
            <a:off x="381000" y="685800"/>
            <a:ext cx="6096000" cy="3429000"/>
          </a:xfrm>
          <a:prstGeom prst="rect">
            <a:avLst/>
          </a:prstGeom>
        </p:spPr>
        <p:txBody>
          <a:bodyPr/>
          <a:lstStyle/>
          <a:p>
            <a:endParaRPr/>
          </a:p>
        </p:txBody>
      </p:sp>
      <p:sp>
        <p:nvSpPr>
          <p:cNvPr id="208" name="Shape 208"/>
          <p:cNvSpPr>
            <a:spLocks noGrp="1"/>
          </p:cNvSpPr>
          <p:nvPr>
            <p:ph type="body" sz="quarter" idx="1"/>
          </p:nvPr>
        </p:nvSpPr>
        <p:spPr>
          <a:prstGeom prst="rect">
            <a:avLst/>
          </a:prstGeom>
        </p:spPr>
        <p:txBody>
          <a:bodyPr/>
          <a:lstStyle/>
          <a:p>
            <a:r>
              <a:t>워크숍 전체 시간표다. 각 구간이 늦어지면 진행자 가이드의 중단 기준을 적용한다. Maroo RPC 장애가 발생해도 Local을 Live 성공으로 바꾸어 말하지 않는다.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Shape 214"/>
          <p:cNvSpPr>
            <a:spLocks noGrp="1" noRot="1" noChangeAspect="1"/>
          </p:cNvSpPr>
          <p:nvPr>
            <p:ph type="sldImg"/>
          </p:nvPr>
        </p:nvSpPr>
        <p:spPr>
          <a:xfrm>
            <a:off x="381000" y="685800"/>
            <a:ext cx="6096000" cy="3429000"/>
          </a:xfrm>
          <a:prstGeom prst="rect">
            <a:avLst/>
          </a:prstGeom>
        </p:spPr>
        <p:txBody>
          <a:bodyPr/>
          <a:lstStyle/>
          <a:p>
            <a:endParaRPr/>
          </a:p>
        </p:txBody>
      </p:sp>
      <p:sp>
        <p:nvSpPr>
          <p:cNvPr id="215" name="Shape 215"/>
          <p:cNvSpPr>
            <a:spLocks noGrp="1"/>
          </p:cNvSpPr>
          <p:nvPr>
            <p:ph type="body" sz="quarter" idx="1"/>
          </p:nvPr>
        </p:nvSpPr>
        <p:spPr>
          <a:prstGeom prst="rect">
            <a:avLst/>
          </a:prstGeom>
        </p:spPr>
        <p:txBody>
          <a:bodyPr/>
          <a:lstStyle/>
          <a:p>
            <a:r>
              <a:t>결과마다 라벨을 붙인다. 서로 다른 라벨의 결과를 합쳐 하나의 Maroo 성공으로 표현하지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Shape 232"/>
          <p:cNvSpPr>
            <a:spLocks noGrp="1" noRot="1" noChangeAspect="1"/>
          </p:cNvSpPr>
          <p:nvPr>
            <p:ph type="sldImg"/>
          </p:nvPr>
        </p:nvSpPr>
        <p:spPr>
          <a:xfrm>
            <a:off x="381000" y="685800"/>
            <a:ext cx="6096000" cy="3429000"/>
          </a:xfrm>
          <a:prstGeom prst="rect">
            <a:avLst/>
          </a:prstGeom>
        </p:spPr>
        <p:txBody>
          <a:bodyPr/>
          <a:lstStyle/>
          <a:p>
            <a:endParaRPr/>
          </a:p>
        </p:txBody>
      </p:sp>
      <p:sp>
        <p:nvSpPr>
          <p:cNvPr id="233" name="Shape 233"/>
          <p:cNvSpPr>
            <a:spLocks noGrp="1"/>
          </p:cNvSpPr>
          <p:nvPr>
            <p:ph type="body" sz="quarter" idx="1"/>
          </p:nvPr>
        </p:nvSpPr>
        <p:spPr>
          <a:prstGeom prst="rect">
            <a:avLst/>
          </a:prstGeom>
        </p:spPr>
        <p:txBody>
          <a:bodyPr/>
          <a:lstStyle/>
          <a:p>
            <a:r>
              <a:t>질문: receipt status가 1이어도 직원 scan이 0이면 지급 완료인가? 정답은 아니다. 온체인 포함과 직원 수령 확인을 분리한다.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Shape 283"/>
          <p:cNvSpPr>
            <a:spLocks noGrp="1" noRot="1" noChangeAspect="1"/>
          </p:cNvSpPr>
          <p:nvPr>
            <p:ph type="sldImg"/>
          </p:nvPr>
        </p:nvSpPr>
        <p:spPr>
          <a:prstGeom prst="rect">
            <a:avLst/>
          </a:prstGeom>
        </p:spPr>
        <p:txBody>
          <a:bodyPr/>
          <a:lstStyle/>
          <a:p>
            <a:endParaRPr/>
          </a:p>
        </p:txBody>
      </p:sp>
      <p:sp>
        <p:nvSpPr>
          <p:cNvPr id="284" name="Shape 284"/>
          <p:cNvSpPr>
            <a:spLocks noGrp="1"/>
          </p:cNvSpPr>
          <p:nvPr>
            <p:ph type="body" sz="quarter" idx="1"/>
          </p:nvPr>
        </p:nvSpPr>
        <p:spPr>
          <a:prstGeom prst="rect">
            <a:avLst/>
          </a:prstGeom>
        </p:spPr>
        <p:txBody>
          <a:bodyPr/>
          <a:lstStyle/>
          <a:p>
            <a:r>
              <a:t>시간 17–23. Maroo target architecture다. 온체인과 오프체인 경계를 먼저 설명한 뒤 각 화살표의 신뢰 가정을 확인한다. PCL 통과만으로 직원과 shielded output의 업무 매핑이 맞다고 볼 수 없다.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Shape 317"/>
          <p:cNvSpPr>
            <a:spLocks noGrp="1" noRot="1" noChangeAspect="1"/>
          </p:cNvSpPr>
          <p:nvPr>
            <p:ph type="sldImg"/>
          </p:nvPr>
        </p:nvSpPr>
        <p:spPr>
          <a:prstGeom prst="rect">
            <a:avLst/>
          </a:prstGeom>
        </p:spPr>
        <p:txBody>
          <a:bodyPr/>
          <a:lstStyle/>
          <a:p>
            <a:endParaRPr/>
          </a:p>
        </p:txBody>
      </p:sp>
      <p:sp>
        <p:nvSpPr>
          <p:cNvPr id="318" name="Shape 318"/>
          <p:cNvSpPr>
            <a:spLocks noGrp="1"/>
          </p:cNvSpPr>
          <p:nvPr>
            <p:ph type="body" sz="quarter" idx="1"/>
          </p:nvPr>
        </p:nvSpPr>
        <p:spPr>
          <a:prstGeom prst="rect">
            <a:avLst/>
          </a:prstGeom>
        </p:spPr>
        <p:txBody>
          <a:bodyPr/>
          <a:lstStyle/>
          <a:p>
            <a:r>
              <a:t>시간 23–27. target happy path의 sequence다. 1부터 8까지 읽는다. 현재 Maroo 제출은 호환 prover와 VK provenance가 없어 5번 transfer 성공 이후까지 진행하지 못했고 Path B receipt로 실패 계층만 관찰했다.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p>
            <a:r>
              <a:t>시간 44–52에도 다시 사용하는 책임 표다. 키를 보유한 주체와 실패 시 첫 확인 지점을 연결한다. 운영 환경에서는 custody와 service owner를 별도로 지정한다.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Shape 332"/>
          <p:cNvSpPr>
            <a:spLocks noGrp="1" noRot="1" noChangeAspect="1"/>
          </p:cNvSpPr>
          <p:nvPr>
            <p:ph type="sldImg"/>
          </p:nvPr>
        </p:nvSpPr>
        <p:spPr>
          <a:xfrm>
            <a:off x="381000" y="685800"/>
            <a:ext cx="6096000" cy="3429000"/>
          </a:xfrm>
          <a:prstGeom prst="rect">
            <a:avLst/>
          </a:prstGeom>
        </p:spPr>
        <p:txBody>
          <a:bodyPr/>
          <a:lstStyle/>
          <a:p>
            <a:endParaRPr/>
          </a:p>
        </p:txBody>
      </p:sp>
      <p:sp>
        <p:nvSpPr>
          <p:cNvPr id="333" name="Shape 333"/>
          <p:cNvSpPr>
            <a:spLocks noGrp="1"/>
          </p:cNvSpPr>
          <p:nvPr>
            <p:ph type="body" sz="quarter" idx="1"/>
          </p:nvPr>
        </p:nvSpPr>
        <p:spPr>
          <a:prstGeom prst="rect">
            <a:avLst/>
          </a:prstGeom>
        </p:spPr>
        <p:txBody>
          <a:bodyPr/>
          <a:lstStyle/>
          <a:p>
            <a:r>
              <a:t>시간 07–17. 성공 문구는 WORKSHOP ENVIRONMENT READY. Anvil 사용법을 교육하지 않는다. Foundry 설치 일관성을 확인하고 이후 cast를 Maroo 상태 판독에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Shape 339"/>
          <p:cNvSpPr>
            <a:spLocks noGrp="1" noRot="1" noChangeAspect="1"/>
          </p:cNvSpPr>
          <p:nvPr>
            <p:ph type="sldImg"/>
          </p:nvPr>
        </p:nvSpPr>
        <p:spPr>
          <a:xfrm>
            <a:off x="381000" y="685800"/>
            <a:ext cx="6096000" cy="3429000"/>
          </a:xfrm>
          <a:prstGeom prst="rect">
            <a:avLst/>
          </a:prstGeom>
        </p:spPr>
        <p:txBody>
          <a:bodyPr/>
          <a:lstStyle/>
          <a:p>
            <a:endParaRPr/>
          </a:p>
        </p:txBody>
      </p:sp>
      <p:sp>
        <p:nvSpPr>
          <p:cNvPr id="340" name="Shape 340"/>
          <p:cNvSpPr>
            <a:spLocks noGrp="1"/>
          </p:cNvSpPr>
          <p:nvPr>
            <p:ph type="body" sz="quarter" idx="1"/>
          </p:nvPr>
        </p:nvSpPr>
        <p:spPr>
          <a:prstGeom prst="rect">
            <a:avLst/>
          </a:prstGeom>
        </p:spPr>
        <p:txBody>
          <a:bodyPr/>
          <a:lstStyle/>
          <a:p>
            <a:r>
              <a:t>private key는 화면, evidence, shell history에 남기지 않는다. Privacy transfer 수취인은 공개 EMPLOYEE_ACCOUNT가 아니라 proof와 output에 결속되는 shielded profile이다.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Shape 357"/>
          <p:cNvSpPr>
            <a:spLocks noGrp="1" noRot="1" noChangeAspect="1"/>
          </p:cNvSpPr>
          <p:nvPr>
            <p:ph type="sldImg"/>
          </p:nvPr>
        </p:nvSpPr>
        <p:spPr>
          <a:xfrm>
            <a:off x="381000" y="685800"/>
            <a:ext cx="6096000" cy="3429000"/>
          </a:xfrm>
          <a:prstGeom prst="rect">
            <a:avLst/>
          </a:prstGeom>
        </p:spPr>
        <p:txBody>
          <a:bodyPr/>
          <a:lstStyle/>
          <a:p>
            <a:endParaRPr/>
          </a:p>
        </p:txBody>
      </p:sp>
      <p:sp>
        <p:nvSpPr>
          <p:cNvPr id="358" name="Shape 358"/>
          <p:cNvSpPr>
            <a:spLocks noGrp="1"/>
          </p:cNvSpPr>
          <p:nvPr>
            <p:ph type="body" sz="quarter" idx="1"/>
          </p:nvPr>
        </p:nvSpPr>
        <p:spPr>
          <a:prstGeom prst="rect">
            <a:avLst/>
          </a:prstGeom>
        </p:spPr>
        <p:txBody>
          <a:bodyPr/>
          <a:lstStyle/>
          <a:p>
            <a:r>
              <a:t>시간 00–07 또는 07–17. 300은 합성 금액이다. EMP-A, EMP-B, EMP-C의 profileRef가 서로 다른지 확인한다. 단위는 Local에서 uclair, Maroo 설계에서 OKRW 상당이다.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Shape 365"/>
          <p:cNvSpPr>
            <a:spLocks noGrp="1" noRot="1" noChangeAspect="1"/>
          </p:cNvSpPr>
          <p:nvPr>
            <p:ph type="sldImg"/>
          </p:nvPr>
        </p:nvSpPr>
        <p:spPr>
          <a:xfrm>
            <a:off x="381000" y="685800"/>
            <a:ext cx="6096000" cy="3429000"/>
          </a:xfrm>
          <a:prstGeom prst="rect">
            <a:avLst/>
          </a:prstGeom>
        </p:spPr>
        <p:txBody>
          <a:bodyPr/>
          <a:lstStyle/>
          <a:p>
            <a:endParaRPr/>
          </a:p>
        </p:txBody>
      </p:sp>
      <p:sp>
        <p:nvSpPr>
          <p:cNvPr id="366" name="Shape 366"/>
          <p:cNvSpPr>
            <a:spLocks noGrp="1"/>
          </p:cNvSpPr>
          <p:nvPr>
            <p:ph type="body" sz="quarter" idx="1"/>
          </p:nvPr>
        </p:nvSpPr>
        <p:spPr>
          <a:prstGeom prst="rect">
            <a:avLst/>
          </a:prstGeom>
        </p:spPr>
        <p:txBody>
          <a:bodyPr/>
          <a:lstStyle/>
          <a:p>
            <a:r>
              <a:t>시간 17–27. demo/.env를 화면에 열지 않는다. command 출력과 evidence에서 company/employee public address가 다르고 chainId가 450815인지 확인한다.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Shape 372"/>
          <p:cNvSpPr>
            <a:spLocks noGrp="1" noRot="1" noChangeAspect="1"/>
          </p:cNvSpPr>
          <p:nvPr>
            <p:ph type="sldImg"/>
          </p:nvPr>
        </p:nvSpPr>
        <p:spPr>
          <a:xfrm>
            <a:off x="381000" y="685800"/>
            <a:ext cx="6096000" cy="3429000"/>
          </a:xfrm>
          <a:prstGeom prst="rect">
            <a:avLst/>
          </a:prstGeom>
        </p:spPr>
        <p:txBody>
          <a:bodyPr/>
          <a:lstStyle/>
          <a:p>
            <a:endParaRPr/>
          </a:p>
        </p:txBody>
      </p:sp>
      <p:sp>
        <p:nvSpPr>
          <p:cNvPr id="373" name="Shape 373"/>
          <p:cNvSpPr>
            <a:spLocks noGrp="1"/>
          </p:cNvSpPr>
          <p:nvPr>
            <p:ph type="body" sz="quarter" idx="1"/>
          </p:nvPr>
        </p:nvSpPr>
        <p:spPr>
          <a:prstGeom prst="rect">
            <a:avLst/>
          </a:prstGeom>
        </p:spPr>
        <p:txBody>
          <a:bodyPr/>
          <a:lstStyle/>
          <a:p>
            <a:r>
              <a:t>성공 기준 O1과 O4. PCL 설정을 읽었다고 PCL rejection을 실제 관찰했다고 말하지 않는다. active policy와 signer 상태를 함께 보아야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Shape 408"/>
          <p:cNvSpPr>
            <a:spLocks noGrp="1" noRot="1" noChangeAspect="1"/>
          </p:cNvSpPr>
          <p:nvPr>
            <p:ph type="sldImg"/>
          </p:nvPr>
        </p:nvSpPr>
        <p:spPr>
          <a:prstGeom prst="rect">
            <a:avLst/>
          </a:prstGeom>
        </p:spPr>
        <p:txBody>
          <a:bodyPr/>
          <a:lstStyle/>
          <a:p>
            <a:endParaRPr/>
          </a:p>
        </p:txBody>
      </p:sp>
      <p:sp>
        <p:nvSpPr>
          <p:cNvPr id="409" name="Shape 409"/>
          <p:cNvSpPr>
            <a:spLocks noGrp="1"/>
          </p:cNvSpPr>
          <p:nvPr>
            <p:ph type="body" sz="quarter" idx="1"/>
          </p:nvPr>
        </p:nvSpPr>
        <p:spPr>
          <a:prstGeom prst="rect">
            <a:avLst/>
          </a:prstGeom>
        </p:spPr>
        <p:txBody>
          <a:bodyPr/>
          <a:lstStyle/>
          <a:p>
            <a:r>
              <a:t>시간 27–31. Clairveil Local 구성도다. runner가 임시 localnet과 prover를 실행하고, 하나의 treasury note를 세 output으로 전이한 뒤 세 viewing key로 scan한다. Maroo OKRW, PCL, VK와 proof 포맷 호환은 증명하지 않는다.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6" name="Shape 416"/>
          <p:cNvSpPr>
            <a:spLocks noGrp="1" noRot="1" noChangeAspect="1"/>
          </p:cNvSpPr>
          <p:nvPr>
            <p:ph type="sldImg"/>
          </p:nvPr>
        </p:nvSpPr>
        <p:spPr>
          <a:xfrm>
            <a:off x="381000" y="685800"/>
            <a:ext cx="6096000" cy="3429000"/>
          </a:xfrm>
          <a:prstGeom prst="rect">
            <a:avLst/>
          </a:prstGeom>
        </p:spPr>
        <p:txBody>
          <a:bodyPr/>
          <a:lstStyle/>
          <a:p>
            <a:endParaRPr/>
          </a:p>
        </p:txBody>
      </p:sp>
      <p:sp>
        <p:nvSpPr>
          <p:cNvPr id="417" name="Shape 417"/>
          <p:cNvSpPr>
            <a:spLocks noGrp="1"/>
          </p:cNvSpPr>
          <p:nvPr>
            <p:ph type="body" sz="quarter" idx="1"/>
          </p:nvPr>
        </p:nvSpPr>
        <p:spPr>
          <a:prstGeom prst="rect">
            <a:avLst/>
          </a:prstGeom>
        </p:spPr>
        <p:txBody>
          <a:bodyPr/>
          <a:lstStyle/>
          <a:p>
            <a:r>
              <a:t>시간 27–44. 성공 문구는 CLAIRVEIL LOCAL PAYROLL AND FAILURE CONTROLS VERIFIED. 실패 분석이 필요할 때만 --keep-on-failure를 사용한다.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Shape 424"/>
          <p:cNvSpPr>
            <a:spLocks noGrp="1" noRot="1" noChangeAspect="1"/>
          </p:cNvSpPr>
          <p:nvPr>
            <p:ph type="sldImg"/>
          </p:nvPr>
        </p:nvSpPr>
        <p:spPr>
          <a:xfrm>
            <a:off x="381000" y="685800"/>
            <a:ext cx="6096000" cy="3429000"/>
          </a:xfrm>
          <a:prstGeom prst="rect">
            <a:avLst/>
          </a:prstGeom>
        </p:spPr>
        <p:txBody>
          <a:bodyPr/>
          <a:lstStyle/>
          <a:p>
            <a:endParaRPr/>
          </a:p>
        </p:txBody>
      </p:sp>
      <p:sp>
        <p:nvSpPr>
          <p:cNvPr id="425" name="Shape 425"/>
          <p:cNvSpPr>
            <a:spLocks noGrp="1"/>
          </p:cNvSpPr>
          <p:nvPr>
            <p:ph type="body" sz="quarter" idx="1"/>
          </p:nvPr>
        </p:nvSpPr>
        <p:spPr>
          <a:prstGeom prst="rect">
            <a:avLst/>
          </a:prstGeom>
        </p:spPr>
        <p:txBody>
          <a:bodyPr/>
          <a:lstStyle/>
          <a:p>
            <a:r>
              <a:t>evidence/local/payroll-summary.json의 transactions와 employeeScans를 확인한다. Success criteria O2와 O3. 세 직원 profile이 고유하고 합계가 300인지 함께 대사한다.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2" name="Shape 462"/>
          <p:cNvSpPr>
            <a:spLocks noGrp="1" noRot="1" noChangeAspect="1"/>
          </p:cNvSpPr>
          <p:nvPr>
            <p:ph type="sldImg"/>
          </p:nvPr>
        </p:nvSpPr>
        <p:spPr>
          <a:prstGeom prst="rect">
            <a:avLst/>
          </a:prstGeom>
        </p:spPr>
        <p:txBody>
          <a:bodyPr/>
          <a:lstStyle/>
          <a:p>
            <a:endParaRPr/>
          </a:p>
        </p:txBody>
      </p:sp>
      <p:sp>
        <p:nvSpPr>
          <p:cNvPr id="463" name="Shape 463"/>
          <p:cNvSpPr>
            <a:spLocks noGrp="1"/>
          </p:cNvSpPr>
          <p:nvPr>
            <p:ph type="body" sz="quarter" idx="1"/>
          </p:nvPr>
        </p:nvSpPr>
        <p:spPr>
          <a:prstGeom prst="rect">
            <a:avLst/>
          </a:prstGeom>
        </p:spPr>
        <p:txBody>
          <a:bodyPr/>
          <a:lstStyle/>
          <a:p>
            <a:r>
              <a:t>시간 32–35. major state transition을 왼쪽부터 읽는다. deposit은 공개 OKRW를 treasury commitment로 바꾸고, transfer는 input nullifier를 소비하고 세 output commitment를 추가한다. 직원 note 평문은 viewing key로 scan한 주체만 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9" name="Shape 469"/>
          <p:cNvSpPr>
            <a:spLocks noGrp="1" noRot="1" noChangeAspect="1"/>
          </p:cNvSpPr>
          <p:nvPr>
            <p:ph type="sldImg"/>
          </p:nvPr>
        </p:nvSpPr>
        <p:spPr>
          <a:xfrm>
            <a:off x="381000" y="685800"/>
            <a:ext cx="6096000" cy="3429000"/>
          </a:xfrm>
          <a:prstGeom prst="rect">
            <a:avLst/>
          </a:prstGeom>
        </p:spPr>
        <p:txBody>
          <a:bodyPr/>
          <a:lstStyle/>
          <a:p>
            <a:endParaRPr/>
          </a:p>
        </p:txBody>
      </p:sp>
      <p:sp>
        <p:nvSpPr>
          <p:cNvPr id="470" name="Shape 470"/>
          <p:cNvSpPr>
            <a:spLocks noGrp="1"/>
          </p:cNvSpPr>
          <p:nvPr>
            <p:ph type="body" sz="quarter" idx="1"/>
          </p:nvPr>
        </p:nvSpPr>
        <p:spPr>
          <a:prstGeom prst="rect">
            <a:avLst/>
          </a:prstGeom>
        </p:spPr>
        <p:txBody>
          <a:bodyPr/>
          <a:lstStyle/>
          <a:p>
            <a:r>
              <a:t>토론 질문: 공개 이벤트만으로 누가 얼마를 받았는가를 확인할 수 있는가? 정답은 아니다. Local evidence의 observationComparison과 직원별 scan을 함께 확인한다.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 name="Shape 502"/>
          <p:cNvSpPr>
            <a:spLocks noGrp="1" noRot="1" noChangeAspect="1"/>
          </p:cNvSpPr>
          <p:nvPr>
            <p:ph type="sldImg"/>
          </p:nvPr>
        </p:nvSpPr>
        <p:spPr>
          <a:prstGeom prst="rect">
            <a:avLst/>
          </a:prstGeom>
        </p:spPr>
        <p:txBody>
          <a:bodyPr/>
          <a:lstStyle/>
          <a:p>
            <a:endParaRPr/>
          </a:p>
        </p:txBody>
      </p:sp>
      <p:sp>
        <p:nvSpPr>
          <p:cNvPr id="503" name="Shape 503"/>
          <p:cNvSpPr>
            <a:spLocks noGrp="1"/>
          </p:cNvSpPr>
          <p:nvPr>
            <p:ph type="body" sz="quarter" idx="1"/>
          </p:nvPr>
        </p:nvSpPr>
        <p:spPr>
          <a:prstGeom prst="rect">
            <a:avLst/>
          </a:prstGeom>
        </p:spPr>
        <p:txBody>
          <a:bodyPr/>
          <a:lstStyle/>
          <a:p>
            <a:r>
              <a:t>시간 35–39. failureControls.overspend에서 rejectedAt, broadcastAttempted=false, treasuryStateUnchanged=true를 확인한다. 이 실패는 Clairveil Local의 PCL 거부가 아니다. 위조된 overspend proof가 제출되면 Privacy 검증이 거부해야 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 name="Shape 549"/>
          <p:cNvSpPr>
            <a:spLocks noGrp="1" noRot="1" noChangeAspect="1"/>
          </p:cNvSpPr>
          <p:nvPr>
            <p:ph type="sldImg"/>
          </p:nvPr>
        </p:nvSpPr>
        <p:spPr>
          <a:prstGeom prst="rect">
            <a:avLst/>
          </a:prstGeom>
        </p:spPr>
        <p:txBody>
          <a:bodyPr/>
          <a:lstStyle/>
          <a:p>
            <a:endParaRPr/>
          </a:p>
        </p:txBody>
      </p:sp>
      <p:sp>
        <p:nvSpPr>
          <p:cNvPr id="550" name="Shape 550"/>
          <p:cNvSpPr>
            <a:spLocks noGrp="1"/>
          </p:cNvSpPr>
          <p:nvPr>
            <p:ph type="body" sz="quarter" idx="1"/>
          </p:nvPr>
        </p:nvSpPr>
        <p:spPr>
          <a:prstGeom prst="rect">
            <a:avLst/>
          </a:prstGeom>
        </p:spPr>
        <p:txBody>
          <a:bodyPr/>
          <a:lstStyle/>
          <a:p>
            <a:r>
              <a:t>시간 39–44. 유효한 다른 직원 주소는 proof와 가치 보존 조건을 만족할 수 있다. failureControls.wrongRecipient의 같은 tx hash 기준으로 EMP-B와 EMP-C scan delta를 비교한다. EMP-C도 정책상 적격 직원이라면 별도 recipient policy와 plan binding 없이 PCL이 자동 거부할 근거가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5" name="Shape 585"/>
          <p:cNvSpPr>
            <a:spLocks noGrp="1" noRot="1" noChangeAspect="1"/>
          </p:cNvSpPr>
          <p:nvPr>
            <p:ph type="sldImg"/>
          </p:nvPr>
        </p:nvSpPr>
        <p:spPr>
          <a:prstGeom prst="rect">
            <a:avLst/>
          </a:prstGeom>
        </p:spPr>
        <p:txBody>
          <a:bodyPr/>
          <a:lstStyle/>
          <a:p>
            <a:endParaRPr/>
          </a:p>
        </p:txBody>
      </p:sp>
      <p:sp>
        <p:nvSpPr>
          <p:cNvPr id="586" name="Shape 586"/>
          <p:cNvSpPr>
            <a:spLocks noGrp="1"/>
          </p:cNvSpPr>
          <p:nvPr>
            <p:ph type="body" sz="quarter" idx="1"/>
          </p:nvPr>
        </p:nvSpPr>
        <p:spPr>
          <a:prstGeom prst="rect">
            <a:avLst/>
          </a:prstGeom>
        </p:spPr>
        <p:txBody>
          <a:bodyPr/>
          <a:lstStyle/>
          <a:p>
            <a:r>
              <a:t>시간 44–52. 오지급 방지 설계다. pre-broadcast, on-chain, post-receipt의 세 운영 경계를 구분한다. offline rehearsal의 wrong profileRef 거부는 metadata guard이며 암호화 output의 독립 검증은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Shape 595"/>
          <p:cNvSpPr>
            <a:spLocks noGrp="1" noRot="1" noChangeAspect="1"/>
          </p:cNvSpPr>
          <p:nvPr>
            <p:ph type="sldImg"/>
          </p:nvPr>
        </p:nvSpPr>
        <p:spPr>
          <a:xfrm>
            <a:off x="381000" y="685800"/>
            <a:ext cx="6096000" cy="3429000"/>
          </a:xfrm>
          <a:prstGeom prst="rect">
            <a:avLst/>
          </a:prstGeom>
        </p:spPr>
        <p:txBody>
          <a:bodyPr/>
          <a:lstStyle/>
          <a:p>
            <a:endParaRPr/>
          </a:p>
        </p:txBody>
      </p:sp>
      <p:sp>
        <p:nvSpPr>
          <p:cNvPr id="596" name="Shape 596"/>
          <p:cNvSpPr>
            <a:spLocks noGrp="1"/>
          </p:cNvSpPr>
          <p:nvPr>
            <p:ph type="body" sz="quarter" idx="1"/>
          </p:nvPr>
        </p:nvSpPr>
        <p:spPr>
          <a:prstGeom prst="rect">
            <a:avLst/>
          </a:prstGeom>
        </p:spPr>
        <p:txBody>
          <a:bodyPr/>
          <a:lstStyle/>
          <a:p>
            <a:r>
              <a:t>진행자가 Path A readiness gate를 충족한 경우에만 Path A를 선택한다. 하나라도 빠지면 Path B다. 자동 Local fallback은 없다.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3" name="Shape 603"/>
          <p:cNvSpPr>
            <a:spLocks noGrp="1" noRot="1" noChangeAspect="1"/>
          </p:cNvSpPr>
          <p:nvPr>
            <p:ph type="sldImg"/>
          </p:nvPr>
        </p:nvSpPr>
        <p:spPr>
          <a:xfrm>
            <a:off x="381000" y="685800"/>
            <a:ext cx="6096000" cy="3429000"/>
          </a:xfrm>
          <a:prstGeom prst="rect">
            <a:avLst/>
          </a:prstGeom>
        </p:spPr>
        <p:txBody>
          <a:bodyPr/>
          <a:lstStyle/>
          <a:p>
            <a:endParaRPr/>
          </a:p>
        </p:txBody>
      </p:sp>
      <p:sp>
        <p:nvSpPr>
          <p:cNvPr id="604" name="Shape 604"/>
          <p:cNvSpPr>
            <a:spLocks noGrp="1"/>
          </p:cNvSpPr>
          <p:nvPr>
            <p:ph type="body" sz="quarter" idx="1"/>
          </p:nvPr>
        </p:nvSpPr>
        <p:spPr>
          <a:prstGeom prst="rect">
            <a:avLst/>
          </a:prstGeom>
        </p:spPr>
        <p:txBody>
          <a:bodyPr/>
          <a:lstStyle/>
          <a:p>
            <a:r>
              <a:t>시간 52–63. 이 명령은 실제 testnet transaction을 제출한다. 재실행 전 테스트넷 자산과 회사 계정을 다시 확인한다. 제출 영상에서는 기존 증거를 보여주는 것으로 충분하다.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Shape 610"/>
          <p:cNvSpPr>
            <a:spLocks noGrp="1" noRot="1" noChangeAspect="1"/>
          </p:cNvSpPr>
          <p:nvPr>
            <p:ph type="sldImg"/>
          </p:nvPr>
        </p:nvSpPr>
        <p:spPr>
          <a:xfrm>
            <a:off x="381000" y="685800"/>
            <a:ext cx="6096000" cy="3429000"/>
          </a:xfrm>
          <a:prstGeom prst="rect">
            <a:avLst/>
          </a:prstGeom>
        </p:spPr>
        <p:txBody>
          <a:bodyPr/>
          <a:lstStyle/>
          <a:p>
            <a:endParaRPr/>
          </a:p>
        </p:txBody>
      </p:sp>
      <p:sp>
        <p:nvSpPr>
          <p:cNvPr id="611" name="Shape 611"/>
          <p:cNvSpPr>
            <a:spLocks noGrp="1"/>
          </p:cNvSpPr>
          <p:nvPr>
            <p:ph type="body" sz="quarter" idx="1"/>
          </p:nvPr>
        </p:nvSpPr>
        <p:spPr>
          <a:prstGeom prst="rect">
            <a:avLst/>
          </a:prstGeom>
        </p:spPr>
        <p:txBody>
          <a:bodyPr/>
          <a:lstStyle/>
          <a:p>
            <a:r>
              <a:t>evidence/live-testnet/state-change-attempt.json과 explorer를 연다. deposit tx 0xaa3646…2c939, transfer tx 0x3d3d6b…fb622. status 0, target 0x100…000b, selector를 확인한다. 실패 원인을 과장하지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7" name="Shape 617"/>
          <p:cNvSpPr>
            <a:spLocks noGrp="1" noRot="1" noChangeAspect="1"/>
          </p:cNvSpPr>
          <p:nvPr>
            <p:ph type="sldImg"/>
          </p:nvPr>
        </p:nvSpPr>
        <p:spPr>
          <a:xfrm>
            <a:off x="381000" y="685800"/>
            <a:ext cx="6096000" cy="3429000"/>
          </a:xfrm>
          <a:prstGeom prst="rect">
            <a:avLst/>
          </a:prstGeom>
        </p:spPr>
        <p:txBody>
          <a:bodyPr/>
          <a:lstStyle/>
          <a:p>
            <a:endParaRPr/>
          </a:p>
        </p:txBody>
      </p:sp>
      <p:sp>
        <p:nvSpPr>
          <p:cNvPr id="618" name="Shape 618"/>
          <p:cNvSpPr>
            <a:spLocks noGrp="1"/>
          </p:cNvSpPr>
          <p:nvPr>
            <p:ph type="body" sz="quarter" idx="1"/>
          </p:nvPr>
        </p:nvSpPr>
        <p:spPr>
          <a:prstGeom prst="rect">
            <a:avLst/>
          </a:prstGeom>
        </p:spPr>
        <p:txBody>
          <a:bodyPr/>
          <a:lstStyle/>
          <a:p>
            <a:r>
              <a:t>시간 63–69. 오류 문자열보다 첫 실패 계층을 찾는다. 모든 revert를 PCL 거부라고 부르지 않는다. receipt 성공도 직원 수령과 업무 정확성을 자동 보장하지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Shape 624"/>
          <p:cNvSpPr>
            <a:spLocks noGrp="1" noRot="1" noChangeAspect="1"/>
          </p:cNvSpPr>
          <p:nvPr>
            <p:ph type="sldImg"/>
          </p:nvPr>
        </p:nvSpPr>
        <p:spPr>
          <a:xfrm>
            <a:off x="381000" y="685800"/>
            <a:ext cx="6096000" cy="3429000"/>
          </a:xfrm>
          <a:prstGeom prst="rect">
            <a:avLst/>
          </a:prstGeom>
        </p:spPr>
        <p:txBody>
          <a:bodyPr/>
          <a:lstStyle/>
          <a:p>
            <a:endParaRPr/>
          </a:p>
        </p:txBody>
      </p:sp>
      <p:sp>
        <p:nvSpPr>
          <p:cNvPr id="625" name="Shape 625"/>
          <p:cNvSpPr>
            <a:spLocks noGrp="1"/>
          </p:cNvSpPr>
          <p:nvPr>
            <p:ph type="body" sz="quarter" idx="1"/>
          </p:nvPr>
        </p:nvSpPr>
        <p:spPr>
          <a:prstGeom prst="rect">
            <a:avLst/>
          </a:prstGeom>
        </p:spPr>
        <p:txBody>
          <a:bodyPr/>
          <a:lstStyle/>
          <a:p>
            <a:r>
              <a:t>Path A의 full completion 기준이다. Path B 참가자는 deposit과 transfer를 거부 또는 미검증으로 기록한다. Clairveil scan은 별도 Local 열에 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1" name="Shape 631"/>
          <p:cNvSpPr>
            <a:spLocks noGrp="1" noRot="1" noChangeAspect="1"/>
          </p:cNvSpPr>
          <p:nvPr>
            <p:ph type="sldImg"/>
          </p:nvPr>
        </p:nvSpPr>
        <p:spPr>
          <a:xfrm>
            <a:off x="381000" y="685800"/>
            <a:ext cx="6096000" cy="3429000"/>
          </a:xfrm>
          <a:prstGeom prst="rect">
            <a:avLst/>
          </a:prstGeom>
        </p:spPr>
        <p:txBody>
          <a:bodyPr/>
          <a:lstStyle/>
          <a:p>
            <a:endParaRPr/>
          </a:p>
        </p:txBody>
      </p:sp>
      <p:sp>
        <p:nvSpPr>
          <p:cNvPr id="632" name="Shape 632"/>
          <p:cNvSpPr>
            <a:spLocks noGrp="1"/>
          </p:cNvSpPr>
          <p:nvPr>
            <p:ph type="body" sz="quarter" idx="1"/>
          </p:nvPr>
        </p:nvSpPr>
        <p:spPr>
          <a:prstGeom prst="rect">
            <a:avLst/>
          </a:prstGeom>
        </p:spPr>
        <p:txBody>
          <a:bodyPr/>
          <a:lstStyle/>
          <a:p>
            <a:r>
              <a:t>시간 69–75. workshop/exit-ticket.md를 작성한다. 결과가 실패여도 정확한 계층과 재현 증거를 적으면 학습 목표를 달성한 것이다.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Shape 638"/>
          <p:cNvSpPr>
            <a:spLocks noGrp="1" noRot="1" noChangeAspect="1"/>
          </p:cNvSpPr>
          <p:nvPr>
            <p:ph type="sldImg"/>
          </p:nvPr>
        </p:nvSpPr>
        <p:spPr>
          <a:xfrm>
            <a:off x="381000" y="685800"/>
            <a:ext cx="6096000" cy="3429000"/>
          </a:xfrm>
          <a:prstGeom prst="rect">
            <a:avLst/>
          </a:prstGeom>
        </p:spPr>
        <p:txBody>
          <a:bodyPr/>
          <a:lstStyle/>
          <a:p>
            <a:endParaRPr/>
          </a:p>
        </p:txBody>
      </p:sp>
      <p:sp>
        <p:nvSpPr>
          <p:cNvPr id="639" name="Shape 639"/>
          <p:cNvSpPr>
            <a:spLocks noGrp="1"/>
          </p:cNvSpPr>
          <p:nvPr>
            <p:ph type="body" sz="quarter" idx="1"/>
          </p:nvPr>
        </p:nvSpPr>
        <p:spPr>
          <a:prstGeom prst="rect">
            <a:avLst/>
          </a:prstGeom>
        </p:spPr>
        <p:txBody>
          <a:bodyPr/>
          <a:lstStyle/>
          <a:p>
            <a:r>
              <a:t>시간 69–75. 1주에는 owner와 호환성 blocker를 확정한다. 4주에는 합성 직원으로 Maroo Testnet success run 또는 blocker report를 만든다. 8주에는 custody, policy change, monitoring과 운영 절차를 검토한다. 법률 적합성 보증과 대규모 성능 검증은 이번 워크숍 범위 밖이다.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6" name="Shape 646"/>
          <p:cNvSpPr>
            <a:spLocks noGrp="1" noRot="1" noChangeAspect="1"/>
          </p:cNvSpPr>
          <p:nvPr>
            <p:ph type="sldImg"/>
          </p:nvPr>
        </p:nvSpPr>
        <p:spPr>
          <a:xfrm>
            <a:off x="381000" y="685800"/>
            <a:ext cx="6096000" cy="3429000"/>
          </a:xfrm>
          <a:prstGeom prst="rect">
            <a:avLst/>
          </a:prstGeom>
        </p:spPr>
        <p:txBody>
          <a:bodyPr/>
          <a:lstStyle/>
          <a:p>
            <a:endParaRPr/>
          </a:p>
        </p:txBody>
      </p:sp>
      <p:sp>
        <p:nvSpPr>
          <p:cNvPr id="647" name="Shape 647"/>
          <p:cNvSpPr>
            <a:spLocks noGrp="1"/>
          </p:cNvSpPr>
          <p:nvPr>
            <p:ph type="body" sz="quarter" idx="1"/>
          </p:nvPr>
        </p:nvSpPr>
        <p:spPr>
          <a:prstGeom prst="rect">
            <a:avLst/>
          </a:prstGeom>
        </p:spPr>
        <p:txBody>
          <a:bodyPr/>
          <a:lstStyle/>
          <a:p>
            <a:r>
              <a:t>마무리 토론. 참가자가 PCL, Privacy, application/prover, scanner/auditor의 책임을 한 문장씩 설명하게 한다. workshop/exit-ticket.md 제출로 종료한다.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제목">
    <p:spTree>
      <p:nvGrpSpPr>
        <p:cNvPr id="1" name=""/>
        <p:cNvGrpSpPr/>
        <p:nvPr/>
      </p:nvGrpSpPr>
      <p:grpSpPr>
        <a:xfrm>
          <a:off x="0" y="0"/>
          <a:ext cx="0" cy="0"/>
          <a:chOff x="0" y="0"/>
          <a:chExt cx="0" cy="0"/>
        </a:xfrm>
      </p:grpSpPr>
      <p:sp>
        <p:nvSpPr>
          <p:cNvPr id="11" name="저자 및 날짜"/>
          <p:cNvSpPr txBox="1">
            <a:spLocks noGrp="1"/>
          </p:cNvSpPr>
          <p:nvPr>
            <p:ph type="body" sz="quarter" idx="21" hasCustomPrompt="1"/>
          </p:nvPr>
        </p:nvSpPr>
        <p:spPr>
          <a:xfrm>
            <a:off x="1206498" y="11839048"/>
            <a:ext cx="21971003" cy="636979"/>
          </a:xfrm>
          <a:prstGeom prst="rect">
            <a:avLst/>
          </a:prstGeom>
        </p:spPr>
        <p:txBody>
          <a:bodyPr lIns="45719" tIns="45719" rIns="45719" bIns="45719" anchor="b"/>
          <a:lstStyle>
            <a:lvl1pPr marL="0" indent="0" defTabSz="784225">
              <a:lnSpc>
                <a:spcPct val="100000"/>
              </a:lnSpc>
              <a:spcBef>
                <a:spcPts val="0"/>
              </a:spcBef>
              <a:buSzTx/>
              <a:buNone/>
              <a:defRPr sz="3420" b="1"/>
            </a:lvl1pPr>
          </a:lstStyle>
          <a:p>
            <a:r>
              <a:t>저자 및 날짜</a:t>
            </a:r>
          </a:p>
        </p:txBody>
      </p:sp>
      <p:sp>
        <p:nvSpPr>
          <p:cNvPr id="12" name="프레젠테이션 제목"/>
          <p:cNvSpPr txBox="1">
            <a:spLocks noGrp="1"/>
          </p:cNvSpPr>
          <p:nvPr>
            <p:ph type="title" hasCustomPrompt="1"/>
          </p:nvPr>
        </p:nvSpPr>
        <p:spPr>
          <a:xfrm>
            <a:off x="1206496" y="2574991"/>
            <a:ext cx="21971004" cy="4648201"/>
          </a:xfrm>
          <a:prstGeom prst="rect">
            <a:avLst/>
          </a:prstGeom>
        </p:spPr>
        <p:txBody>
          <a:bodyPr anchor="b"/>
          <a:lstStyle>
            <a:lvl1pPr>
              <a:defRPr sz="11600" spc="-232"/>
            </a:lvl1pPr>
          </a:lstStyle>
          <a:p>
            <a:r>
              <a:t>프레젠테이션 제목</a:t>
            </a:r>
          </a:p>
        </p:txBody>
      </p:sp>
      <p:sp>
        <p:nvSpPr>
          <p:cNvPr id="13" name="본문 첫 번째 줄…"/>
          <p:cNvSpPr txBox="1">
            <a:spLocks noGrp="1"/>
          </p:cNvSpPr>
          <p:nvPr>
            <p:ph type="body" sz="quarter" idx="1" hasCustomPrompt="1"/>
          </p:nvPr>
        </p:nvSpPr>
        <p:spPr>
          <a:xfrm>
            <a:off x="1206500" y="7196865"/>
            <a:ext cx="21971000" cy="1905001"/>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t>프레젠테이션 부제</a:t>
            </a:r>
          </a:p>
          <a:p>
            <a:pPr lvl="1"/>
            <a:endParaRPr/>
          </a:p>
          <a:p>
            <a:pPr lvl="2"/>
            <a:endParaRPr/>
          </a:p>
          <a:p>
            <a:pPr lvl="3"/>
            <a:endParaRPr/>
          </a:p>
          <a:p>
            <a:pPr lvl="4"/>
            <a:endParaRPr/>
          </a:p>
        </p:txBody>
      </p:sp>
      <p:sp>
        <p:nvSpPr>
          <p:cNvPr id="14" name="슬라이드 번호"/>
          <p:cNvSpPr txBox="1">
            <a:spLocks noGrp="1"/>
          </p:cNvSpPr>
          <p:nvPr>
            <p:ph type="sldNum" sz="quarter" idx="2"/>
          </p:nvPr>
        </p:nvSpPr>
        <p:spPr>
          <a:xfrm>
            <a:off x="12007748" y="13080999"/>
            <a:ext cx="368504" cy="374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제목 및 사진">
    <p:spTree>
      <p:nvGrpSpPr>
        <p:cNvPr id="1" name=""/>
        <p:cNvGrpSpPr/>
        <p:nvPr/>
      </p:nvGrpSpPr>
      <p:grpSpPr>
        <a:xfrm>
          <a:off x="0" y="0"/>
          <a:ext cx="0" cy="0"/>
          <a:chOff x="0" y="0"/>
          <a:chExt cx="0" cy="0"/>
        </a:xfrm>
      </p:grpSpPr>
      <p:sp>
        <p:nvSpPr>
          <p:cNvPr id="21" name="푸른 언덕 풍경"/>
          <p:cNvSpPr>
            <a:spLocks noGrp="1"/>
          </p:cNvSpPr>
          <p:nvPr>
            <p:ph type="pic" idx="21"/>
          </p:nvPr>
        </p:nvSpPr>
        <p:spPr>
          <a:xfrm>
            <a:off x="-431800" y="-4038600"/>
            <a:ext cx="29464000" cy="18034000"/>
          </a:xfrm>
          <a:prstGeom prst="rect">
            <a:avLst/>
          </a:prstGeom>
        </p:spPr>
        <p:txBody>
          <a:bodyPr lIns="91439" tIns="45719" rIns="91439" bIns="45719">
            <a:noAutofit/>
          </a:bodyPr>
          <a:lstStyle/>
          <a:p>
            <a:endParaRPr/>
          </a:p>
        </p:txBody>
      </p:sp>
      <p:sp>
        <p:nvSpPr>
          <p:cNvPr id="22" name="프레젠테이션 제목"/>
          <p:cNvSpPr txBox="1">
            <a:spLocks noGrp="1"/>
          </p:cNvSpPr>
          <p:nvPr>
            <p:ph type="title" hasCustomPrompt="1"/>
          </p:nvPr>
        </p:nvSpPr>
        <p:spPr>
          <a:xfrm>
            <a:off x="1206500" y="7124700"/>
            <a:ext cx="21971000" cy="4648200"/>
          </a:xfrm>
          <a:prstGeom prst="rect">
            <a:avLst/>
          </a:prstGeom>
        </p:spPr>
        <p:txBody>
          <a:bodyPr anchor="b"/>
          <a:lstStyle>
            <a:lvl1pPr>
              <a:defRPr sz="11600" spc="-232"/>
            </a:lvl1pPr>
          </a:lstStyle>
          <a:p>
            <a:r>
              <a:t>프레젠테이션 제목</a:t>
            </a:r>
          </a:p>
        </p:txBody>
      </p:sp>
      <p:sp>
        <p:nvSpPr>
          <p:cNvPr id="23" name="저자 및 날짜"/>
          <p:cNvSpPr txBox="1">
            <a:spLocks noGrp="1"/>
          </p:cNvSpPr>
          <p:nvPr>
            <p:ph type="body" sz="quarter" idx="22" hasCustomPrompt="1"/>
          </p:nvPr>
        </p:nvSpPr>
        <p:spPr>
          <a:xfrm>
            <a:off x="1207690" y="1106137"/>
            <a:ext cx="21968621" cy="636979"/>
          </a:xfrm>
          <a:prstGeom prst="rect">
            <a:avLst/>
          </a:prstGeom>
        </p:spPr>
        <p:txBody>
          <a:bodyPr lIns="45719" tIns="45719" rIns="45719" bIns="45719"/>
          <a:lstStyle>
            <a:lvl1pPr marL="0" indent="0" defTabSz="784225">
              <a:lnSpc>
                <a:spcPct val="100000"/>
              </a:lnSpc>
              <a:spcBef>
                <a:spcPts val="0"/>
              </a:spcBef>
              <a:buSzTx/>
              <a:buNone/>
              <a:defRPr sz="3420" b="1"/>
            </a:lvl1pPr>
          </a:lstStyle>
          <a:p>
            <a:r>
              <a:t>저자 및 날짜</a:t>
            </a:r>
          </a:p>
        </p:txBody>
      </p:sp>
      <p:sp>
        <p:nvSpPr>
          <p:cNvPr id="24" name="본문 첫 번째 줄…"/>
          <p:cNvSpPr txBox="1">
            <a:spLocks noGrp="1"/>
          </p:cNvSpPr>
          <p:nvPr>
            <p:ph type="body" sz="quarter" idx="1" hasCustomPrompt="1"/>
          </p:nvPr>
        </p:nvSpPr>
        <p:spPr>
          <a:xfrm>
            <a:off x="1206500" y="11609910"/>
            <a:ext cx="21971000" cy="1144688"/>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t>프레젠테이션 부제 </a:t>
            </a:r>
          </a:p>
          <a:p>
            <a:pPr lvl="1"/>
            <a:endParaRPr/>
          </a:p>
          <a:p>
            <a:pPr lvl="2"/>
            <a:endParaRPr/>
          </a:p>
          <a:p>
            <a:pPr lvl="3"/>
            <a:endParaRPr/>
          </a:p>
          <a:p>
            <a:pPr lvl="4"/>
            <a:endParaRPr/>
          </a:p>
        </p:txBody>
      </p:sp>
      <p:sp>
        <p:nvSpPr>
          <p:cNvPr id="25"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제목 및 사진 대체">
    <p:spTree>
      <p:nvGrpSpPr>
        <p:cNvPr id="1" name=""/>
        <p:cNvGrpSpPr/>
        <p:nvPr/>
      </p:nvGrpSpPr>
      <p:grpSpPr>
        <a:xfrm>
          <a:off x="0" y="0"/>
          <a:ext cx="0" cy="0"/>
          <a:chOff x="0" y="0"/>
          <a:chExt cx="0" cy="0"/>
        </a:xfrm>
      </p:grpSpPr>
      <p:sp>
        <p:nvSpPr>
          <p:cNvPr id="32" name="슬라이드 제목"/>
          <p:cNvSpPr txBox="1">
            <a:spLocks noGrp="1"/>
          </p:cNvSpPr>
          <p:nvPr>
            <p:ph type="title" hasCustomPrompt="1"/>
          </p:nvPr>
        </p:nvSpPr>
        <p:spPr>
          <a:xfrm>
            <a:off x="1206500" y="1270000"/>
            <a:ext cx="9779000" cy="5882273"/>
          </a:xfrm>
          <a:prstGeom prst="rect">
            <a:avLst/>
          </a:prstGeom>
        </p:spPr>
        <p:txBody>
          <a:bodyPr anchor="b"/>
          <a:lstStyle/>
          <a:p>
            <a:r>
              <a:t>슬라이드 제목</a:t>
            </a:r>
          </a:p>
        </p:txBody>
      </p:sp>
      <p:sp>
        <p:nvSpPr>
          <p:cNvPr id="33" name="본문 첫 번째 줄…"/>
          <p:cNvSpPr txBox="1">
            <a:spLocks noGrp="1"/>
          </p:cNvSpPr>
          <p:nvPr>
            <p:ph type="body" sz="quarter" idx="1" hasCustomPrompt="1"/>
          </p:nvPr>
        </p:nvSpPr>
        <p:spPr>
          <a:xfrm>
            <a:off x="1206500" y="7060576"/>
            <a:ext cx="9779000" cy="5382403"/>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t>슬라이드 부제</a:t>
            </a:r>
          </a:p>
          <a:p>
            <a:pPr lvl="1"/>
            <a:endParaRPr/>
          </a:p>
          <a:p>
            <a:pPr lvl="2"/>
            <a:endParaRPr/>
          </a:p>
          <a:p>
            <a:pPr lvl="3"/>
            <a:endParaRPr/>
          </a:p>
          <a:p>
            <a:pPr lvl="4"/>
            <a:endParaRPr/>
          </a:p>
        </p:txBody>
      </p:sp>
      <p:sp>
        <p:nvSpPr>
          <p:cNvPr id="34" name="이끼에 덮인 돌"/>
          <p:cNvSpPr>
            <a:spLocks noGrp="1"/>
          </p:cNvSpPr>
          <p:nvPr>
            <p:ph type="pic" sz="half" idx="21"/>
          </p:nvPr>
        </p:nvSpPr>
        <p:spPr>
          <a:xfrm>
            <a:off x="12052303" y="1270000"/>
            <a:ext cx="11188406" cy="11209889"/>
          </a:xfrm>
          <a:prstGeom prst="rect">
            <a:avLst/>
          </a:prstGeom>
        </p:spPr>
        <p:txBody>
          <a:bodyPr lIns="91439" tIns="45719" rIns="91439" bIns="45719">
            <a:noAutofit/>
          </a:bodyPr>
          <a:lstStyle/>
          <a:p>
            <a:endParaRPr/>
          </a:p>
        </p:txBody>
      </p:sp>
      <p:sp>
        <p:nvSpPr>
          <p:cNvPr id="35" name="슬라이드 번호"/>
          <p:cNvSpPr txBox="1">
            <a:spLocks noGrp="1"/>
          </p:cNvSpPr>
          <p:nvPr>
            <p:ph type="sldNum" sz="quarter" idx="2"/>
          </p:nvPr>
        </p:nvSpPr>
        <p:spPr>
          <a:xfrm>
            <a:off x="12001499" y="13085233"/>
            <a:ext cx="368505" cy="374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제목 및 구분점">
    <p:spTree>
      <p:nvGrpSpPr>
        <p:cNvPr id="1" name=""/>
        <p:cNvGrpSpPr/>
        <p:nvPr/>
      </p:nvGrpSpPr>
      <p:grpSpPr>
        <a:xfrm>
          <a:off x="0" y="0"/>
          <a:ext cx="0" cy="0"/>
          <a:chOff x="0" y="0"/>
          <a:chExt cx="0" cy="0"/>
        </a:xfrm>
      </p:grpSpPr>
      <p:sp>
        <p:nvSpPr>
          <p:cNvPr id="42" name="슬라이드 제목"/>
          <p:cNvSpPr txBox="1">
            <a:spLocks noGrp="1"/>
          </p:cNvSpPr>
          <p:nvPr>
            <p:ph type="title" hasCustomPrompt="1"/>
          </p:nvPr>
        </p:nvSpPr>
        <p:spPr>
          <a:prstGeom prst="rect">
            <a:avLst/>
          </a:prstGeom>
        </p:spPr>
        <p:txBody>
          <a:bodyPr/>
          <a:lstStyle/>
          <a:p>
            <a:r>
              <a:t>슬라이드 제목</a:t>
            </a:r>
          </a:p>
        </p:txBody>
      </p:sp>
      <p:sp>
        <p:nvSpPr>
          <p:cNvPr id="43" name="슬라이드 부제"/>
          <p:cNvSpPr txBox="1">
            <a:spLocks noGrp="1"/>
          </p:cNvSpPr>
          <p:nvPr>
            <p:ph type="body" sz="quarter" idx="21" hasCustomPrompt="1"/>
          </p:nvPr>
        </p:nvSpPr>
        <p:spPr>
          <a:xfrm>
            <a:off x="1206500" y="2245962"/>
            <a:ext cx="21971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슬라이드 부제</a:t>
            </a:r>
          </a:p>
        </p:txBody>
      </p:sp>
      <p:sp>
        <p:nvSpPr>
          <p:cNvPr id="44" name="본문 첫 번째 줄…"/>
          <p:cNvSpPr txBox="1">
            <a:spLocks noGrp="1"/>
          </p:cNvSpPr>
          <p:nvPr>
            <p:ph type="body" idx="1" hasCustomPrompt="1"/>
          </p:nvPr>
        </p:nvSpPr>
        <p:spPr>
          <a:prstGeom prst="rect">
            <a:avLst/>
          </a:prstGeom>
        </p:spPr>
        <p:txBody>
          <a:bodyPr/>
          <a:lstStyle/>
          <a:p>
            <a:r>
              <a:t>슬라이드 구분점 텍스트</a:t>
            </a:r>
          </a:p>
          <a:p>
            <a:pPr lvl="1"/>
            <a:endParaRPr/>
          </a:p>
          <a:p>
            <a:pPr lvl="2"/>
            <a:endParaRPr/>
          </a:p>
          <a:p>
            <a:pPr lvl="3"/>
            <a:endParaRPr/>
          </a:p>
          <a:p>
            <a:pPr lvl="4"/>
            <a:endParaRPr/>
          </a:p>
        </p:txBody>
      </p:sp>
      <p:sp>
        <p:nvSpPr>
          <p:cNvPr id="45"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구분점">
    <p:spTree>
      <p:nvGrpSpPr>
        <p:cNvPr id="1" name=""/>
        <p:cNvGrpSpPr/>
        <p:nvPr/>
      </p:nvGrpSpPr>
      <p:grpSpPr>
        <a:xfrm>
          <a:off x="0" y="0"/>
          <a:ext cx="0" cy="0"/>
          <a:chOff x="0" y="0"/>
          <a:chExt cx="0" cy="0"/>
        </a:xfrm>
      </p:grpSpPr>
      <p:sp>
        <p:nvSpPr>
          <p:cNvPr id="52" name="본문 첫 번째 줄…"/>
          <p:cNvSpPr txBox="1">
            <a:spLocks noGrp="1"/>
          </p:cNvSpPr>
          <p:nvPr>
            <p:ph type="body" idx="1" hasCustomPrompt="1"/>
          </p:nvPr>
        </p:nvSpPr>
        <p:spPr>
          <a:prstGeom prst="rect">
            <a:avLst/>
          </a:prstGeom>
        </p:spPr>
        <p:txBody>
          <a:bodyPr numCol="2" spcCol="1098550"/>
          <a:lstStyle/>
          <a:p>
            <a:r>
              <a:t>슬라이드 구분점 텍스트</a:t>
            </a:r>
          </a:p>
          <a:p>
            <a:pPr lvl="1"/>
            <a:endParaRPr/>
          </a:p>
          <a:p>
            <a:pPr lvl="2"/>
            <a:endParaRPr/>
          </a:p>
          <a:p>
            <a:pPr lvl="3"/>
            <a:endParaRPr/>
          </a:p>
          <a:p>
            <a:pPr lvl="4"/>
            <a:endParaRPr/>
          </a:p>
        </p:txBody>
      </p:sp>
      <p:sp>
        <p:nvSpPr>
          <p:cNvPr id="53"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제목, 구분점 및 사진">
    <p:spTree>
      <p:nvGrpSpPr>
        <p:cNvPr id="1" name=""/>
        <p:cNvGrpSpPr/>
        <p:nvPr/>
      </p:nvGrpSpPr>
      <p:grpSpPr>
        <a:xfrm>
          <a:off x="0" y="0"/>
          <a:ext cx="0" cy="0"/>
          <a:chOff x="0" y="0"/>
          <a:chExt cx="0" cy="0"/>
        </a:xfrm>
      </p:grpSpPr>
      <p:sp>
        <p:nvSpPr>
          <p:cNvPr id="60" name="슬라이드 제목"/>
          <p:cNvSpPr txBox="1">
            <a:spLocks noGrp="1"/>
          </p:cNvSpPr>
          <p:nvPr>
            <p:ph type="title" hasCustomPrompt="1"/>
          </p:nvPr>
        </p:nvSpPr>
        <p:spPr>
          <a:xfrm>
            <a:off x="1206500" y="952500"/>
            <a:ext cx="9779000" cy="1435100"/>
          </a:xfrm>
          <a:prstGeom prst="rect">
            <a:avLst/>
          </a:prstGeom>
        </p:spPr>
        <p:txBody>
          <a:bodyPr/>
          <a:lstStyle/>
          <a:p>
            <a:r>
              <a:t>슬라이드 제목</a:t>
            </a:r>
          </a:p>
        </p:txBody>
      </p:sp>
      <p:sp>
        <p:nvSpPr>
          <p:cNvPr id="61" name="슬라이드 부제"/>
          <p:cNvSpPr txBox="1">
            <a:spLocks noGrp="1"/>
          </p:cNvSpPr>
          <p:nvPr>
            <p:ph type="body" sz="quarter" idx="21" hasCustomPrompt="1"/>
          </p:nvPr>
        </p:nvSpPr>
        <p:spPr>
          <a:xfrm>
            <a:off x="1206500" y="2245962"/>
            <a:ext cx="9779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슬라이드 부제</a:t>
            </a:r>
          </a:p>
        </p:txBody>
      </p:sp>
      <p:sp>
        <p:nvSpPr>
          <p:cNvPr id="62" name="본문 첫 번째 줄…"/>
          <p:cNvSpPr txBox="1">
            <a:spLocks noGrp="1"/>
          </p:cNvSpPr>
          <p:nvPr>
            <p:ph type="body" sz="half" idx="1" hasCustomPrompt="1"/>
          </p:nvPr>
        </p:nvSpPr>
        <p:spPr>
          <a:xfrm>
            <a:off x="1206500" y="4248504"/>
            <a:ext cx="9779000" cy="8256012"/>
          </a:xfrm>
          <a:prstGeom prst="rect">
            <a:avLst/>
          </a:prstGeom>
        </p:spPr>
        <p:txBody>
          <a:bodyPr/>
          <a:lstStyle/>
          <a:p>
            <a:r>
              <a:t>슬라이드 구분점 텍스트</a:t>
            </a:r>
          </a:p>
          <a:p>
            <a:pPr lvl="1"/>
            <a:endParaRPr/>
          </a:p>
          <a:p>
            <a:pPr lvl="2"/>
            <a:endParaRPr/>
          </a:p>
          <a:p>
            <a:pPr lvl="3"/>
            <a:endParaRPr/>
          </a:p>
          <a:p>
            <a:pPr lvl="4"/>
            <a:endParaRPr/>
          </a:p>
        </p:txBody>
      </p:sp>
      <p:sp>
        <p:nvSpPr>
          <p:cNvPr id="63" name="어두운 구름 아래 흙길을 전경으로 두고 형성된 커다란 바위의 대형"/>
          <p:cNvSpPr>
            <a:spLocks noGrp="1"/>
          </p:cNvSpPr>
          <p:nvPr>
            <p:ph type="pic" idx="22"/>
          </p:nvPr>
        </p:nvSpPr>
        <p:spPr>
          <a:xfrm>
            <a:off x="6380200" y="1263848"/>
            <a:ext cx="22529801" cy="11193471"/>
          </a:xfrm>
          <a:prstGeom prst="rect">
            <a:avLst/>
          </a:prstGeom>
        </p:spPr>
        <p:txBody>
          <a:bodyPr lIns="91439" tIns="45719" rIns="91439" bIns="45719">
            <a:noAutofit/>
          </a:bodyPr>
          <a:lstStyle/>
          <a:p>
            <a:endParaRPr/>
          </a:p>
        </p:txBody>
      </p:sp>
      <p:sp>
        <p:nvSpPr>
          <p:cNvPr id="64"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제목, 구분점 및 작은 라이브 비디오">
    <p:spTree>
      <p:nvGrpSpPr>
        <p:cNvPr id="1" name=""/>
        <p:cNvGrpSpPr/>
        <p:nvPr/>
      </p:nvGrpSpPr>
      <p:grpSpPr>
        <a:xfrm>
          <a:off x="0" y="0"/>
          <a:ext cx="0" cy="0"/>
          <a:chOff x="0" y="0"/>
          <a:chExt cx="0" cy="0"/>
        </a:xfrm>
      </p:grpSpPr>
      <p:sp>
        <p:nvSpPr>
          <p:cNvPr id="71" name="슬라이드 제목"/>
          <p:cNvSpPr txBox="1">
            <a:spLocks noGrp="1"/>
          </p:cNvSpPr>
          <p:nvPr>
            <p:ph type="title" hasCustomPrompt="1"/>
          </p:nvPr>
        </p:nvSpPr>
        <p:spPr>
          <a:xfrm>
            <a:off x="1206500" y="952500"/>
            <a:ext cx="9779000" cy="1435100"/>
          </a:xfrm>
          <a:prstGeom prst="rect">
            <a:avLst/>
          </a:prstGeom>
        </p:spPr>
        <p:txBody>
          <a:bodyPr/>
          <a:lstStyle/>
          <a:p>
            <a:r>
              <a:t>슬라이드 제목</a:t>
            </a:r>
          </a:p>
        </p:txBody>
      </p:sp>
      <p:sp>
        <p:nvSpPr>
          <p:cNvPr id="72" name="슬라이드 부제"/>
          <p:cNvSpPr txBox="1">
            <a:spLocks noGrp="1"/>
          </p:cNvSpPr>
          <p:nvPr>
            <p:ph type="body" sz="quarter" idx="21" hasCustomPrompt="1"/>
          </p:nvPr>
        </p:nvSpPr>
        <p:spPr>
          <a:xfrm>
            <a:off x="1206500" y="2245962"/>
            <a:ext cx="9779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슬라이드 부제</a:t>
            </a:r>
          </a:p>
        </p:txBody>
      </p:sp>
      <p:sp>
        <p:nvSpPr>
          <p:cNvPr id="73" name="본문 첫 번째 줄…"/>
          <p:cNvSpPr txBox="1">
            <a:spLocks noGrp="1"/>
          </p:cNvSpPr>
          <p:nvPr>
            <p:ph type="body" sz="half" idx="1" hasCustomPrompt="1"/>
          </p:nvPr>
        </p:nvSpPr>
        <p:spPr>
          <a:xfrm>
            <a:off x="1206500" y="4248504"/>
            <a:ext cx="9779000" cy="8256012"/>
          </a:xfrm>
          <a:prstGeom prst="rect">
            <a:avLst/>
          </a:prstGeom>
        </p:spPr>
        <p:txBody>
          <a:bodyPr/>
          <a:lstStyle/>
          <a:p>
            <a:r>
              <a:t>슬라이드 구분점 텍스트</a:t>
            </a:r>
          </a:p>
          <a:p>
            <a:pPr lvl="1"/>
            <a:endParaRPr/>
          </a:p>
          <a:p>
            <a:pPr lvl="2"/>
            <a:endParaRPr/>
          </a:p>
          <a:p>
            <a:pPr lvl="3"/>
            <a:endParaRPr/>
          </a:p>
          <a:p>
            <a:pPr lvl="4"/>
            <a:endParaRPr/>
          </a:p>
        </p:txBody>
      </p:sp>
      <p:sp>
        <p:nvSpPr>
          <p:cNvPr id="74"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제목, 구분점 및 큰 라이브 비디오">
    <p:spTree>
      <p:nvGrpSpPr>
        <p:cNvPr id="1" name=""/>
        <p:cNvGrpSpPr/>
        <p:nvPr/>
      </p:nvGrpSpPr>
      <p:grpSpPr>
        <a:xfrm>
          <a:off x="0" y="0"/>
          <a:ext cx="0" cy="0"/>
          <a:chOff x="0" y="0"/>
          <a:chExt cx="0" cy="0"/>
        </a:xfrm>
      </p:grpSpPr>
      <p:sp>
        <p:nvSpPr>
          <p:cNvPr id="81" name="슬라이드 제목"/>
          <p:cNvSpPr txBox="1">
            <a:spLocks noGrp="1"/>
          </p:cNvSpPr>
          <p:nvPr>
            <p:ph type="title" hasCustomPrompt="1"/>
          </p:nvPr>
        </p:nvSpPr>
        <p:spPr>
          <a:xfrm>
            <a:off x="1206500" y="952500"/>
            <a:ext cx="9779000" cy="1435100"/>
          </a:xfrm>
          <a:prstGeom prst="rect">
            <a:avLst/>
          </a:prstGeom>
        </p:spPr>
        <p:txBody>
          <a:bodyPr/>
          <a:lstStyle/>
          <a:p>
            <a:r>
              <a:t>슬라이드 제목</a:t>
            </a:r>
          </a:p>
        </p:txBody>
      </p:sp>
      <p:sp>
        <p:nvSpPr>
          <p:cNvPr id="82" name="슬라이드 부제"/>
          <p:cNvSpPr txBox="1">
            <a:spLocks noGrp="1"/>
          </p:cNvSpPr>
          <p:nvPr>
            <p:ph type="body" sz="quarter" idx="21" hasCustomPrompt="1"/>
          </p:nvPr>
        </p:nvSpPr>
        <p:spPr>
          <a:xfrm>
            <a:off x="1206500" y="2245962"/>
            <a:ext cx="9779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슬라이드 부제</a:t>
            </a:r>
          </a:p>
        </p:txBody>
      </p:sp>
      <p:sp>
        <p:nvSpPr>
          <p:cNvPr id="83" name="본문 첫 번째 줄…"/>
          <p:cNvSpPr txBox="1">
            <a:spLocks noGrp="1"/>
          </p:cNvSpPr>
          <p:nvPr>
            <p:ph type="body" sz="half" idx="1" hasCustomPrompt="1"/>
          </p:nvPr>
        </p:nvSpPr>
        <p:spPr>
          <a:xfrm>
            <a:off x="1206500" y="4248504"/>
            <a:ext cx="9779000" cy="8256012"/>
          </a:xfrm>
          <a:prstGeom prst="rect">
            <a:avLst/>
          </a:prstGeom>
        </p:spPr>
        <p:txBody>
          <a:bodyPr/>
          <a:lstStyle/>
          <a:p>
            <a:r>
              <a:t>슬라이드 구분점 텍스트</a:t>
            </a:r>
          </a:p>
          <a:p>
            <a:pPr lvl="1"/>
            <a:endParaRPr/>
          </a:p>
          <a:p>
            <a:pPr lvl="2"/>
            <a:endParaRPr/>
          </a:p>
          <a:p>
            <a:pPr lvl="3"/>
            <a:endParaRPr/>
          </a:p>
          <a:p>
            <a:pPr lvl="4"/>
            <a:endParaRPr/>
          </a:p>
        </p:txBody>
      </p:sp>
      <p:sp>
        <p:nvSpPr>
          <p:cNvPr id="84"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섹션">
    <p:spTree>
      <p:nvGrpSpPr>
        <p:cNvPr id="1" name=""/>
        <p:cNvGrpSpPr/>
        <p:nvPr/>
      </p:nvGrpSpPr>
      <p:grpSpPr>
        <a:xfrm>
          <a:off x="0" y="0"/>
          <a:ext cx="0" cy="0"/>
          <a:chOff x="0" y="0"/>
          <a:chExt cx="0" cy="0"/>
        </a:xfrm>
      </p:grpSpPr>
      <p:sp>
        <p:nvSpPr>
          <p:cNvPr id="91" name="섹션 제목"/>
          <p:cNvSpPr txBox="1">
            <a:spLocks noGrp="1"/>
          </p:cNvSpPr>
          <p:nvPr>
            <p:ph type="title" hasCustomPrompt="1"/>
          </p:nvPr>
        </p:nvSpPr>
        <p:spPr>
          <a:xfrm>
            <a:off x="1206496" y="4533900"/>
            <a:ext cx="21971004" cy="4648200"/>
          </a:xfrm>
          <a:prstGeom prst="rect">
            <a:avLst/>
          </a:prstGeom>
        </p:spPr>
        <p:txBody>
          <a:bodyPr anchor="ctr"/>
          <a:lstStyle>
            <a:lvl1pPr>
              <a:defRPr sz="11600" b="0" spc="-232">
                <a:latin typeface="Helvetica Neue Medium"/>
                <a:ea typeface="Helvetica Neue Medium"/>
                <a:cs typeface="Helvetica Neue Medium"/>
                <a:sym typeface="Helvetica Neue Medium"/>
              </a:defRPr>
            </a:lvl1pPr>
          </a:lstStyle>
          <a:p>
            <a:r>
              <a:t>섹션 제목</a:t>
            </a:r>
          </a:p>
        </p:txBody>
      </p:sp>
      <p:sp>
        <p:nvSpPr>
          <p:cNvPr id="92" name="슬라이드 번호"/>
          <p:cNvSpPr txBox="1">
            <a:spLocks noGrp="1"/>
          </p:cNvSpPr>
          <p:nvPr>
            <p:ph type="sldNum" sz="quarter" idx="2"/>
          </p:nvPr>
        </p:nvSpPr>
        <p:spPr>
          <a:xfrm>
            <a:off x="12001499" y="13085233"/>
            <a:ext cx="368505" cy="374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제목 전용">
    <p:spTree>
      <p:nvGrpSpPr>
        <p:cNvPr id="1" name=""/>
        <p:cNvGrpSpPr/>
        <p:nvPr/>
      </p:nvGrpSpPr>
      <p:grpSpPr>
        <a:xfrm>
          <a:off x="0" y="0"/>
          <a:ext cx="0" cy="0"/>
          <a:chOff x="0" y="0"/>
          <a:chExt cx="0" cy="0"/>
        </a:xfrm>
      </p:grpSpPr>
      <p:sp>
        <p:nvSpPr>
          <p:cNvPr id="99" name="슬라이드 제목"/>
          <p:cNvSpPr txBox="1">
            <a:spLocks noGrp="1"/>
          </p:cNvSpPr>
          <p:nvPr>
            <p:ph type="title" hasCustomPrompt="1"/>
          </p:nvPr>
        </p:nvSpPr>
        <p:spPr>
          <a:xfrm>
            <a:off x="1206500" y="952500"/>
            <a:ext cx="21971000" cy="1434949"/>
          </a:xfrm>
          <a:prstGeom prst="rect">
            <a:avLst/>
          </a:prstGeom>
        </p:spPr>
        <p:txBody>
          <a:bodyPr/>
          <a:lstStyle/>
          <a:p>
            <a:r>
              <a:t>슬라이드 제목</a:t>
            </a:r>
          </a:p>
        </p:txBody>
      </p:sp>
      <p:sp>
        <p:nvSpPr>
          <p:cNvPr id="100" name="슬라이드 부제"/>
          <p:cNvSpPr txBox="1">
            <a:spLocks noGrp="1"/>
          </p:cNvSpPr>
          <p:nvPr>
            <p:ph type="body" sz="quarter" idx="21" hasCustomPrompt="1"/>
          </p:nvPr>
        </p:nvSpPr>
        <p:spPr>
          <a:xfrm>
            <a:off x="1206500" y="2245962"/>
            <a:ext cx="21971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슬라이드 부제</a:t>
            </a:r>
          </a:p>
        </p:txBody>
      </p:sp>
      <p:sp>
        <p:nvSpPr>
          <p:cNvPr id="101"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의제">
    <p:spTree>
      <p:nvGrpSpPr>
        <p:cNvPr id="1" name=""/>
        <p:cNvGrpSpPr/>
        <p:nvPr/>
      </p:nvGrpSpPr>
      <p:grpSpPr>
        <a:xfrm>
          <a:off x="0" y="0"/>
          <a:ext cx="0" cy="0"/>
          <a:chOff x="0" y="0"/>
          <a:chExt cx="0" cy="0"/>
        </a:xfrm>
      </p:grpSpPr>
      <p:sp>
        <p:nvSpPr>
          <p:cNvPr id="108" name="의제 제목"/>
          <p:cNvSpPr txBox="1">
            <a:spLocks noGrp="1"/>
          </p:cNvSpPr>
          <p:nvPr>
            <p:ph type="title" hasCustomPrompt="1"/>
          </p:nvPr>
        </p:nvSpPr>
        <p:spPr>
          <a:xfrm>
            <a:off x="1206500" y="952500"/>
            <a:ext cx="21971000" cy="1435100"/>
          </a:xfrm>
          <a:prstGeom prst="rect">
            <a:avLst/>
          </a:prstGeom>
        </p:spPr>
        <p:txBody>
          <a:bodyPr/>
          <a:lstStyle/>
          <a:p>
            <a:r>
              <a:t>의제 제목</a:t>
            </a:r>
          </a:p>
        </p:txBody>
      </p:sp>
      <p:sp>
        <p:nvSpPr>
          <p:cNvPr id="109" name="의제 부제"/>
          <p:cNvSpPr txBox="1">
            <a:spLocks noGrp="1"/>
          </p:cNvSpPr>
          <p:nvPr>
            <p:ph type="body" sz="quarter" idx="21" hasCustomPrompt="1"/>
          </p:nvPr>
        </p:nvSpPr>
        <p:spPr>
          <a:xfrm>
            <a:off x="1206500" y="2245962"/>
            <a:ext cx="21971000" cy="934780"/>
          </a:xfrm>
          <a:prstGeom prst="rect">
            <a:avLst/>
          </a:prstGeom>
        </p:spPr>
        <p:txBody>
          <a:bodyPr lIns="45719" tIns="45719" rIns="45719" bIns="45719"/>
          <a:lstStyle>
            <a:lvl1pPr marL="0" indent="0" defTabSz="792479">
              <a:lnSpc>
                <a:spcPct val="100000"/>
              </a:lnSpc>
              <a:spcBef>
                <a:spcPts val="0"/>
              </a:spcBef>
              <a:buSzTx/>
              <a:buNone/>
              <a:defRPr sz="5280" b="1"/>
            </a:lvl1pPr>
          </a:lstStyle>
          <a:p>
            <a:r>
              <a:t>의제 부제</a:t>
            </a:r>
          </a:p>
        </p:txBody>
      </p:sp>
      <p:sp>
        <p:nvSpPr>
          <p:cNvPr id="110" name="본문 첫 번째 줄…"/>
          <p:cNvSpPr txBox="1">
            <a:spLocks noGrp="1"/>
          </p:cNvSpPr>
          <p:nvPr>
            <p:ph type="body" idx="1" hasCustomPrompt="1"/>
          </p:nvPr>
        </p:nvSpPr>
        <p:spPr>
          <a:prstGeom prst="rect">
            <a:avLst/>
          </a:prstGeom>
        </p:spPr>
        <p:txBody>
          <a:bodyPr/>
          <a:lstStyle>
            <a:lvl1pPr marL="0" indent="0" defTabSz="825500">
              <a:lnSpc>
                <a:spcPct val="100000"/>
              </a:lnSpc>
              <a:spcBef>
                <a:spcPts val="1800"/>
              </a:spcBef>
              <a:buSzTx/>
              <a:buNone/>
              <a:defRPr sz="5500" spc="-55"/>
            </a:lvl1pPr>
            <a:lvl2pPr marL="0" indent="457200" defTabSz="825500">
              <a:lnSpc>
                <a:spcPct val="100000"/>
              </a:lnSpc>
              <a:spcBef>
                <a:spcPts val="1800"/>
              </a:spcBef>
              <a:buSzTx/>
              <a:buNone/>
              <a:defRPr sz="5500" spc="-55"/>
            </a:lvl2pPr>
            <a:lvl3pPr marL="0" indent="914400" defTabSz="825500">
              <a:lnSpc>
                <a:spcPct val="100000"/>
              </a:lnSpc>
              <a:spcBef>
                <a:spcPts val="1800"/>
              </a:spcBef>
              <a:buSzTx/>
              <a:buNone/>
              <a:defRPr sz="5500" spc="-55"/>
            </a:lvl3pPr>
            <a:lvl4pPr marL="0" indent="1371600" defTabSz="825500">
              <a:lnSpc>
                <a:spcPct val="100000"/>
              </a:lnSpc>
              <a:spcBef>
                <a:spcPts val="1800"/>
              </a:spcBef>
              <a:buSzTx/>
              <a:buNone/>
              <a:defRPr sz="5500" spc="-55"/>
            </a:lvl4pPr>
            <a:lvl5pPr marL="0" indent="1828800" defTabSz="825500">
              <a:lnSpc>
                <a:spcPct val="100000"/>
              </a:lnSpc>
              <a:spcBef>
                <a:spcPts val="1800"/>
              </a:spcBef>
              <a:buSzTx/>
              <a:buNone/>
              <a:defRPr sz="5500" spc="-55"/>
            </a:lvl5pPr>
          </a:lstStyle>
          <a:p>
            <a:r>
              <a:t>의제 주제</a:t>
            </a:r>
          </a:p>
          <a:p>
            <a:pPr lvl="1"/>
            <a:endParaRPr/>
          </a:p>
          <a:p>
            <a:pPr lvl="2"/>
            <a:endParaRPr/>
          </a:p>
          <a:p>
            <a:pPr lvl="3"/>
            <a:endParaRPr/>
          </a:p>
          <a:p>
            <a:pPr lvl="4"/>
            <a:endParaRPr/>
          </a:p>
        </p:txBody>
      </p:sp>
      <p:sp>
        <p:nvSpPr>
          <p:cNvPr id="111"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내역서">
    <p:spTree>
      <p:nvGrpSpPr>
        <p:cNvPr id="1" name=""/>
        <p:cNvGrpSpPr/>
        <p:nvPr/>
      </p:nvGrpSpPr>
      <p:grpSpPr>
        <a:xfrm>
          <a:off x="0" y="0"/>
          <a:ext cx="0" cy="0"/>
          <a:chOff x="0" y="0"/>
          <a:chExt cx="0" cy="0"/>
        </a:xfrm>
      </p:grpSpPr>
      <p:sp>
        <p:nvSpPr>
          <p:cNvPr id="118" name="본문 첫 번째 줄…"/>
          <p:cNvSpPr txBox="1">
            <a:spLocks noGrp="1"/>
          </p:cNvSpPr>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z="11600" spc="-232">
                <a:latin typeface="Helvetica Neue Medium"/>
                <a:ea typeface="Helvetica Neue Medium"/>
                <a:cs typeface="Helvetica Neue Medium"/>
                <a:sym typeface="Helvetica Neue Medium"/>
              </a:defRPr>
            </a:lvl1pPr>
            <a:lvl2pPr marL="0" indent="457200" algn="ctr">
              <a:lnSpc>
                <a:spcPct val="80000"/>
              </a:lnSpc>
              <a:spcBef>
                <a:spcPts val="0"/>
              </a:spcBef>
              <a:buSzTx/>
              <a:buNone/>
              <a:defRPr sz="11600" spc="-232">
                <a:latin typeface="Helvetica Neue Medium"/>
                <a:ea typeface="Helvetica Neue Medium"/>
                <a:cs typeface="Helvetica Neue Medium"/>
                <a:sym typeface="Helvetica Neue Medium"/>
              </a:defRPr>
            </a:lvl2pPr>
            <a:lvl3pPr marL="0" indent="914400" algn="ctr">
              <a:lnSpc>
                <a:spcPct val="80000"/>
              </a:lnSpc>
              <a:spcBef>
                <a:spcPts val="0"/>
              </a:spcBef>
              <a:buSzTx/>
              <a:buNone/>
              <a:defRPr sz="11600" spc="-232">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z="11600" spc="-232">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z="11600" spc="-232">
                <a:latin typeface="Helvetica Neue Medium"/>
                <a:ea typeface="Helvetica Neue Medium"/>
                <a:cs typeface="Helvetica Neue Medium"/>
                <a:sym typeface="Helvetica Neue Medium"/>
              </a:defRPr>
            </a:lvl5pPr>
          </a:lstStyle>
          <a:p>
            <a:r>
              <a:t>내역서</a:t>
            </a:r>
          </a:p>
          <a:p>
            <a:pPr lvl="1"/>
            <a:endParaRPr/>
          </a:p>
          <a:p>
            <a:pPr lvl="2"/>
            <a:endParaRPr/>
          </a:p>
          <a:p>
            <a:pPr lvl="3"/>
            <a:endParaRPr/>
          </a:p>
          <a:p>
            <a:pPr lvl="4"/>
            <a:endParaRPr/>
          </a:p>
        </p:txBody>
      </p:sp>
      <p:sp>
        <p:nvSpPr>
          <p:cNvPr id="119"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중요한 사실">
    <p:spTree>
      <p:nvGrpSpPr>
        <p:cNvPr id="1" name=""/>
        <p:cNvGrpSpPr/>
        <p:nvPr/>
      </p:nvGrpSpPr>
      <p:grpSpPr>
        <a:xfrm>
          <a:off x="0" y="0"/>
          <a:ext cx="0" cy="0"/>
          <a:chOff x="0" y="0"/>
          <a:chExt cx="0" cy="0"/>
        </a:xfrm>
      </p:grpSpPr>
      <p:sp>
        <p:nvSpPr>
          <p:cNvPr id="126" name="사실 정보"/>
          <p:cNvSpPr txBox="1">
            <a:spLocks noGrp="1"/>
          </p:cNvSpPr>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792479">
              <a:lnSpc>
                <a:spcPct val="100000"/>
              </a:lnSpc>
              <a:spcBef>
                <a:spcPts val="0"/>
              </a:spcBef>
              <a:buSzTx/>
              <a:buNone/>
              <a:defRPr sz="5280" b="1"/>
            </a:lvl1pPr>
          </a:lstStyle>
          <a:p>
            <a:r>
              <a:t>사실 정보</a:t>
            </a:r>
          </a:p>
        </p:txBody>
      </p:sp>
      <p:sp>
        <p:nvSpPr>
          <p:cNvPr id="127" name="본문 첫 번째 줄…"/>
          <p:cNvSpPr txBox="1">
            <a:spLocks noGrp="1"/>
          </p:cNvSpPr>
          <p:nvPr>
            <p:ph type="body" idx="1" hasCustomPrompt="1"/>
          </p:nvPr>
        </p:nvSpPr>
        <p:spPr>
          <a:xfrm>
            <a:off x="1206500" y="935258"/>
            <a:ext cx="21971000" cy="7359063"/>
          </a:xfrm>
          <a:prstGeom prst="rect">
            <a:avLst/>
          </a:prstGeom>
        </p:spPr>
        <p:txBody>
          <a:bodyPr anchor="b"/>
          <a:lstStyle>
            <a:lvl1pPr marL="0" indent="0" algn="ctr">
              <a:lnSpc>
                <a:spcPct val="80000"/>
              </a:lnSpc>
              <a:spcBef>
                <a:spcPts val="0"/>
              </a:spcBef>
              <a:buSzTx/>
              <a:buNone/>
              <a:defRPr sz="25000" b="1" spc="-250"/>
            </a:lvl1pPr>
            <a:lvl2pPr marL="0" indent="457200" algn="ctr">
              <a:lnSpc>
                <a:spcPct val="80000"/>
              </a:lnSpc>
              <a:spcBef>
                <a:spcPts val="0"/>
              </a:spcBef>
              <a:buSzTx/>
              <a:buNone/>
              <a:defRPr sz="25000" b="1" spc="-250"/>
            </a:lvl2pPr>
            <a:lvl3pPr marL="0" indent="914400" algn="ctr">
              <a:lnSpc>
                <a:spcPct val="80000"/>
              </a:lnSpc>
              <a:spcBef>
                <a:spcPts val="0"/>
              </a:spcBef>
              <a:buSzTx/>
              <a:buNone/>
              <a:defRPr sz="25000" b="1" spc="-250"/>
            </a:lvl3pPr>
            <a:lvl4pPr marL="0" indent="1371600" algn="ctr">
              <a:lnSpc>
                <a:spcPct val="80000"/>
              </a:lnSpc>
              <a:spcBef>
                <a:spcPts val="0"/>
              </a:spcBef>
              <a:buSzTx/>
              <a:buNone/>
              <a:defRPr sz="25000" b="1" spc="-250"/>
            </a:lvl4pPr>
            <a:lvl5pPr marL="0" indent="1828800" algn="ctr">
              <a:lnSpc>
                <a:spcPct val="80000"/>
              </a:lnSpc>
              <a:spcBef>
                <a:spcPts val="0"/>
              </a:spcBef>
              <a:buSzTx/>
              <a:buNone/>
              <a:defRPr sz="25000" b="1" spc="-250"/>
            </a:lvl5pPr>
          </a:lstStyle>
          <a:p>
            <a:r>
              <a:t>100%</a:t>
            </a:r>
          </a:p>
          <a:p>
            <a:pPr lvl="1"/>
            <a:endParaRPr/>
          </a:p>
          <a:p>
            <a:pPr lvl="2"/>
            <a:endParaRPr/>
          </a:p>
          <a:p>
            <a:pPr lvl="3"/>
            <a:endParaRPr/>
          </a:p>
          <a:p>
            <a:pPr lvl="4"/>
            <a:endParaRPr/>
          </a:p>
        </p:txBody>
      </p:sp>
      <p:sp>
        <p:nvSpPr>
          <p:cNvPr id="128"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인용">
    <p:spTree>
      <p:nvGrpSpPr>
        <p:cNvPr id="1" name=""/>
        <p:cNvGrpSpPr/>
        <p:nvPr/>
      </p:nvGrpSpPr>
      <p:grpSpPr>
        <a:xfrm>
          <a:off x="0" y="0"/>
          <a:ext cx="0" cy="0"/>
          <a:chOff x="0" y="0"/>
          <a:chExt cx="0" cy="0"/>
        </a:xfrm>
      </p:grpSpPr>
      <p:sp>
        <p:nvSpPr>
          <p:cNvPr id="135" name="속성"/>
          <p:cNvSpPr txBox="1">
            <a:spLocks noGrp="1"/>
          </p:cNvSpPr>
          <p:nvPr>
            <p:ph type="body" sz="quarter" idx="21" hasCustomPrompt="1"/>
          </p:nvPr>
        </p:nvSpPr>
        <p:spPr>
          <a:xfrm>
            <a:off x="2480825" y="10675453"/>
            <a:ext cx="20149252" cy="636979"/>
          </a:xfrm>
          <a:prstGeom prst="rect">
            <a:avLst/>
          </a:prstGeom>
        </p:spPr>
        <p:txBody>
          <a:bodyPr lIns="45719" tIns="45719" rIns="45719" bIns="45719"/>
          <a:lstStyle>
            <a:lvl1pPr marL="0" indent="0" defTabSz="825500">
              <a:lnSpc>
                <a:spcPct val="100000"/>
              </a:lnSpc>
              <a:spcBef>
                <a:spcPts val="0"/>
              </a:spcBef>
              <a:buSzTx/>
              <a:buNone/>
              <a:defRPr sz="3600" b="1"/>
            </a:lvl1pPr>
          </a:lstStyle>
          <a:p>
            <a:r>
              <a:t>속성</a:t>
            </a:r>
          </a:p>
        </p:txBody>
      </p:sp>
      <p:sp>
        <p:nvSpPr>
          <p:cNvPr id="136" name="본문 첫 번째 줄…"/>
          <p:cNvSpPr txBox="1">
            <a:spLocks noGrp="1"/>
          </p:cNvSpPr>
          <p:nvPr>
            <p:ph type="body" sz="half" idx="1" hasCustomPrompt="1"/>
          </p:nvPr>
        </p:nvSpPr>
        <p:spPr>
          <a:xfrm>
            <a:off x="1753923" y="4939860"/>
            <a:ext cx="20876154" cy="3836280"/>
          </a:xfrm>
          <a:prstGeom prst="rect">
            <a:avLst/>
          </a:prstGeom>
        </p:spPr>
        <p:txBody>
          <a:bodyPr anchor="ctr"/>
          <a:lstStyle>
            <a:lvl1pPr marL="638923" indent="-469900">
              <a:spcBef>
                <a:spcPts val="0"/>
              </a:spcBef>
              <a:buSzTx/>
              <a:buNone/>
              <a:defRPr sz="8500" spc="-170">
                <a:latin typeface="Helvetica Neue Medium"/>
                <a:ea typeface="Helvetica Neue Medium"/>
                <a:cs typeface="Helvetica Neue Medium"/>
                <a:sym typeface="Helvetica Neue Medium"/>
              </a:defRPr>
            </a:lvl1pPr>
            <a:lvl2pPr marL="638923" indent="-12700">
              <a:spcBef>
                <a:spcPts val="0"/>
              </a:spcBef>
              <a:buSzTx/>
              <a:buNone/>
              <a:defRPr sz="8500" spc="-170">
                <a:latin typeface="Helvetica Neue Medium"/>
                <a:ea typeface="Helvetica Neue Medium"/>
                <a:cs typeface="Helvetica Neue Medium"/>
                <a:sym typeface="Helvetica Neue Medium"/>
              </a:defRPr>
            </a:lvl2pPr>
            <a:lvl3pPr marL="638923" indent="444500">
              <a:spcBef>
                <a:spcPts val="0"/>
              </a:spcBef>
              <a:buSzTx/>
              <a:buNone/>
              <a:defRPr sz="8500" spc="-170">
                <a:latin typeface="Helvetica Neue Medium"/>
                <a:ea typeface="Helvetica Neue Medium"/>
                <a:cs typeface="Helvetica Neue Medium"/>
                <a:sym typeface="Helvetica Neue Medium"/>
              </a:defRPr>
            </a:lvl3pPr>
            <a:lvl4pPr marL="638923" indent="901700">
              <a:spcBef>
                <a:spcPts val="0"/>
              </a:spcBef>
              <a:buSzTx/>
              <a:buNone/>
              <a:defRPr sz="8500" spc="-170">
                <a:latin typeface="Helvetica Neue Medium"/>
                <a:ea typeface="Helvetica Neue Medium"/>
                <a:cs typeface="Helvetica Neue Medium"/>
                <a:sym typeface="Helvetica Neue Medium"/>
              </a:defRPr>
            </a:lvl4pPr>
            <a:lvl5pPr marL="638923" indent="1358900">
              <a:spcBef>
                <a:spcPts val="0"/>
              </a:spcBef>
              <a:buSzTx/>
              <a:buNone/>
              <a:defRPr sz="8500" spc="-170">
                <a:latin typeface="Helvetica Neue Medium"/>
                <a:ea typeface="Helvetica Neue Medium"/>
                <a:cs typeface="Helvetica Neue Medium"/>
                <a:sym typeface="Helvetica Neue Medium"/>
              </a:defRPr>
            </a:lvl5pPr>
          </a:lstStyle>
          <a:p>
            <a:r>
              <a:t>“멋진 인용구”</a:t>
            </a:r>
          </a:p>
          <a:p>
            <a:pPr lvl="1"/>
            <a:endParaRPr/>
          </a:p>
          <a:p>
            <a:pPr lvl="2"/>
            <a:endParaRPr/>
          </a:p>
          <a:p>
            <a:pPr lvl="3"/>
            <a:endParaRPr/>
          </a:p>
          <a:p>
            <a:pPr lvl="4"/>
            <a:endParaRPr/>
          </a:p>
        </p:txBody>
      </p:sp>
      <p:sp>
        <p:nvSpPr>
          <p:cNvPr id="137"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사진 - 3장">
    <p:spTree>
      <p:nvGrpSpPr>
        <p:cNvPr id="1" name=""/>
        <p:cNvGrpSpPr/>
        <p:nvPr/>
      </p:nvGrpSpPr>
      <p:grpSpPr>
        <a:xfrm>
          <a:off x="0" y="0"/>
          <a:ext cx="0" cy="0"/>
          <a:chOff x="0" y="0"/>
          <a:chExt cx="0" cy="0"/>
        </a:xfrm>
      </p:grpSpPr>
      <p:sp>
        <p:nvSpPr>
          <p:cNvPr id="144" name="돌 사이로 자라는 야생 식물의 모습을 근접 촬영한 사진"/>
          <p:cNvSpPr>
            <a:spLocks noGrp="1"/>
          </p:cNvSpPr>
          <p:nvPr>
            <p:ph type="pic" sz="quarter" idx="21"/>
          </p:nvPr>
        </p:nvSpPr>
        <p:spPr>
          <a:xfrm>
            <a:off x="15430500" y="7085409"/>
            <a:ext cx="8128000" cy="5410201"/>
          </a:xfrm>
          <a:prstGeom prst="rect">
            <a:avLst/>
          </a:prstGeom>
        </p:spPr>
        <p:txBody>
          <a:bodyPr lIns="91439" tIns="45719" rIns="91439" bIns="45719">
            <a:noAutofit/>
          </a:bodyPr>
          <a:lstStyle/>
          <a:p>
            <a:endParaRPr/>
          </a:p>
        </p:txBody>
      </p:sp>
      <p:sp>
        <p:nvSpPr>
          <p:cNvPr id="145" name="어두운 구름 아래 흙길을 전경으로 두고 형성된 커다란 바위의 대형"/>
          <p:cNvSpPr>
            <a:spLocks noGrp="1"/>
          </p:cNvSpPr>
          <p:nvPr>
            <p:ph type="pic" idx="22"/>
          </p:nvPr>
        </p:nvSpPr>
        <p:spPr>
          <a:xfrm>
            <a:off x="-2933700" y="1270000"/>
            <a:ext cx="22699133" cy="11277600"/>
          </a:xfrm>
          <a:prstGeom prst="rect">
            <a:avLst/>
          </a:prstGeom>
        </p:spPr>
        <p:txBody>
          <a:bodyPr lIns="91439" tIns="45719" rIns="91439" bIns="45719">
            <a:noAutofit/>
          </a:bodyPr>
          <a:lstStyle/>
          <a:p>
            <a:endParaRPr/>
          </a:p>
        </p:txBody>
      </p:sp>
      <p:sp>
        <p:nvSpPr>
          <p:cNvPr id="146" name="화산암 사이로 자라는 야생 식물을 근접 촬영한 사진"/>
          <p:cNvSpPr>
            <a:spLocks noGrp="1"/>
          </p:cNvSpPr>
          <p:nvPr>
            <p:ph type="pic" sz="quarter" idx="23"/>
          </p:nvPr>
        </p:nvSpPr>
        <p:spPr>
          <a:xfrm>
            <a:off x="15430500" y="1270000"/>
            <a:ext cx="8128000" cy="5410200"/>
          </a:xfrm>
          <a:prstGeom prst="rect">
            <a:avLst/>
          </a:prstGeom>
        </p:spPr>
        <p:txBody>
          <a:bodyPr lIns="91439" tIns="45719" rIns="91439" bIns="45719">
            <a:noAutofit/>
          </a:bodyPr>
          <a:lstStyle/>
          <a:p>
            <a:endParaRPr/>
          </a:p>
        </p:txBody>
      </p:sp>
      <p:sp>
        <p:nvSpPr>
          <p:cNvPr id="147"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사진">
    <p:spTree>
      <p:nvGrpSpPr>
        <p:cNvPr id="1" name=""/>
        <p:cNvGrpSpPr/>
        <p:nvPr/>
      </p:nvGrpSpPr>
      <p:grpSpPr>
        <a:xfrm>
          <a:off x="0" y="0"/>
          <a:ext cx="0" cy="0"/>
          <a:chOff x="0" y="0"/>
          <a:chExt cx="0" cy="0"/>
        </a:xfrm>
      </p:grpSpPr>
      <p:sp>
        <p:nvSpPr>
          <p:cNvPr id="154" name="푸른 암벽으로 둘러싸인 폭포"/>
          <p:cNvSpPr>
            <a:spLocks noGrp="1"/>
          </p:cNvSpPr>
          <p:nvPr>
            <p:ph type="pic" idx="21"/>
          </p:nvPr>
        </p:nvSpPr>
        <p:spPr>
          <a:xfrm>
            <a:off x="-1511300" y="-3721100"/>
            <a:ext cx="28511500" cy="19030242"/>
          </a:xfrm>
          <a:prstGeom prst="rect">
            <a:avLst/>
          </a:prstGeom>
        </p:spPr>
        <p:txBody>
          <a:bodyPr lIns="91439" tIns="45719" rIns="91439" bIns="45719">
            <a:noAutofit/>
          </a:bodyPr>
          <a:lstStyle/>
          <a:p>
            <a:endParaRPr/>
          </a:p>
        </p:txBody>
      </p:sp>
      <p:sp>
        <p:nvSpPr>
          <p:cNvPr id="155"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빈 페이지">
    <p:spTree>
      <p:nvGrpSpPr>
        <p:cNvPr id="1" name=""/>
        <p:cNvGrpSpPr/>
        <p:nvPr/>
      </p:nvGrpSpPr>
      <p:grpSpPr>
        <a:xfrm>
          <a:off x="0" y="0"/>
          <a:ext cx="0" cy="0"/>
          <a:chOff x="0" y="0"/>
          <a:chExt cx="0" cy="0"/>
        </a:xfrm>
      </p:grpSpPr>
      <p:sp>
        <p:nvSpPr>
          <p:cNvPr id="162" name="슬라이드 번호"/>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슬라이드 제목"/>
          <p:cNvSpPr txBox="1">
            <a:spLocks noGrp="1"/>
          </p:cNvSpPr>
          <p:nvPr>
            <p:ph type="title" hasCustomPrompt="1"/>
          </p:nvPr>
        </p:nvSpPr>
        <p:spPr>
          <a:xfrm>
            <a:off x="1206500" y="952500"/>
            <a:ext cx="21971000" cy="14331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제목</a:t>
            </a:r>
          </a:p>
        </p:txBody>
      </p:sp>
      <p:sp>
        <p:nvSpPr>
          <p:cNvPr id="3" name="본문 첫 번째 줄…"/>
          <p:cNvSpPr txBox="1">
            <a:spLocks noGrp="1"/>
          </p:cNvSpPr>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슬라이드 구분점 텍스트</a:t>
            </a:r>
          </a:p>
          <a:p>
            <a:pPr lvl="1"/>
            <a:endParaRPr/>
          </a:p>
          <a:p>
            <a:pPr lvl="2"/>
            <a:endParaRPr/>
          </a:p>
          <a:p>
            <a:pPr lvl="3"/>
            <a:endParaRPr/>
          </a:p>
          <a:p>
            <a:pPr lvl="4"/>
            <a:endParaRPr/>
          </a:p>
        </p:txBody>
      </p:sp>
      <p:sp>
        <p:nvSpPr>
          <p:cNvPr id="4" name="슬라이드 번호"/>
          <p:cNvSpPr txBox="1">
            <a:spLocks noGrp="1"/>
          </p:cNvSpPr>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fld id="{86CB4B4D-7CA3-9044-876B-883B54F8677D}" type="slidenum">
              <a:t>‹#›</a:t>
            </a:fld>
            <a:endParaRP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ransition spd="med"/>
  <p:txStyles>
    <p:titleStyle>
      <a:lvl1pPr marL="0" marR="0" indent="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sz="8500" b="1" i="0" u="none" strike="noStrike" cap="none" spc="-170" baseline="0">
          <a:solidFill>
            <a:srgbClr val="FFFFFF"/>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sz="4800" b="0" i="0" u="none" strike="noStrike" cap="none" spc="0" baseline="0">
          <a:solidFill>
            <a:srgbClr val="FFFFFF"/>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72" name="Maroo Privacy"/>
          <p:cNvSpPr txBox="1"/>
          <p:nvPr/>
        </p:nvSpPr>
        <p:spPr>
          <a:xfrm>
            <a:off x="1524000" y="3810000"/>
            <a:ext cx="10414000" cy="1079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6400">
                <a:latin typeface="Apple SD 산돌고딕 Neo 볼드체"/>
                <a:ea typeface="Apple SD 산돌고딕 Neo 볼드체"/>
                <a:cs typeface="Apple SD 산돌고딕 Neo 볼드체"/>
                <a:sym typeface="Apple SD 산돌고딕 Neo 볼드체"/>
              </a:defRPr>
            </a:lvl1pPr>
          </a:lstStyle>
          <a:p>
            <a:r>
              <a:t>Maroo Privacy</a:t>
            </a:r>
          </a:p>
        </p:txBody>
      </p:sp>
      <p:sp>
        <p:nvSpPr>
          <p:cNvPr id="173" name="기관용 비공개 급여 워크숍"/>
          <p:cNvSpPr txBox="1"/>
          <p:nvPr/>
        </p:nvSpPr>
        <p:spPr>
          <a:xfrm>
            <a:off x="1523999" y="5461000"/>
            <a:ext cx="11430002" cy="774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400">
                <a:solidFill>
                  <a:srgbClr val="00E9FF"/>
                </a:solidFill>
                <a:latin typeface="Apple SD 산돌고딕 Neo 볼드체"/>
                <a:ea typeface="Apple SD 산돌고딕 Neo 볼드체"/>
                <a:cs typeface="Apple SD 산돌고딕 Neo 볼드체"/>
                <a:sym typeface="Apple SD 산돌고딕 Neo 볼드체"/>
              </a:defRPr>
            </a:lvl1pPr>
          </a:lstStyle>
          <a:p>
            <a:r>
              <a:t>기관용 비공개 급여 워크숍</a:t>
            </a:r>
          </a:p>
        </p:txBody>
      </p:sp>
      <p:sp>
        <p:nvSpPr>
          <p:cNvPr id="174" name="Track B · 75분 · 1인 1환경"/>
          <p:cNvSpPr txBox="1"/>
          <p:nvPr/>
        </p:nvSpPr>
        <p:spPr>
          <a:xfrm>
            <a:off x="1587500" y="7366000"/>
            <a:ext cx="9652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BEC9D4"/>
                </a:solidFill>
                <a:latin typeface="Apple SD 산돌고딕 Neo 일반체"/>
                <a:ea typeface="Apple SD 산돌고딕 Neo 일반체"/>
                <a:cs typeface="Apple SD 산돌고딕 Neo 일반체"/>
                <a:sym typeface="Apple SD 산돌고딕 Neo 일반체"/>
              </a:defRPr>
            </a:lvl1pPr>
          </a:lstStyle>
          <a:p>
            <a:r>
              <a:t>Track B · 75분 · 1인 1환경</a:t>
            </a:r>
          </a:p>
        </p:txBody>
      </p:sp>
      <p:sp>
        <p:nvSpPr>
          <p:cNvPr id="175" name="직사각형"/>
          <p:cNvSpPr/>
          <p:nvPr/>
        </p:nvSpPr>
        <p:spPr>
          <a:xfrm>
            <a:off x="13970000" y="3428999"/>
            <a:ext cx="2921001" cy="1905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176" name="OKRW"/>
          <p:cNvSpPr txBox="1"/>
          <p:nvPr/>
        </p:nvSpPr>
        <p:spPr>
          <a:xfrm>
            <a:off x="14274800" y="3746500"/>
            <a:ext cx="231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OKRW</a:t>
            </a:r>
          </a:p>
        </p:txBody>
      </p:sp>
      <p:sp>
        <p:nvSpPr>
          <p:cNvPr id="177" name="자산"/>
          <p:cNvSpPr txBox="1"/>
          <p:nvPr/>
        </p:nvSpPr>
        <p:spPr>
          <a:xfrm>
            <a:off x="14274800" y="4445000"/>
            <a:ext cx="231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자산</a:t>
            </a:r>
          </a:p>
        </p:txBody>
      </p:sp>
      <p:sp>
        <p:nvSpPr>
          <p:cNvPr id="178" name="→"/>
          <p:cNvSpPr txBox="1"/>
          <p:nvPr/>
        </p:nvSpPr>
        <p:spPr>
          <a:xfrm>
            <a:off x="17018000" y="3937000"/>
            <a:ext cx="1143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179" name="직사각형"/>
          <p:cNvSpPr/>
          <p:nvPr/>
        </p:nvSpPr>
        <p:spPr>
          <a:xfrm>
            <a:off x="18160999" y="3428999"/>
            <a:ext cx="2921001" cy="1905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180" name="PCL"/>
          <p:cNvSpPr txBox="1"/>
          <p:nvPr/>
        </p:nvSpPr>
        <p:spPr>
          <a:xfrm>
            <a:off x="18465800" y="3746500"/>
            <a:ext cx="231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PCL</a:t>
            </a:r>
          </a:p>
        </p:txBody>
      </p:sp>
      <p:sp>
        <p:nvSpPr>
          <p:cNvPr id="181" name="정책"/>
          <p:cNvSpPr txBox="1"/>
          <p:nvPr/>
        </p:nvSpPr>
        <p:spPr>
          <a:xfrm>
            <a:off x="18465800" y="4445000"/>
            <a:ext cx="231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정책</a:t>
            </a:r>
          </a:p>
        </p:txBody>
      </p:sp>
      <p:sp>
        <p:nvSpPr>
          <p:cNvPr id="182" name="↓"/>
          <p:cNvSpPr txBox="1"/>
          <p:nvPr/>
        </p:nvSpPr>
        <p:spPr>
          <a:xfrm>
            <a:off x="19050000" y="5588000"/>
            <a:ext cx="1143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183" name="직사각형"/>
          <p:cNvSpPr/>
          <p:nvPr/>
        </p:nvSpPr>
        <p:spPr>
          <a:xfrm>
            <a:off x="16065500" y="6731000"/>
            <a:ext cx="5016500" cy="22225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184" name="x/privacy"/>
          <p:cNvSpPr txBox="1"/>
          <p:nvPr/>
        </p:nvSpPr>
        <p:spPr>
          <a:xfrm>
            <a:off x="16370300" y="7048500"/>
            <a:ext cx="44069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x/privacy</a:t>
            </a:r>
          </a:p>
        </p:txBody>
      </p:sp>
      <p:sp>
        <p:nvSpPr>
          <p:cNvPr id="185" name="proof · note · disclosure"/>
          <p:cNvSpPr txBox="1"/>
          <p:nvPr/>
        </p:nvSpPr>
        <p:spPr>
          <a:xfrm>
            <a:off x="16370300" y="7747000"/>
            <a:ext cx="44069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proof · note · disclosure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오늘 완성할 것"/>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오늘 완성할 것</a:t>
            </a:r>
          </a:p>
        </p:txBody>
      </p:sp>
      <p:sp>
        <p:nvSpPr>
          <p:cNvPr id="191" name="Maroo Testnet의 OKRW, PCL, Privacy 상태를 읽는다…"/>
          <p:cNvSpPr txBox="1">
            <a:spLocks noGrp="1"/>
          </p:cNvSpPr>
          <p:nvPr>
            <p:ph type="body" idx="1"/>
          </p:nvPr>
        </p:nvSpPr>
        <p:spPr>
          <a:prstGeom prst="rect">
            <a:avLst/>
          </a:prstGeom>
        </p:spPr>
        <p:txBody>
          <a:bodyPr/>
          <a:lstStyle/>
          <a:p>
            <a:pPr marL="368300" indent="-368300">
              <a:defRPr sz="2900">
                <a:latin typeface="Apple SD 산돌고딕 Neo 일반체"/>
                <a:ea typeface="Apple SD 산돌고딕 Neo 일반체"/>
                <a:cs typeface="Apple SD 산돌고딕 Neo 일반체"/>
                <a:sym typeface="Apple SD 산돌고딕 Neo 일반체"/>
              </a:defRPr>
            </a:pPr>
            <a:r>
              <a:t>Maroo Testnet의 OKRW, PCL, Privacy 상태를 읽는다</a:t>
            </a:r>
          </a:p>
          <a:p>
            <a:pPr marL="368300" indent="-368300">
              <a:defRPr sz="2900">
                <a:latin typeface="Apple SD 산돌고딕 Neo 일반체"/>
                <a:ea typeface="Apple SD 산돌고딕 Neo 일반체"/>
                <a:cs typeface="Apple SD 산돌고딕 Neo 일반체"/>
                <a:sym typeface="Apple SD 산돌고딕 Neo 일반체"/>
              </a:defRPr>
            </a:pPr>
            <a:r>
              <a:t>Clairveil Local에서 실제 proof와 직원별 scan을 확인한다</a:t>
            </a:r>
          </a:p>
          <a:p>
            <a:pPr marL="368300" indent="-368300">
              <a:defRPr sz="2900">
                <a:latin typeface="Apple SD 산돌고딕 Neo 일반체"/>
                <a:ea typeface="Apple SD 산돌고딕 Neo 일반체"/>
                <a:cs typeface="Apple SD 산돌고딕 Neo 일반체"/>
                <a:sym typeface="Apple SD 산돌고딕 Neo 일반체"/>
              </a:defRPr>
            </a:pPr>
            <a:r>
              <a:t>Maroo Privacy deposit과 transfer를 제출하고 receipt를 판정한다</a:t>
            </a:r>
          </a:p>
          <a:p>
            <a:pPr marL="368300" indent="-368300">
              <a:defRPr sz="2900">
                <a:latin typeface="Apple SD 산돌고딕 Neo 일반체"/>
                <a:ea typeface="Apple SD 산돌고딕 Neo 일반체"/>
                <a:cs typeface="Apple SD 산돌고딕 Neo 일반체"/>
                <a:sym typeface="Apple SD 산돌고딕 Neo 일반체"/>
              </a:defRPr>
            </a:pPr>
            <a:r>
              <a:t>성공, 거부, 미검증을 증거로 구분한다</a:t>
            </a:r>
          </a:p>
        </p:txBody>
      </p:sp>
      <p:sp>
        <p:nvSpPr>
          <p:cNvPr id="192"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참가자와 시나리오"/>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참가자와 시나리오</a:t>
            </a:r>
          </a:p>
        </p:txBody>
      </p:sp>
      <p:sp>
        <p:nvSpPr>
          <p:cNvPr id="198" name="대상: 금융기관의 시니어 백엔드·블록체인 엔지니어…"/>
          <p:cNvSpPr txBox="1">
            <a:spLocks noGrp="1"/>
          </p:cNvSpPr>
          <p:nvPr>
            <p:ph type="body" idx="1"/>
          </p:nvPr>
        </p:nvSpPr>
        <p:spPr>
          <a:prstGeom prst="rect">
            <a:avLst/>
          </a:prstGeom>
        </p:spPr>
        <p:txBody>
          <a:bodyPr/>
          <a:lstStyle/>
          <a:p>
            <a:pPr marL="368300" indent="-368300">
              <a:defRPr sz="2900">
                <a:latin typeface="Apple SD 산돌고딕 Neo 일반체"/>
                <a:ea typeface="Apple SD 산돌고딕 Neo 일반체"/>
                <a:cs typeface="Apple SD 산돌고딕 Neo 일반체"/>
                <a:sym typeface="Apple SD 산돌고딕 Neo 일반체"/>
              </a:defRPr>
            </a:pPr>
            <a:r>
              <a:rPr dirty="0" err="1"/>
              <a:t>대상</a:t>
            </a:r>
            <a:r>
              <a:rPr dirty="0"/>
              <a:t>: </a:t>
            </a:r>
            <a:r>
              <a:rPr dirty="0" err="1"/>
              <a:t>금융기관의</a:t>
            </a:r>
            <a:r>
              <a:rPr dirty="0"/>
              <a:t> </a:t>
            </a:r>
            <a:r>
              <a:rPr dirty="0" err="1"/>
              <a:t>시니어</a:t>
            </a:r>
            <a:r>
              <a:rPr dirty="0"/>
              <a:t> </a:t>
            </a:r>
            <a:r>
              <a:rPr dirty="0" err="1"/>
              <a:t>백엔드·블록체인</a:t>
            </a:r>
            <a:r>
              <a:rPr dirty="0"/>
              <a:t> </a:t>
            </a:r>
            <a:r>
              <a:rPr dirty="0" err="1"/>
              <a:t>엔지니어</a:t>
            </a:r>
            <a:endParaRPr dirty="0"/>
          </a:p>
          <a:p>
            <a:pPr marL="368300" indent="-368300">
              <a:defRPr sz="2900">
                <a:latin typeface="Apple SD 산돌고딕 Neo 일반체"/>
                <a:ea typeface="Apple SD 산돌고딕 Neo 일반체"/>
                <a:cs typeface="Apple SD 산돌고딕 Neo 일반체"/>
                <a:sym typeface="Apple SD 산돌고딕 Neo 일반체"/>
              </a:defRPr>
            </a:pPr>
            <a:r>
              <a:rPr dirty="0" err="1"/>
              <a:t>방식</a:t>
            </a:r>
            <a:r>
              <a:rPr dirty="0"/>
              <a:t>: </a:t>
            </a:r>
            <a:r>
              <a:rPr dirty="0" err="1"/>
              <a:t>각</a:t>
            </a:r>
            <a:r>
              <a:rPr dirty="0"/>
              <a:t> </a:t>
            </a:r>
            <a:r>
              <a:rPr dirty="0" err="1"/>
              <a:t>참가자가</a:t>
            </a:r>
            <a:r>
              <a:rPr dirty="0"/>
              <a:t> </a:t>
            </a:r>
            <a:r>
              <a:rPr dirty="0" err="1"/>
              <a:t>회사</a:t>
            </a:r>
            <a:r>
              <a:rPr dirty="0"/>
              <a:t> </a:t>
            </a:r>
            <a:r>
              <a:rPr dirty="0" err="1"/>
              <a:t>자금관리자와</a:t>
            </a:r>
            <a:r>
              <a:rPr dirty="0"/>
              <a:t> </a:t>
            </a:r>
            <a:r>
              <a:rPr dirty="0" err="1"/>
              <a:t>직원</a:t>
            </a:r>
            <a:r>
              <a:rPr dirty="0"/>
              <a:t> </a:t>
            </a:r>
            <a:r>
              <a:rPr dirty="0" err="1"/>
              <a:t>확인자</a:t>
            </a:r>
            <a:r>
              <a:rPr dirty="0"/>
              <a:t> </a:t>
            </a:r>
            <a:r>
              <a:rPr dirty="0" err="1"/>
              <a:t>역할을</a:t>
            </a:r>
            <a:r>
              <a:rPr dirty="0"/>
              <a:t> </a:t>
            </a:r>
            <a:r>
              <a:rPr dirty="0" err="1"/>
              <a:t>순서대로</a:t>
            </a:r>
            <a:r>
              <a:rPr dirty="0"/>
              <a:t> </a:t>
            </a:r>
            <a:r>
              <a:rPr dirty="0" err="1"/>
              <a:t>수행</a:t>
            </a:r>
            <a:endParaRPr dirty="0"/>
          </a:p>
          <a:p>
            <a:pPr marL="368300" indent="-368300">
              <a:defRPr sz="2900">
                <a:latin typeface="Apple SD 산돌고딕 Neo 일반체"/>
                <a:ea typeface="Apple SD 산돌고딕 Neo 일반체"/>
                <a:cs typeface="Apple SD 산돌고딕 Neo 일반체"/>
                <a:sym typeface="Apple SD 산돌고딕 Neo 일반체"/>
              </a:defRPr>
            </a:pPr>
            <a:r>
              <a:rPr dirty="0" err="1"/>
              <a:t>계획</a:t>
            </a:r>
            <a:r>
              <a:rPr dirty="0"/>
              <a:t>: </a:t>
            </a:r>
            <a:r>
              <a:rPr dirty="0" err="1"/>
              <a:t>합성</a:t>
            </a:r>
            <a:r>
              <a:rPr dirty="0"/>
              <a:t> </a:t>
            </a:r>
            <a:r>
              <a:rPr dirty="0" err="1"/>
              <a:t>급여</a:t>
            </a:r>
            <a:r>
              <a:rPr dirty="0"/>
              <a:t> 300을 EMP-A, EMP-B, EMP-</a:t>
            </a:r>
            <a:r>
              <a:rPr dirty="0" err="1"/>
              <a:t>C에</a:t>
            </a:r>
            <a:r>
              <a:rPr dirty="0"/>
              <a:t> </a:t>
            </a:r>
            <a:r>
              <a:rPr dirty="0" err="1"/>
              <a:t>배분</a:t>
            </a:r>
            <a:endParaRPr dirty="0"/>
          </a:p>
          <a:p>
            <a:pPr marL="368300" indent="-368300">
              <a:defRPr sz="2900">
                <a:latin typeface="Apple SD 산돌고딕 Neo 일반체"/>
                <a:ea typeface="Apple SD 산돌고딕 Neo 일반체"/>
                <a:cs typeface="Apple SD 산돌고딕 Neo 일반체"/>
                <a:sym typeface="Apple SD 산돌고딕 Neo 일반체"/>
              </a:defRPr>
            </a:pPr>
            <a:r>
              <a:rPr dirty="0" err="1"/>
              <a:t>목표</a:t>
            </a:r>
            <a:r>
              <a:rPr dirty="0"/>
              <a:t>: 4주에서 8주 </a:t>
            </a:r>
            <a:r>
              <a:rPr dirty="0" err="1"/>
              <a:t>안에</a:t>
            </a:r>
            <a:r>
              <a:rPr dirty="0"/>
              <a:t> </a:t>
            </a:r>
            <a:r>
              <a:rPr dirty="0" err="1"/>
              <a:t>Maroo</a:t>
            </a:r>
            <a:r>
              <a:rPr dirty="0"/>
              <a:t> </a:t>
            </a:r>
            <a:r>
              <a:rPr dirty="0" err="1"/>
              <a:t>PoC의</a:t>
            </a:r>
            <a:r>
              <a:rPr dirty="0"/>
              <a:t> go </a:t>
            </a:r>
            <a:r>
              <a:rPr dirty="0" err="1"/>
              <a:t>또는</a:t>
            </a:r>
            <a:r>
              <a:rPr dirty="0"/>
              <a:t> no-go </a:t>
            </a:r>
            <a:r>
              <a:rPr dirty="0" err="1"/>
              <a:t>조건</a:t>
            </a:r>
            <a:r>
              <a:rPr dirty="0"/>
              <a:t> </a:t>
            </a:r>
            <a:r>
              <a:rPr dirty="0" err="1"/>
              <a:t>제안</a:t>
            </a:r>
            <a:endParaRPr dirty="0"/>
          </a:p>
        </p:txBody>
      </p:sp>
      <p:sp>
        <p:nvSpPr>
          <p:cNvPr id="199"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75분 진행"/>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75분 진행</a:t>
            </a:r>
          </a:p>
        </p:txBody>
      </p:sp>
      <p:sp>
        <p:nvSpPr>
          <p:cNvPr id="205"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a:t>
            </a:fld>
            <a:endParaRPr/>
          </a:p>
        </p:txBody>
      </p:sp>
      <p:graphicFrame>
        <p:nvGraphicFramePr>
          <p:cNvPr id="206" name="표 1"/>
          <p:cNvGraphicFramePr/>
          <p:nvPr/>
        </p:nvGraphicFramePr>
        <p:xfrm>
          <a:off x="1270000" y="2413000"/>
          <a:ext cx="21844000" cy="8915400"/>
        </p:xfrm>
        <a:graphic>
          <a:graphicData uri="http://schemas.openxmlformats.org/drawingml/2006/table">
            <a:tbl>
              <a:tblPr firstRow="1" firstCol="1">
                <a:tableStyleId>{4C3C2611-4C71-4FC5-86AE-919BDF0F9419}</a:tableStyleId>
              </a:tblPr>
              <a:tblGrid>
                <a:gridCol w="2667000">
                  <a:extLst>
                    <a:ext uri="{9D8B030D-6E8A-4147-A177-3AD203B41FA5}">
                      <a16:colId xmlns:a16="http://schemas.microsoft.com/office/drawing/2014/main" val="20000"/>
                    </a:ext>
                  </a:extLst>
                </a:gridCol>
                <a:gridCol w="6350000">
                  <a:extLst>
                    <a:ext uri="{9D8B030D-6E8A-4147-A177-3AD203B41FA5}">
                      <a16:colId xmlns:a16="http://schemas.microsoft.com/office/drawing/2014/main" val="20001"/>
                    </a:ext>
                  </a:extLst>
                </a:gridCol>
                <a:gridCol w="12827000">
                  <a:extLst>
                    <a:ext uri="{9D8B030D-6E8A-4147-A177-3AD203B41FA5}">
                      <a16:colId xmlns:a16="http://schemas.microsoft.com/office/drawing/2014/main" val="20002"/>
                    </a:ext>
                  </a:extLst>
                </a:gridCol>
              </a:tblGrid>
              <a:tr h="990600">
                <a:tc>
                  <a:txBody>
                    <a:bodyPr/>
                    <a:lstStyle/>
                    <a:p>
                      <a:pPr defTabSz="914400">
                        <a:tabLst>
                          <a:tab pos="1663700" algn="l"/>
                        </a:tabLst>
                        <a:defRPr b="0">
                          <a:solidFill>
                            <a:srgbClr val="000000"/>
                          </a:solidFill>
                        </a:defRPr>
                      </a:pPr>
                      <a:r>
                        <a:rPr sz="3200" b="1">
                          <a:solidFill>
                            <a:srgbClr val="FFFFFF"/>
                          </a:solidFill>
                        </a:rPr>
                        <a:t>시간</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구간</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완료 조건</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00–07</a:t>
                      </a:r>
                    </a:p>
                  </a:txBody>
                  <a:tcPr marL="50800" marR="50800" marT="50800" marB="50800" anchor="ctr" horzOverflow="overflow"/>
                </a:tc>
                <a:tc>
                  <a:txBody>
                    <a:bodyPr/>
                    <a:lstStyle/>
                    <a:p>
                      <a:pPr defTabSz="914400">
                        <a:defRPr>
                          <a:solidFill>
                            <a:srgbClr val="000000"/>
                          </a:solidFill>
                        </a:defRPr>
                      </a:pPr>
                      <a:r>
                        <a:rPr sz="3200">
                          <a:solidFill>
                            <a:srgbClr val="FFFFFF"/>
                          </a:solidFill>
                        </a:rPr>
                        <a:t>목표와 역할</a:t>
                      </a:r>
                    </a:p>
                  </a:txBody>
                  <a:tcPr marL="50800" marR="50800" marT="50800" marB="50800" anchor="ctr" horzOverflow="overflow"/>
                </a:tc>
                <a:tc>
                  <a:txBody>
                    <a:bodyPr/>
                    <a:lstStyle/>
                    <a:p>
                      <a:pPr defTabSz="914400">
                        <a:defRPr>
                          <a:solidFill>
                            <a:srgbClr val="000000"/>
                          </a:solidFill>
                        </a:defRPr>
                      </a:pPr>
                      <a:r>
                        <a:rPr sz="3200">
                          <a:solidFill>
                            <a:srgbClr val="FFFFFF"/>
                          </a:solidFill>
                        </a:rPr>
                        <a:t>급여 완료 조건 설명</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07–17</a:t>
                      </a:r>
                    </a:p>
                  </a:txBody>
                  <a:tcPr marL="50800" marR="50800" marT="50800" marB="50800" anchor="ctr" horzOverflow="overflow"/>
                </a:tc>
                <a:tc>
                  <a:txBody>
                    <a:bodyPr/>
                    <a:lstStyle/>
                    <a:p>
                      <a:pPr defTabSz="914400">
                        <a:defRPr>
                          <a:solidFill>
                            <a:srgbClr val="000000"/>
                          </a:solidFill>
                        </a:defRPr>
                      </a:pPr>
                      <a:r>
                        <a:rPr sz="3200">
                          <a:solidFill>
                            <a:srgbClr val="FFFFFF"/>
                          </a:solidFill>
                        </a:rPr>
                        <a:t>공통 환경</a:t>
                      </a:r>
                    </a:p>
                  </a:txBody>
                  <a:tcPr marL="50800" marR="50800" marT="50800" marB="50800" anchor="ctr" horzOverflow="overflow"/>
                </a:tc>
                <a:tc>
                  <a:txBody>
                    <a:bodyPr/>
                    <a:lstStyle/>
                    <a:p>
                      <a:pPr defTabSz="914400">
                        <a:defRPr>
                          <a:solidFill>
                            <a:srgbClr val="000000"/>
                          </a:solidFill>
                        </a:defRPr>
                      </a:pPr>
                      <a:r>
                        <a:rPr sz="3200">
                          <a:solidFill>
                            <a:srgbClr val="FFFFFF"/>
                          </a:solidFill>
                        </a:rPr>
                        <a:t>환경 readiness 통과</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17–27</a:t>
                      </a:r>
                    </a:p>
                  </a:txBody>
                  <a:tcPr marL="50800" marR="50800" marT="50800" marB="50800" anchor="ctr" horzOverflow="overflow"/>
                </a:tc>
                <a:tc>
                  <a:txBody>
                    <a:bodyPr/>
                    <a:lstStyle/>
                    <a:p>
                      <a:pPr defTabSz="914400">
                        <a:defRPr>
                          <a:solidFill>
                            <a:srgbClr val="000000"/>
                          </a:solidFill>
                        </a:defRPr>
                      </a:pPr>
                      <a:r>
                        <a:rPr sz="3200">
                          <a:solidFill>
                            <a:srgbClr val="FFFFFF"/>
                          </a:solidFill>
                        </a:rPr>
                        <a:t>Maroo 상태</a:t>
                      </a:r>
                    </a:p>
                  </a:txBody>
                  <a:tcPr marL="50800" marR="50800" marT="50800" marB="50800" anchor="ctr" horzOverflow="overflow"/>
                </a:tc>
                <a:tc>
                  <a:txBody>
                    <a:bodyPr/>
                    <a:lstStyle/>
                    <a:p>
                      <a:pPr defTabSz="914400">
                        <a:defRPr>
                          <a:solidFill>
                            <a:srgbClr val="000000"/>
                          </a:solidFill>
                        </a:defRPr>
                      </a:pPr>
                      <a:r>
                        <a:rPr sz="3200">
                          <a:solidFill>
                            <a:srgbClr val="FFFFFF"/>
                          </a:solidFill>
                        </a:rPr>
                        <a:t>chain, OKRW, PCL, Privacy 확인</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27–44</a:t>
                      </a:r>
                    </a:p>
                  </a:txBody>
                  <a:tcPr marL="50800" marR="50800" marT="50800" marB="50800" anchor="ctr" horzOverflow="overflow"/>
                </a:tc>
                <a:tc>
                  <a:txBody>
                    <a:bodyPr/>
                    <a:lstStyle/>
                    <a:p>
                      <a:pPr defTabSz="914400">
                        <a:defRPr>
                          <a:solidFill>
                            <a:srgbClr val="000000"/>
                          </a:solidFill>
                        </a:defRPr>
                      </a:pPr>
                      <a:r>
                        <a:rPr sz="3200">
                          <a:solidFill>
                            <a:srgbClr val="FFFFFF"/>
                          </a:solidFill>
                        </a:rPr>
                        <a:t>Clairveil Local</a:t>
                      </a:r>
                    </a:p>
                  </a:txBody>
                  <a:tcPr marL="50800" marR="50800" marT="50800" marB="50800" anchor="ctr" horzOverflow="overflow"/>
                </a:tc>
                <a:tc>
                  <a:txBody>
                    <a:bodyPr/>
                    <a:lstStyle/>
                    <a:p>
                      <a:pPr defTabSz="914400">
                        <a:defRPr>
                          <a:solidFill>
                            <a:srgbClr val="000000"/>
                          </a:solidFill>
                        </a:defRPr>
                      </a:pPr>
                      <a:r>
                        <a:rPr sz="3200">
                          <a:solidFill>
                            <a:srgbClr val="FFFFFF"/>
                          </a:solidFill>
                        </a:rPr>
                        <a:t>정상 급여와 실패 통제 확인</a:t>
                      </a:r>
                    </a:p>
                  </a:txBody>
                  <a:tcPr marL="50800" marR="50800" marT="50800" marB="50800" anchor="ctr" horzOverflow="overflow"/>
                </a:tc>
                <a:extLst>
                  <a:ext uri="{0D108BD9-81ED-4DB2-BD59-A6C34878D82A}">
                    <a16:rowId xmlns:a16="http://schemas.microsoft.com/office/drawing/2014/main" val="10004"/>
                  </a:ext>
                </a:extLst>
              </a:tr>
              <a:tr h="990600">
                <a:tc>
                  <a:txBody>
                    <a:bodyPr/>
                    <a:lstStyle/>
                    <a:p>
                      <a:pPr defTabSz="914400">
                        <a:tabLst>
                          <a:tab pos="1663700" algn="l"/>
                        </a:tabLst>
                        <a:defRPr b="0">
                          <a:solidFill>
                            <a:srgbClr val="000000"/>
                          </a:solidFill>
                        </a:defRPr>
                      </a:pPr>
                      <a:r>
                        <a:rPr sz="3200" b="1">
                          <a:solidFill>
                            <a:srgbClr val="FFFFFF"/>
                          </a:solidFill>
                        </a:rPr>
                        <a:t>44–52</a:t>
                      </a:r>
                    </a:p>
                  </a:txBody>
                  <a:tcPr marL="50800" marR="50800" marT="50800" marB="50800" anchor="ctr" horzOverflow="overflow"/>
                </a:tc>
                <a:tc>
                  <a:txBody>
                    <a:bodyPr/>
                    <a:lstStyle/>
                    <a:p>
                      <a:pPr defTabSz="914400">
                        <a:defRPr>
                          <a:solidFill>
                            <a:srgbClr val="000000"/>
                          </a:solidFill>
                        </a:defRPr>
                      </a:pPr>
                      <a:r>
                        <a:rPr sz="3200">
                          <a:solidFill>
                            <a:srgbClr val="FFFFFF"/>
                          </a:solidFill>
                        </a:rPr>
                        <a:t>Maroo 매핑</a:t>
                      </a:r>
                    </a:p>
                  </a:txBody>
                  <a:tcPr marL="50800" marR="50800" marT="50800" marB="50800" anchor="ctr" horzOverflow="overflow"/>
                </a:tc>
                <a:tc>
                  <a:txBody>
                    <a:bodyPr/>
                    <a:lstStyle/>
                    <a:p>
                      <a:pPr defTabSz="914400">
                        <a:defRPr>
                          <a:solidFill>
                            <a:srgbClr val="000000"/>
                          </a:solidFill>
                        </a:defRPr>
                      </a:pPr>
                      <a:r>
                        <a:rPr sz="3200">
                          <a:solidFill>
                            <a:srgbClr val="FFFFFF"/>
                          </a:solidFill>
                        </a:rPr>
                        <a:t>PCL과 애플리케이션 책임 구분</a:t>
                      </a:r>
                    </a:p>
                  </a:txBody>
                  <a:tcPr marL="50800" marR="50800" marT="50800" marB="50800" anchor="ctr" horzOverflow="overflow"/>
                </a:tc>
                <a:extLst>
                  <a:ext uri="{0D108BD9-81ED-4DB2-BD59-A6C34878D82A}">
                    <a16:rowId xmlns:a16="http://schemas.microsoft.com/office/drawing/2014/main" val="10005"/>
                  </a:ext>
                </a:extLst>
              </a:tr>
              <a:tr h="990600">
                <a:tc>
                  <a:txBody>
                    <a:bodyPr/>
                    <a:lstStyle/>
                    <a:p>
                      <a:pPr defTabSz="914400">
                        <a:tabLst>
                          <a:tab pos="1663700" algn="l"/>
                        </a:tabLst>
                        <a:defRPr b="0">
                          <a:solidFill>
                            <a:srgbClr val="000000"/>
                          </a:solidFill>
                        </a:defRPr>
                      </a:pPr>
                      <a:r>
                        <a:rPr sz="3200" b="1">
                          <a:solidFill>
                            <a:srgbClr val="FFFFFF"/>
                          </a:solidFill>
                        </a:rPr>
                        <a:t>52–63</a:t>
                      </a:r>
                    </a:p>
                  </a:txBody>
                  <a:tcPr marL="50800" marR="50800" marT="50800" marB="50800" anchor="ctr" horzOverflow="overflow"/>
                </a:tc>
                <a:tc>
                  <a:txBody>
                    <a:bodyPr/>
                    <a:lstStyle/>
                    <a:p>
                      <a:pPr defTabSz="914400">
                        <a:defRPr>
                          <a:solidFill>
                            <a:srgbClr val="000000"/>
                          </a:solidFill>
                        </a:defRPr>
                      </a:pPr>
                      <a:r>
                        <a:rPr sz="3200">
                          <a:solidFill>
                            <a:srgbClr val="FFFFFF"/>
                          </a:solidFill>
                        </a:rPr>
                        <a:t>Maroo 실행</a:t>
                      </a:r>
                    </a:p>
                  </a:txBody>
                  <a:tcPr marL="50800" marR="50800" marT="50800" marB="50800" anchor="ctr" horzOverflow="overflow"/>
                </a:tc>
                <a:tc>
                  <a:txBody>
                    <a:bodyPr/>
                    <a:lstStyle/>
                    <a:p>
                      <a:pPr defTabSz="914400">
                        <a:defRPr>
                          <a:solidFill>
                            <a:srgbClr val="000000"/>
                          </a:solidFill>
                        </a:defRPr>
                      </a:pPr>
                      <a:r>
                        <a:rPr sz="3200">
                          <a:solidFill>
                            <a:srgbClr val="FFFFFF"/>
                          </a:solidFill>
                        </a:rPr>
                        <a:t>deposit과 transfer receipt 확보</a:t>
                      </a:r>
                    </a:p>
                  </a:txBody>
                  <a:tcPr marL="50800" marR="50800" marT="50800" marB="50800" anchor="ctr" horzOverflow="overflow"/>
                </a:tc>
                <a:extLst>
                  <a:ext uri="{0D108BD9-81ED-4DB2-BD59-A6C34878D82A}">
                    <a16:rowId xmlns:a16="http://schemas.microsoft.com/office/drawing/2014/main" val="10006"/>
                  </a:ext>
                </a:extLst>
              </a:tr>
              <a:tr h="990600">
                <a:tc>
                  <a:txBody>
                    <a:bodyPr/>
                    <a:lstStyle/>
                    <a:p>
                      <a:pPr defTabSz="914400">
                        <a:tabLst>
                          <a:tab pos="1663700" algn="l"/>
                        </a:tabLst>
                        <a:defRPr b="0">
                          <a:solidFill>
                            <a:srgbClr val="000000"/>
                          </a:solidFill>
                        </a:defRPr>
                      </a:pPr>
                      <a:r>
                        <a:rPr sz="3200" b="1">
                          <a:solidFill>
                            <a:srgbClr val="FFFFFF"/>
                          </a:solidFill>
                        </a:rPr>
                        <a:t>63–69</a:t>
                      </a:r>
                    </a:p>
                  </a:txBody>
                  <a:tcPr marL="50800" marR="50800" marT="50800" marB="50800" anchor="ctr" horzOverflow="overflow"/>
                </a:tc>
                <a:tc>
                  <a:txBody>
                    <a:bodyPr/>
                    <a:lstStyle/>
                    <a:p>
                      <a:pPr defTabSz="914400">
                        <a:defRPr>
                          <a:solidFill>
                            <a:srgbClr val="000000"/>
                          </a:solidFill>
                        </a:defRPr>
                      </a:pPr>
                      <a:r>
                        <a:rPr sz="3200">
                          <a:solidFill>
                            <a:srgbClr val="FFFFFF"/>
                          </a:solidFill>
                        </a:rPr>
                        <a:t>판정</a:t>
                      </a:r>
                    </a:p>
                  </a:txBody>
                  <a:tcPr marL="50800" marR="50800" marT="50800" marB="50800" anchor="ctr" horzOverflow="overflow"/>
                </a:tc>
                <a:tc>
                  <a:txBody>
                    <a:bodyPr/>
                    <a:lstStyle/>
                    <a:p>
                      <a:pPr defTabSz="914400">
                        <a:defRPr>
                          <a:solidFill>
                            <a:srgbClr val="000000"/>
                          </a:solidFill>
                        </a:defRPr>
                      </a:pPr>
                      <a:r>
                        <a:rPr sz="3200">
                          <a:solidFill>
                            <a:srgbClr val="FFFFFF"/>
                          </a:solidFill>
                        </a:rPr>
                        <a:t>첫 실패 계층 분류</a:t>
                      </a:r>
                    </a:p>
                  </a:txBody>
                  <a:tcPr marL="50800" marR="50800" marT="50800" marB="50800" anchor="ctr" horzOverflow="overflow"/>
                </a:tc>
                <a:extLst>
                  <a:ext uri="{0D108BD9-81ED-4DB2-BD59-A6C34878D82A}">
                    <a16:rowId xmlns:a16="http://schemas.microsoft.com/office/drawing/2014/main" val="10007"/>
                  </a:ext>
                </a:extLst>
              </a:tr>
              <a:tr h="990600">
                <a:tc>
                  <a:txBody>
                    <a:bodyPr/>
                    <a:lstStyle/>
                    <a:p>
                      <a:pPr defTabSz="914400">
                        <a:tabLst>
                          <a:tab pos="1663700" algn="l"/>
                        </a:tabLst>
                        <a:defRPr b="0">
                          <a:solidFill>
                            <a:srgbClr val="000000"/>
                          </a:solidFill>
                        </a:defRPr>
                      </a:pPr>
                      <a:r>
                        <a:rPr sz="3200" b="1">
                          <a:solidFill>
                            <a:srgbClr val="FFFFFF"/>
                          </a:solidFill>
                        </a:rPr>
                        <a:t>69–75</a:t>
                      </a:r>
                    </a:p>
                  </a:txBody>
                  <a:tcPr marL="50800" marR="50800" marT="50800" marB="50800" anchor="ctr" horzOverflow="overflow"/>
                </a:tc>
                <a:tc>
                  <a:txBody>
                    <a:bodyPr/>
                    <a:lstStyle/>
                    <a:p>
                      <a:pPr defTabSz="914400">
                        <a:defRPr>
                          <a:solidFill>
                            <a:srgbClr val="000000"/>
                          </a:solidFill>
                        </a:defRPr>
                      </a:pPr>
                      <a:r>
                        <a:rPr sz="3200">
                          <a:solidFill>
                            <a:srgbClr val="FFFFFF"/>
                          </a:solidFill>
                        </a:rPr>
                        <a:t>종료</a:t>
                      </a:r>
                    </a:p>
                  </a:txBody>
                  <a:tcPr marL="50800" marR="50800" marT="50800" marB="50800" anchor="ctr" horzOverflow="overflow"/>
                </a:tc>
                <a:tc>
                  <a:txBody>
                    <a:bodyPr/>
                    <a:lstStyle/>
                    <a:p>
                      <a:pPr defTabSz="914400">
                        <a:defRPr>
                          <a:solidFill>
                            <a:srgbClr val="000000"/>
                          </a:solidFill>
                        </a:defRPr>
                      </a:pPr>
                      <a:r>
                        <a:rPr sz="3200">
                          <a:solidFill>
                            <a:srgbClr val="FFFFFF"/>
                          </a:solidFill>
                        </a:rPr>
                        <a:t>증거와 다음 단계 기록</a:t>
                      </a:r>
                    </a:p>
                  </a:txBody>
                  <a:tcPr marL="50800" marR="50800" marT="50800" marB="50800" anchor="ctr" horzOverflow="overflow"/>
                </a:tc>
                <a:extLst>
                  <a:ext uri="{0D108BD9-81ED-4DB2-BD59-A6C34878D82A}">
                    <a16:rowId xmlns:a16="http://schemas.microsoft.com/office/drawing/2014/main" val="10008"/>
                  </a:ext>
                </a:extLst>
              </a:tr>
            </a:tbl>
          </a:graphicData>
        </a:graphic>
      </p:graphicFrame>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증거 라벨"/>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증거 라벨</a:t>
            </a:r>
          </a:p>
        </p:txBody>
      </p:sp>
      <p:sp>
        <p:nvSpPr>
          <p:cNvPr id="212"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graphicFrame>
        <p:nvGraphicFramePr>
          <p:cNvPr id="213" name="표 1"/>
          <p:cNvGraphicFramePr/>
          <p:nvPr/>
        </p:nvGraphicFramePr>
        <p:xfrm>
          <a:off x="1270000" y="2413000"/>
          <a:ext cx="21844000" cy="4953000"/>
        </p:xfrm>
        <a:graphic>
          <a:graphicData uri="http://schemas.openxmlformats.org/drawingml/2006/table">
            <a:tbl>
              <a:tblPr firstRow="1" firstCol="1">
                <a:tableStyleId>{4C3C2611-4C71-4FC5-86AE-919BDF0F9419}</a:tableStyleId>
              </a:tblPr>
              <a:tblGrid>
                <a:gridCol w="3937000">
                  <a:extLst>
                    <a:ext uri="{9D8B030D-6E8A-4147-A177-3AD203B41FA5}">
                      <a16:colId xmlns:a16="http://schemas.microsoft.com/office/drawing/2014/main" val="20000"/>
                    </a:ext>
                  </a:extLst>
                </a:gridCol>
                <a:gridCol w="7747000">
                  <a:extLst>
                    <a:ext uri="{9D8B030D-6E8A-4147-A177-3AD203B41FA5}">
                      <a16:colId xmlns:a16="http://schemas.microsoft.com/office/drawing/2014/main" val="20001"/>
                    </a:ext>
                  </a:extLst>
                </a:gridCol>
                <a:gridCol w="10160000">
                  <a:extLst>
                    <a:ext uri="{9D8B030D-6E8A-4147-A177-3AD203B41FA5}">
                      <a16:colId xmlns:a16="http://schemas.microsoft.com/office/drawing/2014/main" val="20002"/>
                    </a:ext>
                  </a:extLst>
                </a:gridCol>
              </a:tblGrid>
              <a:tr h="990600">
                <a:tc>
                  <a:txBody>
                    <a:bodyPr/>
                    <a:lstStyle/>
                    <a:p>
                      <a:pPr defTabSz="914400">
                        <a:tabLst>
                          <a:tab pos="1663700" algn="l"/>
                        </a:tabLst>
                        <a:defRPr b="0">
                          <a:solidFill>
                            <a:srgbClr val="000000"/>
                          </a:solidFill>
                        </a:defRPr>
                      </a:pPr>
                      <a:r>
                        <a:rPr sz="3200" b="1">
                          <a:solidFill>
                            <a:srgbClr val="FFFFFF"/>
                          </a:solidFill>
                        </a:rPr>
                        <a:t>라벨</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의미</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이번 워크숍 예</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[Live Testnet]</a:t>
                      </a:r>
                    </a:p>
                  </a:txBody>
                  <a:tcPr marL="50800" marR="50800" marT="50800" marB="50800" anchor="ctr" horzOverflow="overflow"/>
                </a:tc>
                <a:tc>
                  <a:txBody>
                    <a:bodyPr/>
                    <a:lstStyle/>
                    <a:p>
                      <a:pPr defTabSz="914400">
                        <a:defRPr>
                          <a:solidFill>
                            <a:srgbClr val="000000"/>
                          </a:solidFill>
                        </a:defRPr>
                      </a:pPr>
                      <a:r>
                        <a:rPr sz="3200">
                          <a:solidFill>
                            <a:srgbClr val="FFFFFF"/>
                          </a:solidFill>
                        </a:rPr>
                        <a:t>Maroo RPC를 실제 사용</a:t>
                      </a:r>
                    </a:p>
                  </a:txBody>
                  <a:tcPr marL="50800" marR="50800" marT="50800" marB="50800" anchor="ctr" horzOverflow="overflow"/>
                </a:tc>
                <a:tc>
                  <a:txBody>
                    <a:bodyPr/>
                    <a:lstStyle/>
                    <a:p>
                      <a:pPr defTabSz="914400">
                        <a:defRPr>
                          <a:solidFill>
                            <a:srgbClr val="000000"/>
                          </a:solidFill>
                        </a:defRPr>
                      </a:pPr>
                      <a:r>
                        <a:rPr sz="3200">
                          <a:solidFill>
                            <a:srgbClr val="FFFFFF"/>
                          </a:solidFill>
                        </a:rPr>
                        <a:t>read-only 상태와 실패 receipt</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[Local]</a:t>
                      </a:r>
                    </a:p>
                  </a:txBody>
                  <a:tcPr marL="50800" marR="50800" marT="50800" marB="50800" anchor="ctr" horzOverflow="overflow"/>
                </a:tc>
                <a:tc>
                  <a:txBody>
                    <a:bodyPr/>
                    <a:lstStyle/>
                    <a:p>
                      <a:pPr defTabSz="914400">
                        <a:defRPr>
                          <a:solidFill>
                            <a:srgbClr val="000000"/>
                          </a:solidFill>
                        </a:defRPr>
                      </a:pPr>
                      <a:r>
                        <a:rPr sz="3200">
                          <a:solidFill>
                            <a:srgbClr val="FFFFFF"/>
                          </a:solidFill>
                        </a:rPr>
                        <a:t>Clairveil localnet 상태 변경</a:t>
                      </a:r>
                    </a:p>
                  </a:txBody>
                  <a:tcPr marL="50800" marR="50800" marT="50800" marB="50800" anchor="ctr" horzOverflow="overflow"/>
                </a:tc>
                <a:tc>
                  <a:txBody>
                    <a:bodyPr/>
                    <a:lstStyle/>
                    <a:p>
                      <a:pPr defTabSz="914400">
                        <a:defRPr>
                          <a:solidFill>
                            <a:srgbClr val="000000"/>
                          </a:solidFill>
                        </a:defRPr>
                      </a:pPr>
                      <a:r>
                        <a:rPr sz="3200">
                          <a:solidFill>
                            <a:srgbClr val="FFFFFF"/>
                          </a:solidFill>
                        </a:rPr>
                        <a:t>deposit, batch, 직원별 scan</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[Simulation]</a:t>
                      </a:r>
                    </a:p>
                  </a:txBody>
                  <a:tcPr marL="50800" marR="50800" marT="50800" marB="50800" anchor="ctr" horzOverflow="overflow"/>
                </a:tc>
                <a:tc>
                  <a:txBody>
                    <a:bodyPr/>
                    <a:lstStyle/>
                    <a:p>
                      <a:pPr defTabSz="914400">
                        <a:defRPr>
                          <a:solidFill>
                            <a:srgbClr val="000000"/>
                          </a:solidFill>
                        </a:defRPr>
                      </a:pPr>
                      <a:r>
                        <a:rPr sz="3200">
                          <a:solidFill>
                            <a:srgbClr val="FFFFFF"/>
                          </a:solidFill>
                        </a:rPr>
                        <a:t>체인 없이 계약 규칙 검사</a:t>
                      </a:r>
                    </a:p>
                  </a:txBody>
                  <a:tcPr marL="50800" marR="50800" marT="50800" marB="50800" anchor="ctr" horzOverflow="overflow"/>
                </a:tc>
                <a:tc>
                  <a:txBody>
                    <a:bodyPr/>
                    <a:lstStyle/>
                    <a:p>
                      <a:pPr defTabSz="914400">
                        <a:defRPr>
                          <a:solidFill>
                            <a:srgbClr val="000000"/>
                          </a:solidFill>
                        </a:defRPr>
                      </a:pPr>
                      <a:r>
                        <a:rPr sz="3200">
                          <a:solidFill>
                            <a:srgbClr val="FFFFFF"/>
                          </a:solidFill>
                        </a:rPr>
                        <a:t>bundle과 대사 negative test</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[Docs Only]</a:t>
                      </a:r>
                    </a:p>
                  </a:txBody>
                  <a:tcPr marL="50800" marR="50800" marT="50800" marB="50800" anchor="ctr" horzOverflow="overflow"/>
                </a:tc>
                <a:tc>
                  <a:txBody>
                    <a:bodyPr/>
                    <a:lstStyle/>
                    <a:p>
                      <a:pPr defTabSz="914400">
                        <a:defRPr>
                          <a:solidFill>
                            <a:srgbClr val="000000"/>
                          </a:solidFill>
                        </a:defRPr>
                      </a:pPr>
                      <a:r>
                        <a:rPr sz="3200">
                          <a:solidFill>
                            <a:srgbClr val="FFFFFF"/>
                          </a:solidFill>
                        </a:rPr>
                        <a:t>문서와 ABI에서만 확인</a:t>
                      </a:r>
                    </a:p>
                  </a:txBody>
                  <a:tcPr marL="50800" marR="50800" marT="50800" marB="50800" anchor="ctr" horzOverflow="overflow"/>
                </a:tc>
                <a:tc>
                  <a:txBody>
                    <a:bodyPr/>
                    <a:lstStyle/>
                    <a:p>
                      <a:pPr defTabSz="914400">
                        <a:defRPr>
                          <a:solidFill>
                            <a:srgbClr val="000000"/>
                          </a:solidFill>
                        </a:defRPr>
                      </a:pPr>
                      <a:r>
                        <a:rPr sz="3200">
                          <a:solidFill>
                            <a:srgbClr val="FFFFFF"/>
                          </a:solidFill>
                        </a:rPr>
                        <a:t>호환 prover 요구사항</a:t>
                      </a:r>
                    </a:p>
                  </a:txBody>
                  <a:tcPr marL="50800" marR="50800" marT="50800" marB="50800" anchor="ctr" horzOverflow="overflow"/>
                </a:tc>
                <a:extLst>
                  <a:ext uri="{0D108BD9-81ED-4DB2-BD59-A6C34878D82A}">
                    <a16:rowId xmlns:a16="http://schemas.microsoft.com/office/drawing/2014/main" val="10004"/>
                  </a:ext>
                </a:extLst>
              </a:tr>
            </a:tbl>
          </a:graphicData>
        </a:graphic>
      </p:graphicFrame>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급여 완료의 네 단계"/>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급여 완료의 네 단계</a:t>
            </a:r>
          </a:p>
        </p:txBody>
      </p:sp>
      <p:sp>
        <p:nvSpPr>
          <p:cNvPr id="219"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sp>
        <p:nvSpPr>
          <p:cNvPr id="220" name="01"/>
          <p:cNvSpPr txBox="1"/>
          <p:nvPr/>
        </p:nvSpPr>
        <p:spPr>
          <a:xfrm>
            <a:off x="1397000" y="3238500"/>
            <a:ext cx="1524000"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300">
                <a:solidFill>
                  <a:srgbClr val="00E9FF"/>
                </a:solidFill>
                <a:latin typeface="Apple SD 산돌고딕 Neo 볼드체"/>
                <a:ea typeface="Apple SD 산돌고딕 Neo 볼드체"/>
                <a:cs typeface="Apple SD 산돌고딕 Neo 볼드체"/>
                <a:sym typeface="Apple SD 산돌고딕 Neo 볼드체"/>
              </a:defRPr>
            </a:lvl1pPr>
          </a:lstStyle>
          <a:p>
            <a:r>
              <a:t>01</a:t>
            </a:r>
          </a:p>
        </p:txBody>
      </p:sp>
      <p:sp>
        <p:nvSpPr>
          <p:cNvPr id="221" name="Deposit"/>
          <p:cNvSpPr txBox="1"/>
          <p:nvPr/>
        </p:nvSpPr>
        <p:spPr>
          <a:xfrm>
            <a:off x="1397000" y="4508500"/>
            <a:ext cx="457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latin typeface="Apple SD 산돌고딕 Neo 볼드체"/>
                <a:ea typeface="Apple SD 산돌고딕 Neo 볼드체"/>
                <a:cs typeface="Apple SD 산돌고딕 Neo 볼드체"/>
                <a:sym typeface="Apple SD 산돌고딕 Neo 볼드체"/>
              </a:defRPr>
            </a:lvl1pPr>
          </a:lstStyle>
          <a:p>
            <a:r>
              <a:t>Deposit</a:t>
            </a:r>
          </a:p>
        </p:txBody>
      </p:sp>
      <p:sp>
        <p:nvSpPr>
          <p:cNvPr id="222" name="회사 자금을 privacy pool에 넣고 treasury note를 확인"/>
          <p:cNvSpPr txBox="1"/>
          <p:nvPr/>
        </p:nvSpPr>
        <p:spPr>
          <a:xfrm>
            <a:off x="1397000" y="5778500"/>
            <a:ext cx="4572000" cy="801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BEC9D4"/>
                </a:solidFill>
                <a:latin typeface="Apple SD 산돌고딕 Neo 일반체"/>
                <a:ea typeface="Apple SD 산돌고딕 Neo 일반체"/>
                <a:cs typeface="Apple SD 산돌고딕 Neo 일반체"/>
                <a:sym typeface="Apple SD 산돌고딕 Neo 일반체"/>
              </a:defRPr>
            </a:lvl1pPr>
          </a:lstStyle>
          <a:p>
            <a:r>
              <a:t>회사 자금을 privacy pool에 넣고 treasury note를 확인</a:t>
            </a:r>
          </a:p>
        </p:txBody>
      </p:sp>
      <p:sp>
        <p:nvSpPr>
          <p:cNvPr id="223" name="02"/>
          <p:cNvSpPr txBox="1"/>
          <p:nvPr/>
        </p:nvSpPr>
        <p:spPr>
          <a:xfrm>
            <a:off x="7112000" y="3238500"/>
            <a:ext cx="1524000"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300">
                <a:solidFill>
                  <a:srgbClr val="00E9FF"/>
                </a:solidFill>
                <a:latin typeface="Apple SD 산돌고딕 Neo 볼드체"/>
                <a:ea typeface="Apple SD 산돌고딕 Neo 볼드체"/>
                <a:cs typeface="Apple SD 산돌고딕 Neo 볼드체"/>
                <a:sym typeface="Apple SD 산돌고딕 Neo 볼드체"/>
              </a:defRPr>
            </a:lvl1pPr>
          </a:lstStyle>
          <a:p>
            <a:r>
              <a:t>02</a:t>
            </a:r>
          </a:p>
        </p:txBody>
      </p:sp>
      <p:sp>
        <p:nvSpPr>
          <p:cNvPr id="224" name="Batch"/>
          <p:cNvSpPr txBox="1"/>
          <p:nvPr/>
        </p:nvSpPr>
        <p:spPr>
          <a:xfrm>
            <a:off x="7112000" y="4508500"/>
            <a:ext cx="457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latin typeface="Apple SD 산돌고딕 Neo 볼드체"/>
                <a:ea typeface="Apple SD 산돌고딕 Neo 볼드체"/>
                <a:cs typeface="Apple SD 산돌고딕 Neo 볼드체"/>
                <a:sym typeface="Apple SD 산돌고딕 Neo 볼드체"/>
              </a:defRPr>
            </a:lvl1pPr>
          </a:lstStyle>
          <a:p>
            <a:r>
              <a:t>Batch</a:t>
            </a:r>
          </a:p>
        </p:txBody>
      </p:sp>
      <p:sp>
        <p:nvSpPr>
          <p:cNvPr id="225" name="proof 하나로 직원 output 세 개 생성"/>
          <p:cNvSpPr txBox="1"/>
          <p:nvPr/>
        </p:nvSpPr>
        <p:spPr>
          <a:xfrm>
            <a:off x="7112000" y="5778500"/>
            <a:ext cx="4572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BEC9D4"/>
                </a:solidFill>
                <a:latin typeface="Apple SD 산돌고딕 Neo 일반체"/>
                <a:ea typeface="Apple SD 산돌고딕 Neo 일반체"/>
                <a:cs typeface="Apple SD 산돌고딕 Neo 일반체"/>
                <a:sym typeface="Apple SD 산돌고딕 Neo 일반체"/>
              </a:defRPr>
            </a:lvl1pPr>
          </a:lstStyle>
          <a:p>
            <a:r>
              <a:t>proof 하나로 직원 output 세 개 생성</a:t>
            </a:r>
          </a:p>
        </p:txBody>
      </p:sp>
      <p:sp>
        <p:nvSpPr>
          <p:cNvPr id="226" name="03"/>
          <p:cNvSpPr txBox="1"/>
          <p:nvPr/>
        </p:nvSpPr>
        <p:spPr>
          <a:xfrm>
            <a:off x="12827000" y="3238500"/>
            <a:ext cx="1524000"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300">
                <a:solidFill>
                  <a:srgbClr val="00E9FF"/>
                </a:solidFill>
                <a:latin typeface="Apple SD 산돌고딕 Neo 볼드체"/>
                <a:ea typeface="Apple SD 산돌고딕 Neo 볼드체"/>
                <a:cs typeface="Apple SD 산돌고딕 Neo 볼드체"/>
                <a:sym typeface="Apple SD 산돌고딕 Neo 볼드체"/>
              </a:defRPr>
            </a:lvl1pPr>
          </a:lstStyle>
          <a:p>
            <a:r>
              <a:t>03</a:t>
            </a:r>
          </a:p>
        </p:txBody>
      </p:sp>
      <p:sp>
        <p:nvSpPr>
          <p:cNvPr id="227" name="Scan"/>
          <p:cNvSpPr txBox="1"/>
          <p:nvPr/>
        </p:nvSpPr>
        <p:spPr>
          <a:xfrm>
            <a:off x="12827000" y="4508500"/>
            <a:ext cx="457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latin typeface="Apple SD 산돌고딕 Neo 볼드체"/>
                <a:ea typeface="Apple SD 산돌고딕 Neo 볼드체"/>
                <a:cs typeface="Apple SD 산돌고딕 Neo 볼드체"/>
                <a:sym typeface="Apple SD 산돌고딕 Neo 볼드체"/>
              </a:defRPr>
            </a:lvl1pPr>
          </a:lstStyle>
          <a:p>
            <a:r>
              <a:t>Scan</a:t>
            </a:r>
          </a:p>
        </p:txBody>
      </p:sp>
      <p:sp>
        <p:nvSpPr>
          <p:cNvPr id="228" name="EMP-A, EMP-B, EMP-C가 각자 note 탐색"/>
          <p:cNvSpPr txBox="1"/>
          <p:nvPr/>
        </p:nvSpPr>
        <p:spPr>
          <a:xfrm>
            <a:off x="12827000" y="5778500"/>
            <a:ext cx="4572000" cy="801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BEC9D4"/>
                </a:solidFill>
                <a:latin typeface="Apple SD 산돌고딕 Neo 일반체"/>
                <a:ea typeface="Apple SD 산돌고딕 Neo 일반체"/>
                <a:cs typeface="Apple SD 산돌고딕 Neo 일반체"/>
                <a:sym typeface="Apple SD 산돌고딕 Neo 일반체"/>
              </a:defRPr>
            </a:lvl1pPr>
          </a:lstStyle>
          <a:p>
            <a:r>
              <a:t>EMP-A, EMP-B, EMP-C가 각자 note 탐색</a:t>
            </a:r>
          </a:p>
        </p:txBody>
      </p:sp>
      <p:sp>
        <p:nvSpPr>
          <p:cNvPr id="229" name="04"/>
          <p:cNvSpPr txBox="1"/>
          <p:nvPr/>
        </p:nvSpPr>
        <p:spPr>
          <a:xfrm>
            <a:off x="18542000" y="3238500"/>
            <a:ext cx="1524000" cy="762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300">
                <a:solidFill>
                  <a:srgbClr val="00E9FF"/>
                </a:solidFill>
                <a:latin typeface="Apple SD 산돌고딕 Neo 볼드체"/>
                <a:ea typeface="Apple SD 산돌고딕 Neo 볼드체"/>
                <a:cs typeface="Apple SD 산돌고딕 Neo 볼드체"/>
                <a:sym typeface="Apple SD 산돌고딕 Neo 볼드체"/>
              </a:defRPr>
            </a:lvl1pPr>
          </a:lstStyle>
          <a:p>
            <a:r>
              <a:t>04</a:t>
            </a:r>
          </a:p>
        </p:txBody>
      </p:sp>
      <p:sp>
        <p:nvSpPr>
          <p:cNvPr id="230" name="Audit"/>
          <p:cNvSpPr txBox="1"/>
          <p:nvPr/>
        </p:nvSpPr>
        <p:spPr>
          <a:xfrm>
            <a:off x="18542000" y="4508500"/>
            <a:ext cx="457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latin typeface="Apple SD 산돌고딕 Neo 볼드체"/>
                <a:ea typeface="Apple SD 산돌고딕 Neo 볼드체"/>
                <a:cs typeface="Apple SD 산돌고딕 Neo 볼드체"/>
                <a:sym typeface="Apple SD 산돌고딕 Neo 볼드체"/>
              </a:defRPr>
            </a:lvl1pPr>
          </a:lstStyle>
          <a:p>
            <a:r>
              <a:t>Audit</a:t>
            </a:r>
          </a:p>
        </p:txBody>
      </p:sp>
      <p:sp>
        <p:nvSpPr>
          <p:cNvPr id="231" name="총액, disclosure, key epoch를 대사"/>
          <p:cNvSpPr txBox="1"/>
          <p:nvPr/>
        </p:nvSpPr>
        <p:spPr>
          <a:xfrm>
            <a:off x="18542000" y="5778500"/>
            <a:ext cx="4572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BEC9D4"/>
                </a:solidFill>
                <a:latin typeface="Apple SD 산돌고딕 Neo 일반체"/>
                <a:ea typeface="Apple SD 산돌고딕 Neo 일반체"/>
                <a:cs typeface="Apple SD 산돌고딕 Neo 일반체"/>
                <a:sym typeface="Apple SD 산돌고딕 Neo 일반체"/>
              </a:defRPr>
            </a:lvl1pPr>
          </a:lstStyle>
          <a:p>
            <a:r>
              <a:t>총액, disclosure, key epoch를 대사</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sp>
        <p:nvSpPr>
          <p:cNvPr id="236" name="Maroo 비공개 급여 아키텍처와 신뢰 경계"/>
          <p:cNvSpPr txBox="1"/>
          <p:nvPr/>
        </p:nvSpPr>
        <p:spPr>
          <a:xfrm>
            <a:off x="1270000" y="698500"/>
            <a:ext cx="19685000" cy="825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a:latin typeface="Apple SD 산돌고딕 Neo 볼드체"/>
                <a:ea typeface="Apple SD 산돌고딕 Neo 볼드체"/>
                <a:cs typeface="Apple SD 산돌고딕 Neo 볼드체"/>
                <a:sym typeface="Apple SD 산돌고딕 Neo 볼드체"/>
              </a:defRPr>
            </a:lvl1pPr>
          </a:lstStyle>
          <a:p>
            <a:r>
              <a:t>Maroo 비공개 급여 아키텍처와 신뢰 경계</a:t>
            </a:r>
          </a:p>
        </p:txBody>
      </p:sp>
      <p:sp>
        <p:nvSpPr>
          <p:cNvPr id="237" name="직사각형"/>
          <p:cNvSpPr/>
          <p:nvPr/>
        </p:nvSpPr>
        <p:spPr>
          <a:xfrm>
            <a:off x="888999" y="2095500"/>
            <a:ext cx="12700002" cy="9271000"/>
          </a:xfrm>
          <a:prstGeom prst="rect">
            <a:avLst/>
          </a:prstGeom>
          <a:solidFill>
            <a:srgbClr val="FFFFFF">
              <a:alpha val="5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38" name="사각형"/>
          <p:cNvSpPr/>
          <p:nvPr/>
        </p:nvSpPr>
        <p:spPr>
          <a:xfrm>
            <a:off x="14223999" y="2095500"/>
            <a:ext cx="9271001" cy="9271000"/>
          </a:xfrm>
          <a:prstGeom prst="rect">
            <a:avLst/>
          </a:prstGeom>
          <a:solidFill>
            <a:srgbClr val="FFFFFF">
              <a:alpha val="9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39" name="OFF-CHAIN · 기관 책임"/>
          <p:cNvSpPr txBox="1"/>
          <p:nvPr/>
        </p:nvSpPr>
        <p:spPr>
          <a:xfrm>
            <a:off x="1270000" y="2349500"/>
            <a:ext cx="82550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OFF-CHAIN · 기관 책임</a:t>
            </a:r>
          </a:p>
        </p:txBody>
      </p:sp>
      <p:sp>
        <p:nvSpPr>
          <p:cNvPr id="240" name="ON-CHAIN · MAROO"/>
          <p:cNvSpPr txBox="1"/>
          <p:nvPr/>
        </p:nvSpPr>
        <p:spPr>
          <a:xfrm>
            <a:off x="14605000" y="2349500"/>
            <a:ext cx="6604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ON-CHAIN · MAROO</a:t>
            </a:r>
          </a:p>
        </p:txBody>
      </p:sp>
      <p:sp>
        <p:nvSpPr>
          <p:cNvPr id="241" name="직사각형"/>
          <p:cNvSpPr/>
          <p:nvPr/>
        </p:nvSpPr>
        <p:spPr>
          <a:xfrm>
            <a:off x="1397000" y="3492500"/>
            <a:ext cx="3937000" cy="2159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42" name="Company wallet"/>
          <p:cNvSpPr txBox="1"/>
          <p:nvPr/>
        </p:nvSpPr>
        <p:spPr>
          <a:xfrm>
            <a:off x="1701800" y="38100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Company wallet</a:t>
            </a:r>
          </a:p>
        </p:txBody>
      </p:sp>
      <p:sp>
        <p:nvSpPr>
          <p:cNvPr id="243" name="COMPANY_PRIVATE_KEY"/>
          <p:cNvSpPr txBox="1"/>
          <p:nvPr/>
        </p:nvSpPr>
        <p:spPr>
          <a:xfrm>
            <a:off x="1701800" y="45085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COMPANY_PRIVATE_KEY</a:t>
            </a:r>
          </a:p>
        </p:txBody>
      </p:sp>
      <p:sp>
        <p:nvSpPr>
          <p:cNvPr id="244" name="deposit · transfer 서명"/>
          <p:cNvSpPr txBox="1"/>
          <p:nvPr/>
        </p:nvSpPr>
        <p:spPr>
          <a:xfrm>
            <a:off x="1701800" y="50165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deposit · transfer 서명</a:t>
            </a:r>
          </a:p>
        </p:txBody>
      </p:sp>
      <p:sp>
        <p:nvSpPr>
          <p:cNvPr id="245" name="직사각형"/>
          <p:cNvSpPr/>
          <p:nvPr/>
        </p:nvSpPr>
        <p:spPr>
          <a:xfrm>
            <a:off x="6413500" y="3492500"/>
            <a:ext cx="3937001" cy="2159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46" name="Payroll app"/>
          <p:cNvSpPr txBox="1"/>
          <p:nvPr/>
        </p:nvSpPr>
        <p:spPr>
          <a:xfrm>
            <a:off x="6718300" y="38100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Payroll app</a:t>
            </a:r>
          </a:p>
        </p:txBody>
      </p:sp>
      <p:sp>
        <p:nvSpPr>
          <p:cNvPr id="247" name="employee registry"/>
          <p:cNvSpPr txBox="1"/>
          <p:nvPr/>
        </p:nvSpPr>
        <p:spPr>
          <a:xfrm>
            <a:off x="6718300" y="45085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employee registry</a:t>
            </a:r>
          </a:p>
        </p:txBody>
      </p:sp>
      <p:sp>
        <p:nvSpPr>
          <p:cNvPr id="248" name="plan digest · fail closed"/>
          <p:cNvSpPr txBox="1"/>
          <p:nvPr/>
        </p:nvSpPr>
        <p:spPr>
          <a:xfrm>
            <a:off x="6718300" y="50165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plan digest · fail closed</a:t>
            </a:r>
          </a:p>
        </p:txBody>
      </p:sp>
      <p:sp>
        <p:nvSpPr>
          <p:cNvPr id="249" name="직사각형"/>
          <p:cNvSpPr/>
          <p:nvPr/>
        </p:nvSpPr>
        <p:spPr>
          <a:xfrm>
            <a:off x="9017000" y="7747000"/>
            <a:ext cx="3937001"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50" name="Prover"/>
          <p:cNvSpPr txBox="1"/>
          <p:nvPr/>
        </p:nvSpPr>
        <p:spPr>
          <a:xfrm>
            <a:off x="9321800" y="80645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Prover</a:t>
            </a:r>
          </a:p>
        </p:txBody>
      </p:sp>
      <p:sp>
        <p:nvSpPr>
          <p:cNvPr id="251" name="witness · proving key"/>
          <p:cNvSpPr txBox="1"/>
          <p:nvPr/>
        </p:nvSpPr>
        <p:spPr>
          <a:xfrm>
            <a:off x="9321800" y="8763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witness · proving key</a:t>
            </a:r>
          </a:p>
        </p:txBody>
      </p:sp>
      <p:sp>
        <p:nvSpPr>
          <p:cNvPr id="252" name="proof · encrypted outputs"/>
          <p:cNvSpPr txBox="1"/>
          <p:nvPr/>
        </p:nvSpPr>
        <p:spPr>
          <a:xfrm>
            <a:off x="9321800" y="9271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proof · encrypted outputs</a:t>
            </a:r>
          </a:p>
        </p:txBody>
      </p:sp>
      <p:sp>
        <p:nvSpPr>
          <p:cNvPr id="253" name="직사각형"/>
          <p:cNvSpPr/>
          <p:nvPr/>
        </p:nvSpPr>
        <p:spPr>
          <a:xfrm>
            <a:off x="1397000" y="7747000"/>
            <a:ext cx="3937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54" name="Scanner / auditor"/>
          <p:cNvSpPr txBox="1"/>
          <p:nvPr/>
        </p:nvSpPr>
        <p:spPr>
          <a:xfrm>
            <a:off x="1701800" y="80645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Scanner / auditor</a:t>
            </a:r>
          </a:p>
        </p:txBody>
      </p:sp>
      <p:sp>
        <p:nvSpPr>
          <p:cNvPr id="255" name="viewing · disclosure key"/>
          <p:cNvSpPr txBox="1"/>
          <p:nvPr/>
        </p:nvSpPr>
        <p:spPr>
          <a:xfrm>
            <a:off x="1701800" y="8763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viewing · disclosure key</a:t>
            </a:r>
          </a:p>
        </p:txBody>
      </p:sp>
      <p:sp>
        <p:nvSpPr>
          <p:cNvPr id="256" name="수령·업무 대사"/>
          <p:cNvSpPr txBox="1"/>
          <p:nvPr/>
        </p:nvSpPr>
        <p:spPr>
          <a:xfrm>
            <a:off x="1701800" y="9271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수령·업무 대사</a:t>
            </a:r>
          </a:p>
        </p:txBody>
      </p:sp>
      <p:sp>
        <p:nvSpPr>
          <p:cNvPr id="257" name="직사각형"/>
          <p:cNvSpPr/>
          <p:nvPr/>
        </p:nvSpPr>
        <p:spPr>
          <a:xfrm>
            <a:off x="14795500" y="3492500"/>
            <a:ext cx="3556001" cy="2159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58" name="PCL"/>
          <p:cNvSpPr txBox="1"/>
          <p:nvPr/>
        </p:nvSpPr>
        <p:spPr>
          <a:xfrm>
            <a:off x="15100300" y="38100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PCL</a:t>
            </a:r>
          </a:p>
        </p:txBody>
      </p:sp>
      <p:sp>
        <p:nvSpPr>
          <p:cNvPr id="259" name="signer · EAS · denylist"/>
          <p:cNvSpPr txBox="1"/>
          <p:nvPr/>
        </p:nvSpPr>
        <p:spPr>
          <a:xfrm>
            <a:off x="15100300" y="4508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signer · EAS · denylist</a:t>
            </a:r>
          </a:p>
        </p:txBody>
      </p:sp>
      <p:sp>
        <p:nvSpPr>
          <p:cNvPr id="260" name="configured policy"/>
          <p:cNvSpPr txBox="1"/>
          <p:nvPr/>
        </p:nvSpPr>
        <p:spPr>
          <a:xfrm>
            <a:off x="15100300" y="5016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configured policy</a:t>
            </a:r>
          </a:p>
        </p:txBody>
      </p:sp>
      <p:sp>
        <p:nvSpPr>
          <p:cNvPr id="261" name="직사각형"/>
          <p:cNvSpPr/>
          <p:nvPr/>
        </p:nvSpPr>
        <p:spPr>
          <a:xfrm>
            <a:off x="19177000" y="3492500"/>
            <a:ext cx="3683000" cy="2159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62" name="x/privacy"/>
          <p:cNvSpPr txBox="1"/>
          <p:nvPr/>
        </p:nvSpPr>
        <p:spPr>
          <a:xfrm>
            <a:off x="19481800" y="3810000"/>
            <a:ext cx="3073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x/privacy</a:t>
            </a:r>
          </a:p>
        </p:txBody>
      </p:sp>
      <p:sp>
        <p:nvSpPr>
          <p:cNvPr id="263" name="VK · root · nullifier"/>
          <p:cNvSpPr txBox="1"/>
          <p:nvPr/>
        </p:nvSpPr>
        <p:spPr>
          <a:xfrm>
            <a:off x="19481800" y="4508500"/>
            <a:ext cx="3073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VK · root · nullifier</a:t>
            </a:r>
          </a:p>
        </p:txBody>
      </p:sp>
      <p:sp>
        <p:nvSpPr>
          <p:cNvPr id="264" name="commitment state"/>
          <p:cNvSpPr txBox="1"/>
          <p:nvPr/>
        </p:nvSpPr>
        <p:spPr>
          <a:xfrm>
            <a:off x="19481800" y="5016500"/>
            <a:ext cx="3073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commitment state</a:t>
            </a:r>
          </a:p>
        </p:txBody>
      </p:sp>
      <p:sp>
        <p:nvSpPr>
          <p:cNvPr id="265" name="직사각형"/>
          <p:cNvSpPr/>
          <p:nvPr/>
        </p:nvSpPr>
        <p:spPr>
          <a:xfrm>
            <a:off x="16954500" y="7747000"/>
            <a:ext cx="3810001"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266" name="OKRW"/>
          <p:cNvSpPr txBox="1"/>
          <p:nvPr/>
        </p:nvSpPr>
        <p:spPr>
          <a:xfrm>
            <a:off x="17259300" y="8064500"/>
            <a:ext cx="3200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OKRW</a:t>
            </a:r>
          </a:p>
        </p:txBody>
      </p:sp>
      <p:sp>
        <p:nvSpPr>
          <p:cNvPr id="267" name="deposit의 msg.value"/>
          <p:cNvSpPr txBox="1"/>
          <p:nvPr/>
        </p:nvSpPr>
        <p:spPr>
          <a:xfrm>
            <a:off x="17259300" y="8763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deposit의 msg.value</a:t>
            </a:r>
          </a:p>
        </p:txBody>
      </p:sp>
      <p:sp>
        <p:nvSpPr>
          <p:cNvPr id="268" name="공개 native asset"/>
          <p:cNvSpPr txBox="1"/>
          <p:nvPr/>
        </p:nvSpPr>
        <p:spPr>
          <a:xfrm>
            <a:off x="17259300" y="9271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공개 native asset</a:t>
            </a:r>
          </a:p>
        </p:txBody>
      </p:sp>
      <p:sp>
        <p:nvSpPr>
          <p:cNvPr id="269" name="→"/>
          <p:cNvSpPr txBox="1"/>
          <p:nvPr/>
        </p:nvSpPr>
        <p:spPr>
          <a:xfrm>
            <a:off x="5397500" y="4127500"/>
            <a:ext cx="889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270" name="→"/>
          <p:cNvSpPr txBox="1"/>
          <p:nvPr/>
        </p:nvSpPr>
        <p:spPr>
          <a:xfrm>
            <a:off x="10477500" y="4127500"/>
            <a:ext cx="889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271" name="→"/>
          <p:cNvSpPr txBox="1"/>
          <p:nvPr/>
        </p:nvSpPr>
        <p:spPr>
          <a:xfrm>
            <a:off x="13652500" y="4127500"/>
            <a:ext cx="889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272" name="→"/>
          <p:cNvSpPr txBox="1"/>
          <p:nvPr/>
        </p:nvSpPr>
        <p:spPr>
          <a:xfrm>
            <a:off x="18351500" y="4127500"/>
            <a:ext cx="889000" cy="673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8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273" name="선"/>
          <p:cNvSpPr/>
          <p:nvPr/>
        </p:nvSpPr>
        <p:spPr>
          <a:xfrm>
            <a:off x="8381999" y="5651500"/>
            <a:ext cx="1" cy="952500"/>
          </a:xfrm>
          <a:prstGeom prst="line">
            <a:avLst/>
          </a:prstGeom>
          <a:ln w="25400">
            <a:solidFill>
              <a:srgbClr val="FFFFFF"/>
            </a:solidFill>
            <a:miter lim="400000"/>
          </a:ln>
        </p:spPr>
        <p:txBody>
          <a:bodyPr lIns="50800" tIns="50800" rIns="50800" bIns="50800" anchor="ctr"/>
          <a:lstStyle/>
          <a:p>
            <a:endParaRPr/>
          </a:p>
        </p:txBody>
      </p:sp>
      <p:sp>
        <p:nvSpPr>
          <p:cNvPr id="274" name="선"/>
          <p:cNvSpPr/>
          <p:nvPr/>
        </p:nvSpPr>
        <p:spPr>
          <a:xfrm>
            <a:off x="8381999" y="6604000"/>
            <a:ext cx="2603501" cy="0"/>
          </a:xfrm>
          <a:prstGeom prst="line">
            <a:avLst/>
          </a:prstGeom>
          <a:ln w="25400">
            <a:solidFill>
              <a:srgbClr val="FFFFFF"/>
            </a:solidFill>
            <a:miter lim="400000"/>
          </a:ln>
        </p:spPr>
        <p:txBody>
          <a:bodyPr lIns="50800" tIns="50800" rIns="50800" bIns="50800" anchor="ctr"/>
          <a:lstStyle/>
          <a:p>
            <a:endParaRPr/>
          </a:p>
        </p:txBody>
      </p:sp>
      <p:sp>
        <p:nvSpPr>
          <p:cNvPr id="275" name="선"/>
          <p:cNvSpPr/>
          <p:nvPr/>
        </p:nvSpPr>
        <p:spPr>
          <a:xfrm>
            <a:off x="10985499" y="6604000"/>
            <a:ext cx="1" cy="1143001"/>
          </a:xfrm>
          <a:prstGeom prst="line">
            <a:avLst/>
          </a:prstGeom>
          <a:ln w="25400">
            <a:solidFill>
              <a:srgbClr val="FFFFFF"/>
            </a:solidFill>
            <a:miter lim="400000"/>
          </a:ln>
        </p:spPr>
        <p:txBody>
          <a:bodyPr lIns="50800" tIns="50800" rIns="50800" bIns="50800" anchor="ctr"/>
          <a:lstStyle/>
          <a:p>
            <a:endParaRPr/>
          </a:p>
        </p:txBody>
      </p:sp>
      <p:sp>
        <p:nvSpPr>
          <p:cNvPr id="276" name="plan ↔ proof"/>
          <p:cNvSpPr txBox="1"/>
          <p:nvPr/>
        </p:nvSpPr>
        <p:spPr>
          <a:xfrm>
            <a:off x="8636000" y="6032500"/>
            <a:ext cx="2413000" cy="393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900">
                <a:solidFill>
                  <a:srgbClr val="BEC9D4"/>
                </a:solidFill>
                <a:latin typeface="Apple SD 산돌고딕 Neo 일반체"/>
                <a:ea typeface="Apple SD 산돌고딕 Neo 일반체"/>
                <a:cs typeface="Apple SD 산돌고딕 Neo 일반체"/>
                <a:sym typeface="Apple SD 산돌고딕 Neo 일반체"/>
              </a:defRPr>
            </a:lvl1pPr>
          </a:lstStyle>
          <a:p>
            <a:r>
              <a:t>plan ↔ proof</a:t>
            </a:r>
          </a:p>
        </p:txBody>
      </p:sp>
      <p:sp>
        <p:nvSpPr>
          <p:cNvPr id="277" name="선"/>
          <p:cNvSpPr/>
          <p:nvPr/>
        </p:nvSpPr>
        <p:spPr>
          <a:xfrm>
            <a:off x="21018499" y="5651499"/>
            <a:ext cx="2" cy="1397002"/>
          </a:xfrm>
          <a:prstGeom prst="line">
            <a:avLst/>
          </a:prstGeom>
          <a:ln w="25400">
            <a:solidFill>
              <a:srgbClr val="FFFFFF"/>
            </a:solidFill>
            <a:miter lim="400000"/>
          </a:ln>
        </p:spPr>
        <p:txBody>
          <a:bodyPr lIns="50800" tIns="50800" rIns="50800" bIns="50800" anchor="ctr"/>
          <a:lstStyle/>
          <a:p>
            <a:endParaRPr/>
          </a:p>
        </p:txBody>
      </p:sp>
      <p:sp>
        <p:nvSpPr>
          <p:cNvPr id="278" name="선"/>
          <p:cNvSpPr/>
          <p:nvPr/>
        </p:nvSpPr>
        <p:spPr>
          <a:xfrm flipH="1" flipV="1">
            <a:off x="5334001" y="7048499"/>
            <a:ext cx="15684499" cy="1"/>
          </a:xfrm>
          <a:prstGeom prst="line">
            <a:avLst/>
          </a:prstGeom>
          <a:ln w="25400">
            <a:solidFill>
              <a:srgbClr val="FFFFFF"/>
            </a:solidFill>
            <a:miter lim="400000"/>
          </a:ln>
        </p:spPr>
        <p:txBody>
          <a:bodyPr lIns="50800" tIns="50800" rIns="50800" bIns="50800" anchor="ctr"/>
          <a:lstStyle/>
          <a:p>
            <a:endParaRPr/>
          </a:p>
        </p:txBody>
      </p:sp>
      <p:sp>
        <p:nvSpPr>
          <p:cNvPr id="279" name="선"/>
          <p:cNvSpPr/>
          <p:nvPr/>
        </p:nvSpPr>
        <p:spPr>
          <a:xfrm>
            <a:off x="5333999" y="7048500"/>
            <a:ext cx="1" cy="698500"/>
          </a:xfrm>
          <a:prstGeom prst="line">
            <a:avLst/>
          </a:prstGeom>
          <a:ln w="25400">
            <a:solidFill>
              <a:srgbClr val="FFFFFF"/>
            </a:solidFill>
            <a:miter lim="400000"/>
          </a:ln>
        </p:spPr>
        <p:txBody>
          <a:bodyPr lIns="50800" tIns="50800" rIns="50800" bIns="50800" anchor="ctr"/>
          <a:lstStyle/>
          <a:p>
            <a:endParaRPr/>
          </a:p>
        </p:txBody>
      </p:sp>
      <p:sp>
        <p:nvSpPr>
          <p:cNvPr id="280" name="← RPC events · commitments · disclosure"/>
          <p:cNvSpPr txBox="1"/>
          <p:nvPr/>
        </p:nvSpPr>
        <p:spPr>
          <a:xfrm>
            <a:off x="10287000" y="6731000"/>
            <a:ext cx="5969000" cy="393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900">
                <a:solidFill>
                  <a:srgbClr val="BEC9D4"/>
                </a:solidFill>
                <a:latin typeface="Apple SD 산돌고딕 Neo 일반체"/>
                <a:ea typeface="Apple SD 산돌고딕 Neo 일반체"/>
                <a:cs typeface="Apple SD 산돌고딕 Neo 일반체"/>
                <a:sym typeface="Apple SD 산돌고딕 Neo 일반체"/>
              </a:defRPr>
            </a:lvl1pPr>
          </a:lstStyle>
          <a:p>
            <a:r>
              <a:t>← RPC events · commitments · disclosure</a:t>
            </a:r>
          </a:p>
        </p:txBody>
      </p:sp>
      <p:sp>
        <p:nvSpPr>
          <p:cNvPr id="281" name="↑ msg.value"/>
          <p:cNvSpPr txBox="1"/>
          <p:nvPr/>
        </p:nvSpPr>
        <p:spPr>
          <a:xfrm>
            <a:off x="17526000" y="6921500"/>
            <a:ext cx="2413000" cy="393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900">
                <a:solidFill>
                  <a:srgbClr val="BEC9D4"/>
                </a:solidFill>
                <a:latin typeface="Apple SD 산돌고딕 Neo 일반체"/>
                <a:ea typeface="Apple SD 산돌고딕 Neo 일반체"/>
                <a:cs typeface="Apple SD 산돌고딕 Neo 일반체"/>
                <a:sym typeface="Apple SD 산돌고딕 Neo 일반체"/>
              </a:defRPr>
            </a:lvl1pPr>
          </a:lstStyle>
          <a:p>
            <a:r>
              <a:t>↑ msg.value</a:t>
            </a:r>
          </a:p>
        </p:txBody>
      </p:sp>
      <p:sp>
        <p:nvSpPr>
          <p:cNvPr id="282" name="PCL은 구성된 정책을 검사한다 · payroll intent는 app/prover/auditor가 결속한다"/>
          <p:cNvSpPr txBox="1"/>
          <p:nvPr/>
        </p:nvSpPr>
        <p:spPr>
          <a:xfrm>
            <a:off x="3619500" y="11811000"/>
            <a:ext cx="173990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PCL은 구성된 정책을 검사한다 · payroll intent는 app/prover/auditor가 결속한다</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a:p>
        </p:txBody>
      </p:sp>
      <p:sp>
        <p:nvSpPr>
          <p:cNvPr id="287" name="급여 1회의 트랜잭션 시퀀스"/>
          <p:cNvSpPr txBox="1"/>
          <p:nvPr/>
        </p:nvSpPr>
        <p:spPr>
          <a:xfrm>
            <a:off x="1270000" y="635000"/>
            <a:ext cx="19050001" cy="825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a:latin typeface="Apple SD 산돌고딕 Neo 볼드체"/>
                <a:ea typeface="Apple SD 산돌고딕 Neo 볼드체"/>
                <a:cs typeface="Apple SD 산돌고딕 Neo 볼드체"/>
                <a:sym typeface="Apple SD 산돌고딕 Neo 볼드체"/>
              </a:defRPr>
            </a:lvl1pPr>
          </a:lstStyle>
          <a:p>
            <a:r>
              <a:t>급여 1회의 트랜잭션 시퀀스</a:t>
            </a:r>
          </a:p>
        </p:txBody>
      </p:sp>
      <p:sp>
        <p:nvSpPr>
          <p:cNvPr id="288" name="Wallet"/>
          <p:cNvSpPr txBox="1"/>
          <p:nvPr/>
        </p:nvSpPr>
        <p:spPr>
          <a:xfrm>
            <a:off x="1524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Wallet</a:t>
            </a:r>
          </a:p>
        </p:txBody>
      </p:sp>
      <p:sp>
        <p:nvSpPr>
          <p:cNvPr id="289" name="선"/>
          <p:cNvSpPr/>
          <p:nvPr/>
        </p:nvSpPr>
        <p:spPr>
          <a:xfrm flipH="1">
            <a:off x="2539999" y="2730499"/>
            <a:ext cx="1" cy="8699501"/>
          </a:xfrm>
          <a:prstGeom prst="line">
            <a:avLst/>
          </a:prstGeom>
          <a:ln w="25400">
            <a:solidFill>
              <a:srgbClr val="FFFFFF"/>
            </a:solidFill>
            <a:miter lim="400000"/>
          </a:ln>
        </p:spPr>
        <p:txBody>
          <a:bodyPr lIns="50800" tIns="50800" rIns="50800" bIns="50800" anchor="ctr"/>
          <a:lstStyle/>
          <a:p>
            <a:endParaRPr/>
          </a:p>
        </p:txBody>
      </p:sp>
      <p:sp>
        <p:nvSpPr>
          <p:cNvPr id="290" name="Payroll app"/>
          <p:cNvSpPr txBox="1"/>
          <p:nvPr/>
        </p:nvSpPr>
        <p:spPr>
          <a:xfrm>
            <a:off x="5207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Payroll app</a:t>
            </a:r>
          </a:p>
        </p:txBody>
      </p:sp>
      <p:sp>
        <p:nvSpPr>
          <p:cNvPr id="291" name="선"/>
          <p:cNvSpPr/>
          <p:nvPr/>
        </p:nvSpPr>
        <p:spPr>
          <a:xfrm flipH="1">
            <a:off x="6222999" y="2730499"/>
            <a:ext cx="1" cy="8699501"/>
          </a:xfrm>
          <a:prstGeom prst="line">
            <a:avLst/>
          </a:prstGeom>
          <a:ln w="25400">
            <a:solidFill>
              <a:srgbClr val="FFFFFF"/>
            </a:solidFill>
            <a:miter lim="400000"/>
          </a:ln>
        </p:spPr>
        <p:txBody>
          <a:bodyPr lIns="50800" tIns="50800" rIns="50800" bIns="50800" anchor="ctr"/>
          <a:lstStyle/>
          <a:p>
            <a:endParaRPr/>
          </a:p>
        </p:txBody>
      </p:sp>
      <p:sp>
        <p:nvSpPr>
          <p:cNvPr id="292" name="Prover"/>
          <p:cNvSpPr txBox="1"/>
          <p:nvPr/>
        </p:nvSpPr>
        <p:spPr>
          <a:xfrm>
            <a:off x="8890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Prover</a:t>
            </a:r>
          </a:p>
        </p:txBody>
      </p:sp>
      <p:sp>
        <p:nvSpPr>
          <p:cNvPr id="293" name="선"/>
          <p:cNvSpPr/>
          <p:nvPr/>
        </p:nvSpPr>
        <p:spPr>
          <a:xfrm flipH="1">
            <a:off x="9906000" y="2730500"/>
            <a:ext cx="1" cy="8699501"/>
          </a:xfrm>
          <a:prstGeom prst="line">
            <a:avLst/>
          </a:prstGeom>
          <a:ln w="25400">
            <a:solidFill>
              <a:srgbClr val="FFFFFF"/>
            </a:solidFill>
            <a:miter lim="400000"/>
          </a:ln>
        </p:spPr>
        <p:txBody>
          <a:bodyPr lIns="50800" tIns="50800" rIns="50800" bIns="50800" anchor="ctr"/>
          <a:lstStyle/>
          <a:p>
            <a:endParaRPr/>
          </a:p>
        </p:txBody>
      </p:sp>
      <p:sp>
        <p:nvSpPr>
          <p:cNvPr id="294" name="PCL"/>
          <p:cNvSpPr txBox="1"/>
          <p:nvPr/>
        </p:nvSpPr>
        <p:spPr>
          <a:xfrm>
            <a:off x="12573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PCL</a:t>
            </a:r>
          </a:p>
        </p:txBody>
      </p:sp>
      <p:sp>
        <p:nvSpPr>
          <p:cNvPr id="295" name="선"/>
          <p:cNvSpPr/>
          <p:nvPr/>
        </p:nvSpPr>
        <p:spPr>
          <a:xfrm flipH="1">
            <a:off x="13588999" y="2730500"/>
            <a:ext cx="1" cy="8699500"/>
          </a:xfrm>
          <a:prstGeom prst="line">
            <a:avLst/>
          </a:prstGeom>
          <a:ln w="25400">
            <a:solidFill>
              <a:srgbClr val="FFFFFF"/>
            </a:solidFill>
            <a:miter lim="400000"/>
          </a:ln>
        </p:spPr>
        <p:txBody>
          <a:bodyPr lIns="50800" tIns="50800" rIns="50800" bIns="50800" anchor="ctr"/>
          <a:lstStyle/>
          <a:p>
            <a:endParaRPr/>
          </a:p>
        </p:txBody>
      </p:sp>
      <p:sp>
        <p:nvSpPr>
          <p:cNvPr id="296" name="x/privacy"/>
          <p:cNvSpPr txBox="1"/>
          <p:nvPr/>
        </p:nvSpPr>
        <p:spPr>
          <a:xfrm>
            <a:off x="16256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x/privacy</a:t>
            </a:r>
          </a:p>
        </p:txBody>
      </p:sp>
      <p:sp>
        <p:nvSpPr>
          <p:cNvPr id="297" name="선"/>
          <p:cNvSpPr/>
          <p:nvPr/>
        </p:nvSpPr>
        <p:spPr>
          <a:xfrm flipH="1">
            <a:off x="17271999" y="2730499"/>
            <a:ext cx="1" cy="8699501"/>
          </a:xfrm>
          <a:prstGeom prst="line">
            <a:avLst/>
          </a:prstGeom>
          <a:ln w="25400">
            <a:solidFill>
              <a:srgbClr val="FFFFFF"/>
            </a:solidFill>
            <a:miter lim="400000"/>
          </a:ln>
        </p:spPr>
        <p:txBody>
          <a:bodyPr lIns="50800" tIns="50800" rIns="50800" bIns="50800" anchor="ctr"/>
          <a:lstStyle/>
          <a:p>
            <a:endParaRPr/>
          </a:p>
        </p:txBody>
      </p:sp>
      <p:sp>
        <p:nvSpPr>
          <p:cNvPr id="298" name="Scanner / auditor"/>
          <p:cNvSpPr txBox="1"/>
          <p:nvPr/>
        </p:nvSpPr>
        <p:spPr>
          <a:xfrm>
            <a:off x="19939000" y="1968500"/>
            <a:ext cx="2921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solidFill>
                  <a:srgbClr val="00E9FF"/>
                </a:solidFill>
                <a:latin typeface="Apple SD 산돌고딕 Neo 볼드체"/>
                <a:ea typeface="Apple SD 산돌고딕 Neo 볼드체"/>
                <a:cs typeface="Apple SD 산돌고딕 Neo 볼드체"/>
                <a:sym typeface="Apple SD 산돌고딕 Neo 볼드체"/>
              </a:defRPr>
            </a:lvl1pPr>
          </a:lstStyle>
          <a:p>
            <a:r>
              <a:t>Scanner / auditor</a:t>
            </a:r>
          </a:p>
        </p:txBody>
      </p:sp>
      <p:sp>
        <p:nvSpPr>
          <p:cNvPr id="299" name="선"/>
          <p:cNvSpPr/>
          <p:nvPr/>
        </p:nvSpPr>
        <p:spPr>
          <a:xfrm flipH="1">
            <a:off x="20954999" y="2730499"/>
            <a:ext cx="1" cy="8699501"/>
          </a:xfrm>
          <a:prstGeom prst="line">
            <a:avLst/>
          </a:prstGeom>
          <a:ln w="25400">
            <a:solidFill>
              <a:srgbClr val="FFFFFF"/>
            </a:solidFill>
            <a:miter lim="400000"/>
          </a:ln>
        </p:spPr>
        <p:txBody>
          <a:bodyPr lIns="50800" tIns="50800" rIns="50800" bIns="50800" anchor="ctr"/>
          <a:lstStyle/>
          <a:p>
            <a:endParaRPr/>
          </a:p>
        </p:txBody>
      </p:sp>
      <p:sp>
        <p:nvSpPr>
          <p:cNvPr id="300" name="01"/>
          <p:cNvSpPr txBox="1"/>
          <p:nvPr/>
        </p:nvSpPr>
        <p:spPr>
          <a:xfrm>
            <a:off x="1524000" y="3111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00E9FF"/>
                </a:solidFill>
                <a:latin typeface="Apple SD 산돌고딕 Neo 볼드체"/>
                <a:ea typeface="Apple SD 산돌고딕 Neo 볼드체"/>
                <a:cs typeface="Apple SD 산돌고딕 Neo 볼드체"/>
                <a:sym typeface="Apple SD 산돌고딕 Neo 볼드체"/>
              </a:defRPr>
            </a:lvl1pPr>
          </a:lstStyle>
          <a:p>
            <a:r>
              <a:t>01</a:t>
            </a:r>
          </a:p>
        </p:txBody>
      </p:sp>
      <p:sp>
        <p:nvSpPr>
          <p:cNvPr id="301" name="deposit(msg.value) ─────────────────────────────→"/>
          <p:cNvSpPr txBox="1"/>
          <p:nvPr/>
        </p:nvSpPr>
        <p:spPr>
          <a:xfrm>
            <a:off x="2222500" y="3111500"/>
            <a:ext cx="14478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deposit(msg.value) ─────────────────────────────→</a:t>
            </a:r>
          </a:p>
        </p:txBody>
      </p:sp>
      <p:sp>
        <p:nvSpPr>
          <p:cNvPr id="302" name="02"/>
          <p:cNvSpPr txBox="1"/>
          <p:nvPr/>
        </p:nvSpPr>
        <p:spPr>
          <a:xfrm>
            <a:off x="12573000" y="4127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FFBF2C"/>
                </a:solidFill>
                <a:latin typeface="Apple SD 산돌고딕 Neo 볼드체"/>
                <a:ea typeface="Apple SD 산돌고딕 Neo 볼드체"/>
                <a:cs typeface="Apple SD 산돌고딕 Neo 볼드체"/>
                <a:sym typeface="Apple SD 산돌고딕 Neo 볼드체"/>
              </a:defRPr>
            </a:lvl1pPr>
          </a:lstStyle>
          <a:p>
            <a:r>
              <a:t>02</a:t>
            </a:r>
          </a:p>
        </p:txBody>
      </p:sp>
      <p:sp>
        <p:nvSpPr>
          <p:cNvPr id="303" name="policy allow ─────────→"/>
          <p:cNvSpPr txBox="1"/>
          <p:nvPr/>
        </p:nvSpPr>
        <p:spPr>
          <a:xfrm>
            <a:off x="13271500" y="4127500"/>
            <a:ext cx="4572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policy allow ─────────→</a:t>
            </a:r>
          </a:p>
        </p:txBody>
      </p:sp>
      <p:sp>
        <p:nvSpPr>
          <p:cNvPr id="304" name="03"/>
          <p:cNvSpPr txBox="1"/>
          <p:nvPr/>
        </p:nvSpPr>
        <p:spPr>
          <a:xfrm>
            <a:off x="16256000" y="5143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FFBF2C"/>
                </a:solidFill>
                <a:latin typeface="Apple SD 산돌고딕 Neo 볼드체"/>
                <a:ea typeface="Apple SD 산돌고딕 Neo 볼드체"/>
                <a:cs typeface="Apple SD 산돌고딕 Neo 볼드체"/>
                <a:sym typeface="Apple SD 산돌고딕 Neo 볼드체"/>
              </a:defRPr>
            </a:lvl1pPr>
          </a:lstStyle>
          <a:p>
            <a:r>
              <a:t>03</a:t>
            </a:r>
          </a:p>
        </p:txBody>
      </p:sp>
      <p:sp>
        <p:nvSpPr>
          <p:cNvPr id="305" name="←──────────────────────── commitment · root event"/>
          <p:cNvSpPr txBox="1"/>
          <p:nvPr/>
        </p:nvSpPr>
        <p:spPr>
          <a:xfrm>
            <a:off x="2222500" y="5143500"/>
            <a:ext cx="14224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 commitment · root event</a:t>
            </a:r>
          </a:p>
        </p:txBody>
      </p:sp>
      <p:sp>
        <p:nvSpPr>
          <p:cNvPr id="306" name="04"/>
          <p:cNvSpPr txBox="1"/>
          <p:nvPr/>
        </p:nvSpPr>
        <p:spPr>
          <a:xfrm>
            <a:off x="5207000" y="6159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00E9FF"/>
                </a:solidFill>
                <a:latin typeface="Apple SD 산돌고딕 Neo 볼드체"/>
                <a:ea typeface="Apple SD 산돌고딕 Neo 볼드체"/>
                <a:cs typeface="Apple SD 산돌고딕 Neo 볼드체"/>
                <a:sym typeface="Apple SD 산돌고딕 Neo 볼드체"/>
              </a:defRPr>
            </a:lvl1pPr>
          </a:lstStyle>
          <a:p>
            <a:r>
              <a:t>04</a:t>
            </a:r>
          </a:p>
        </p:txBody>
      </p:sp>
      <p:sp>
        <p:nvSpPr>
          <p:cNvPr id="307" name="plan + witness ─────→ proof + outputs"/>
          <p:cNvSpPr txBox="1"/>
          <p:nvPr/>
        </p:nvSpPr>
        <p:spPr>
          <a:xfrm>
            <a:off x="5905500" y="6159500"/>
            <a:ext cx="6604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plan + witness ─────→ proof + outputs</a:t>
            </a:r>
          </a:p>
        </p:txBody>
      </p:sp>
      <p:sp>
        <p:nvSpPr>
          <p:cNvPr id="308" name="05"/>
          <p:cNvSpPr txBox="1"/>
          <p:nvPr/>
        </p:nvSpPr>
        <p:spPr>
          <a:xfrm>
            <a:off x="1524000" y="7175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00E9FF"/>
                </a:solidFill>
                <a:latin typeface="Apple SD 산돌고딕 Neo 볼드체"/>
                <a:ea typeface="Apple SD 산돌고딕 Neo 볼드체"/>
                <a:cs typeface="Apple SD 산돌고딕 Neo 볼드체"/>
                <a:sym typeface="Apple SD 산돌고딕 Neo 볼드체"/>
              </a:defRPr>
            </a:lvl1pPr>
          </a:lstStyle>
          <a:p>
            <a:r>
              <a:t>05</a:t>
            </a:r>
          </a:p>
        </p:txBody>
      </p:sp>
      <p:sp>
        <p:nvSpPr>
          <p:cNvPr id="309" name="transfer(bundle, proof) ───────────────────────→"/>
          <p:cNvSpPr txBox="1"/>
          <p:nvPr/>
        </p:nvSpPr>
        <p:spPr>
          <a:xfrm>
            <a:off x="2222500" y="7175500"/>
            <a:ext cx="142875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transfer(bundle, proof) ───────────────────────→</a:t>
            </a:r>
          </a:p>
        </p:txBody>
      </p:sp>
      <p:sp>
        <p:nvSpPr>
          <p:cNvPr id="310" name="06"/>
          <p:cNvSpPr txBox="1"/>
          <p:nvPr/>
        </p:nvSpPr>
        <p:spPr>
          <a:xfrm>
            <a:off x="12573000" y="8191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FFBF2C"/>
                </a:solidFill>
                <a:latin typeface="Apple SD 산돌고딕 Neo 볼드체"/>
                <a:ea typeface="Apple SD 산돌고딕 Neo 볼드체"/>
                <a:cs typeface="Apple SD 산돌고딕 Neo 볼드체"/>
                <a:sym typeface="Apple SD 산돌고딕 Neo 볼드체"/>
              </a:defRPr>
            </a:lvl1pPr>
          </a:lstStyle>
          <a:p>
            <a:r>
              <a:t>06</a:t>
            </a:r>
          </a:p>
        </p:txBody>
      </p:sp>
      <p:sp>
        <p:nvSpPr>
          <p:cNvPr id="311" name="authorized call ─────→ verify + state transition"/>
          <p:cNvSpPr txBox="1"/>
          <p:nvPr/>
        </p:nvSpPr>
        <p:spPr>
          <a:xfrm>
            <a:off x="13271500" y="8191500"/>
            <a:ext cx="7239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authorized call ─────→ verify + state transition</a:t>
            </a:r>
          </a:p>
        </p:txBody>
      </p:sp>
      <p:sp>
        <p:nvSpPr>
          <p:cNvPr id="312" name="07"/>
          <p:cNvSpPr txBox="1"/>
          <p:nvPr/>
        </p:nvSpPr>
        <p:spPr>
          <a:xfrm>
            <a:off x="16256000" y="9207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FFBF2C"/>
                </a:solidFill>
                <a:latin typeface="Apple SD 산돌고딕 Neo 볼드체"/>
                <a:ea typeface="Apple SD 산돌고딕 Neo 볼드체"/>
                <a:cs typeface="Apple SD 산돌고딕 Neo 볼드체"/>
                <a:sym typeface="Apple SD 산돌고딕 Neo 볼드체"/>
              </a:defRPr>
            </a:lvl1pPr>
          </a:lstStyle>
          <a:p>
            <a:r>
              <a:t>07</a:t>
            </a:r>
          </a:p>
        </p:txBody>
      </p:sp>
      <p:sp>
        <p:nvSpPr>
          <p:cNvPr id="313" name="output commitments + disclosure ─────────→"/>
          <p:cNvSpPr txBox="1"/>
          <p:nvPr/>
        </p:nvSpPr>
        <p:spPr>
          <a:xfrm>
            <a:off x="16954500" y="9207500"/>
            <a:ext cx="6350000" cy="7531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output commitments + disclosure ─────────→</a:t>
            </a:r>
          </a:p>
        </p:txBody>
      </p:sp>
      <p:sp>
        <p:nvSpPr>
          <p:cNvPr id="314" name="08"/>
          <p:cNvSpPr txBox="1"/>
          <p:nvPr/>
        </p:nvSpPr>
        <p:spPr>
          <a:xfrm>
            <a:off x="19939000" y="10223500"/>
            <a:ext cx="6985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00E9FF"/>
                </a:solidFill>
                <a:latin typeface="Apple SD 산돌고딕 Neo 볼드체"/>
                <a:ea typeface="Apple SD 산돌고딕 Neo 볼드체"/>
                <a:cs typeface="Apple SD 산돌고딕 Neo 볼드체"/>
                <a:sym typeface="Apple SD 산돌고딕 Neo 볼드체"/>
              </a:defRPr>
            </a:lvl1pPr>
          </a:lstStyle>
          <a:p>
            <a:r>
              <a:t>08</a:t>
            </a:r>
          </a:p>
        </p:txBody>
      </p:sp>
      <p:sp>
        <p:nvSpPr>
          <p:cNvPr id="315" name="employee scan + plan reconciliation"/>
          <p:cNvSpPr txBox="1"/>
          <p:nvPr/>
        </p:nvSpPr>
        <p:spPr>
          <a:xfrm>
            <a:off x="15621000" y="10223500"/>
            <a:ext cx="4191000" cy="7531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latin typeface="Apple SD 산돌고딕 Neo 일반체"/>
                <a:ea typeface="Apple SD 산돌고딕 Neo 일반체"/>
                <a:cs typeface="Apple SD 산돌고딕 Neo 일반체"/>
                <a:sym typeface="Apple SD 산돌고딕 Neo 일반체"/>
              </a:defRPr>
            </a:lvl1pPr>
          </a:lstStyle>
          <a:p>
            <a:r>
              <a:t>employee scan + plan reconciliation</a:t>
            </a:r>
          </a:p>
        </p:txBody>
      </p:sp>
      <p:sp>
        <p:nvSpPr>
          <p:cNvPr id="316" name="완료 = receipt 포함 + 직원별 note 탐색 + payroll plan 대사"/>
          <p:cNvSpPr txBox="1"/>
          <p:nvPr/>
        </p:nvSpPr>
        <p:spPr>
          <a:xfrm>
            <a:off x="5461000" y="12001500"/>
            <a:ext cx="13462000" cy="520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800">
                <a:solidFill>
                  <a:srgbClr val="FFBF2C"/>
                </a:solidFill>
                <a:latin typeface="Apple SD 산돌고딕 Neo 볼드체"/>
                <a:ea typeface="Apple SD 산돌고딕 Neo 볼드체"/>
                <a:cs typeface="Apple SD 산돌고딕 Neo 볼드체"/>
                <a:sym typeface="Apple SD 산돌고딕 Neo 볼드체"/>
              </a:defRPr>
            </a:lvl1pPr>
          </a:lstStyle>
          <a:p>
            <a:r>
              <a:t>완료 = receipt 포함 + 직원별 note 탐색 + payroll plan 대사</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 name="키·서비스 책임 경계"/>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키·서비스 책임 경계</a:t>
            </a:r>
          </a:p>
        </p:txBody>
      </p:sp>
      <p:sp>
        <p:nvSpPr>
          <p:cNvPr id="322" name="슬라이드 번호"/>
          <p:cNvSpPr txBox="1">
            <a:spLocks noGrp="1"/>
          </p:cNvSpPr>
          <p:nvPr>
            <p:ph type="sldNum" sz="quarter" idx="2"/>
          </p:nvPr>
        </p:nvSpPr>
        <p:spPr>
          <a:xfrm>
            <a:off x="12065050" y="13080999"/>
            <a:ext cx="241403" cy="37460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9</a:t>
            </a:fld>
            <a:endParaRPr/>
          </a:p>
        </p:txBody>
      </p:sp>
      <p:graphicFrame>
        <p:nvGraphicFramePr>
          <p:cNvPr id="323" name="표 1"/>
          <p:cNvGraphicFramePr/>
          <p:nvPr/>
        </p:nvGraphicFramePr>
        <p:xfrm>
          <a:off x="1270000" y="2413000"/>
          <a:ext cx="21844000" cy="6934200"/>
        </p:xfrm>
        <a:graphic>
          <a:graphicData uri="http://schemas.openxmlformats.org/drawingml/2006/table">
            <a:tbl>
              <a:tblPr firstRow="1" firstCol="1">
                <a:tableStyleId>{4C3C2611-4C71-4FC5-86AE-919BDF0F9419}</a:tableStyleId>
              </a:tblPr>
              <a:tblGrid>
                <a:gridCol w="3810000">
                  <a:extLst>
                    <a:ext uri="{9D8B030D-6E8A-4147-A177-3AD203B41FA5}">
                      <a16:colId xmlns:a16="http://schemas.microsoft.com/office/drawing/2014/main" val="20000"/>
                    </a:ext>
                  </a:extLst>
                </a:gridCol>
                <a:gridCol w="5588000">
                  <a:extLst>
                    <a:ext uri="{9D8B030D-6E8A-4147-A177-3AD203B41FA5}">
                      <a16:colId xmlns:a16="http://schemas.microsoft.com/office/drawing/2014/main" val="20001"/>
                    </a:ext>
                  </a:extLst>
                </a:gridCol>
                <a:gridCol w="6350000">
                  <a:extLst>
                    <a:ext uri="{9D8B030D-6E8A-4147-A177-3AD203B41FA5}">
                      <a16:colId xmlns:a16="http://schemas.microsoft.com/office/drawing/2014/main" val="20002"/>
                    </a:ext>
                  </a:extLst>
                </a:gridCol>
                <a:gridCol w="6096000">
                  <a:extLst>
                    <a:ext uri="{9D8B030D-6E8A-4147-A177-3AD203B41FA5}">
                      <a16:colId xmlns:a16="http://schemas.microsoft.com/office/drawing/2014/main" val="20003"/>
                    </a:ext>
                  </a:extLst>
                </a:gridCol>
              </a:tblGrid>
              <a:tr h="990600">
                <a:tc>
                  <a:txBody>
                    <a:bodyPr/>
                    <a:lstStyle/>
                    <a:p>
                      <a:pPr defTabSz="914400">
                        <a:tabLst>
                          <a:tab pos="1663700" algn="l"/>
                        </a:tabLst>
                        <a:defRPr b="0">
                          <a:solidFill>
                            <a:srgbClr val="000000"/>
                          </a:solidFill>
                        </a:defRPr>
                      </a:pPr>
                      <a:r>
                        <a:rPr sz="3200" b="1">
                          <a:solidFill>
                            <a:srgbClr val="FFFFFF"/>
                          </a:solidFill>
                        </a:rPr>
                        <a:t>주체</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보유 key / state</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책임</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대표 실패</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Company wallet</a:t>
                      </a:r>
                    </a:p>
                  </a:txBody>
                  <a:tcPr marL="50800" marR="50800" marT="50800" marB="50800" anchor="ctr" horzOverflow="overflow"/>
                </a:tc>
                <a:tc>
                  <a:txBody>
                    <a:bodyPr/>
                    <a:lstStyle/>
                    <a:p>
                      <a:pPr defTabSz="914400">
                        <a:defRPr>
                          <a:solidFill>
                            <a:srgbClr val="000000"/>
                          </a:solidFill>
                        </a:defRPr>
                      </a:pPr>
                      <a:r>
                        <a:rPr sz="3200">
                          <a:solidFill>
                            <a:srgbClr val="FFFFFF"/>
                          </a:solidFill>
                        </a:rPr>
                        <a:t>COMPANY_PRIVATE_KEY</a:t>
                      </a:r>
                    </a:p>
                  </a:txBody>
                  <a:tcPr marL="50800" marR="50800" marT="50800" marB="50800" anchor="ctr" horzOverflow="overflow"/>
                </a:tc>
                <a:tc>
                  <a:txBody>
                    <a:bodyPr/>
                    <a:lstStyle/>
                    <a:p>
                      <a:pPr defTabSz="914400">
                        <a:defRPr>
                          <a:solidFill>
                            <a:srgbClr val="000000"/>
                          </a:solidFill>
                        </a:defRPr>
                      </a:pPr>
                      <a:r>
                        <a:rPr sz="3200">
                          <a:solidFill>
                            <a:srgbClr val="FFFFFF"/>
                          </a:solidFill>
                        </a:rPr>
                        <a:t>deposit·transfer 서명</a:t>
                      </a:r>
                    </a:p>
                  </a:txBody>
                  <a:tcPr marL="50800" marR="50800" marT="50800" marB="50800" anchor="ctr" horzOverflow="overflow"/>
                </a:tc>
                <a:tc>
                  <a:txBody>
                    <a:bodyPr/>
                    <a:lstStyle/>
                    <a:p>
                      <a:pPr defTabSz="914400">
                        <a:defRPr>
                          <a:solidFill>
                            <a:srgbClr val="000000"/>
                          </a:solidFill>
                        </a:defRPr>
                      </a:pPr>
                      <a:r>
                        <a:rPr sz="3200">
                          <a:solidFill>
                            <a:srgbClr val="FFFFFF"/>
                          </a:solidFill>
                        </a:rPr>
                        <a:t>키 노출·잘못된 chain</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Prover</a:t>
                      </a:r>
                    </a:p>
                  </a:txBody>
                  <a:tcPr marL="50800" marR="50800" marT="50800" marB="50800" anchor="ctr" horzOverflow="overflow"/>
                </a:tc>
                <a:tc>
                  <a:txBody>
                    <a:bodyPr/>
                    <a:lstStyle/>
                    <a:p>
                      <a:pPr defTabSz="914400">
                        <a:defRPr>
                          <a:solidFill>
                            <a:srgbClr val="000000"/>
                          </a:solidFill>
                        </a:defRPr>
                      </a:pPr>
                      <a:r>
                        <a:rPr sz="3200">
                          <a:solidFill>
                            <a:srgbClr val="FFFFFF"/>
                          </a:solidFill>
                        </a:rPr>
                        <a:t>proving key·VK reference</a:t>
                      </a:r>
                    </a:p>
                  </a:txBody>
                  <a:tcPr marL="50800" marR="50800" marT="50800" marB="50800" anchor="ctr" horzOverflow="overflow"/>
                </a:tc>
                <a:tc>
                  <a:txBody>
                    <a:bodyPr/>
                    <a:lstStyle/>
                    <a:p>
                      <a:pPr defTabSz="914400">
                        <a:defRPr>
                          <a:solidFill>
                            <a:srgbClr val="000000"/>
                          </a:solidFill>
                        </a:defRPr>
                      </a:pPr>
                      <a:r>
                        <a:rPr sz="3200">
                          <a:solidFill>
                            <a:srgbClr val="FFFFFF"/>
                          </a:solidFill>
                        </a:rPr>
                        <a:t>witness와 proof 생성</a:t>
                      </a:r>
                    </a:p>
                  </a:txBody>
                  <a:tcPr marL="50800" marR="50800" marT="50800" marB="50800" anchor="ctr" horzOverflow="overflow"/>
                </a:tc>
                <a:tc>
                  <a:txBody>
                    <a:bodyPr/>
                    <a:lstStyle/>
                    <a:p>
                      <a:pPr defTabSz="914400">
                        <a:defRPr>
                          <a:solidFill>
                            <a:srgbClr val="000000"/>
                          </a:solidFill>
                        </a:defRPr>
                      </a:pPr>
                      <a:r>
                        <a:rPr sz="3200">
                          <a:solidFill>
                            <a:srgbClr val="FFFFFF"/>
                          </a:solidFill>
                        </a:rPr>
                        <a:t>Maroo 비호환 proof</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PCL</a:t>
                      </a:r>
                    </a:p>
                  </a:txBody>
                  <a:tcPr marL="50800" marR="50800" marT="50800" marB="50800" anchor="ctr" horzOverflow="overflow"/>
                </a:tc>
                <a:tc>
                  <a:txBody>
                    <a:bodyPr/>
                    <a:lstStyle/>
                    <a:p>
                      <a:pPr defTabSz="914400">
                        <a:defRPr>
                          <a:solidFill>
                            <a:srgbClr val="000000"/>
                          </a:solidFill>
                        </a:defRPr>
                      </a:pPr>
                      <a:r>
                        <a:rPr sz="3200">
                          <a:solidFill>
                            <a:srgbClr val="FFFFFF"/>
                          </a:solidFill>
                        </a:rPr>
                        <a:t>policy state·EAS</a:t>
                      </a:r>
                    </a:p>
                  </a:txBody>
                  <a:tcPr marL="50800" marR="50800" marT="50800" marB="50800" anchor="ctr" horzOverflow="overflow"/>
                </a:tc>
                <a:tc>
                  <a:txBody>
                    <a:bodyPr/>
                    <a:lstStyle/>
                    <a:p>
                      <a:pPr defTabSz="914400">
                        <a:defRPr>
                          <a:solidFill>
                            <a:srgbClr val="000000"/>
                          </a:solidFill>
                        </a:defRPr>
                      </a:pPr>
                      <a:r>
                        <a:rPr sz="3200">
                          <a:solidFill>
                            <a:srgbClr val="FFFFFF"/>
                          </a:solidFill>
                        </a:rPr>
                        <a:t>호출자와 규칙 판정</a:t>
                      </a:r>
                    </a:p>
                  </a:txBody>
                  <a:tcPr marL="50800" marR="50800" marT="50800" marB="50800" anchor="ctr" horzOverflow="overflow"/>
                </a:tc>
                <a:tc>
                  <a:txBody>
                    <a:bodyPr/>
                    <a:lstStyle/>
                    <a:p>
                      <a:pPr defTabSz="914400">
                        <a:defRPr>
                          <a:solidFill>
                            <a:srgbClr val="000000"/>
                          </a:solidFill>
                        </a:defRPr>
                      </a:pPr>
                      <a:r>
                        <a:rPr sz="3200">
                          <a:solidFill>
                            <a:srgbClr val="FFFFFF"/>
                          </a:solidFill>
                        </a:rPr>
                        <a:t>typed rejection</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x/privacy</a:t>
                      </a:r>
                    </a:p>
                  </a:txBody>
                  <a:tcPr marL="50800" marR="50800" marT="50800" marB="50800" anchor="ctr" horzOverflow="overflow"/>
                </a:tc>
                <a:tc>
                  <a:txBody>
                    <a:bodyPr/>
                    <a:lstStyle/>
                    <a:p>
                      <a:pPr defTabSz="914400">
                        <a:defRPr>
                          <a:solidFill>
                            <a:srgbClr val="000000"/>
                          </a:solidFill>
                        </a:defRPr>
                      </a:pPr>
                      <a:r>
                        <a:rPr sz="3200">
                          <a:solidFill>
                            <a:srgbClr val="FFFFFF"/>
                          </a:solidFill>
                        </a:rPr>
                        <a:t>VK·root·nullifier</a:t>
                      </a:r>
                    </a:p>
                  </a:txBody>
                  <a:tcPr marL="50800" marR="50800" marT="50800" marB="50800" anchor="ctr" horzOverflow="overflow"/>
                </a:tc>
                <a:tc>
                  <a:txBody>
                    <a:bodyPr/>
                    <a:lstStyle/>
                    <a:p>
                      <a:pPr defTabSz="914400">
                        <a:defRPr>
                          <a:solidFill>
                            <a:srgbClr val="000000"/>
                          </a:solidFill>
                        </a:defRPr>
                      </a:pPr>
                      <a:r>
                        <a:rPr sz="3200">
                          <a:solidFill>
                            <a:srgbClr val="FFFFFF"/>
                          </a:solidFill>
                        </a:rPr>
                        <a:t>proof와 상태 전이 검증</a:t>
                      </a:r>
                    </a:p>
                  </a:txBody>
                  <a:tcPr marL="50800" marR="50800" marT="50800" marB="50800" anchor="ctr" horzOverflow="overflow"/>
                </a:tc>
                <a:tc>
                  <a:txBody>
                    <a:bodyPr/>
                    <a:lstStyle/>
                    <a:p>
                      <a:pPr defTabSz="914400">
                        <a:defRPr>
                          <a:solidFill>
                            <a:srgbClr val="000000"/>
                          </a:solidFill>
                        </a:defRPr>
                      </a:pPr>
                      <a:r>
                        <a:rPr sz="3200">
                          <a:solidFill>
                            <a:srgbClr val="FFFFFF"/>
                          </a:solidFill>
                        </a:rPr>
                        <a:t>invalid proof·stale root</a:t>
                      </a:r>
                    </a:p>
                  </a:txBody>
                  <a:tcPr marL="50800" marR="50800" marT="50800" marB="50800" anchor="ctr" horzOverflow="overflow"/>
                </a:tc>
                <a:extLst>
                  <a:ext uri="{0D108BD9-81ED-4DB2-BD59-A6C34878D82A}">
                    <a16:rowId xmlns:a16="http://schemas.microsoft.com/office/drawing/2014/main" val="10004"/>
                  </a:ext>
                </a:extLst>
              </a:tr>
              <a:tr h="990600">
                <a:tc>
                  <a:txBody>
                    <a:bodyPr/>
                    <a:lstStyle/>
                    <a:p>
                      <a:pPr defTabSz="914400">
                        <a:tabLst>
                          <a:tab pos="1663700" algn="l"/>
                        </a:tabLst>
                        <a:defRPr b="0">
                          <a:solidFill>
                            <a:srgbClr val="000000"/>
                          </a:solidFill>
                        </a:defRPr>
                      </a:pPr>
                      <a:r>
                        <a:rPr sz="3200" b="1">
                          <a:solidFill>
                            <a:srgbClr val="FFFFFF"/>
                          </a:solidFill>
                        </a:rPr>
                        <a:t>Employee scanner</a:t>
                      </a:r>
                    </a:p>
                  </a:txBody>
                  <a:tcPr marL="50800" marR="50800" marT="50800" marB="50800" anchor="ctr" horzOverflow="overflow"/>
                </a:tc>
                <a:tc>
                  <a:txBody>
                    <a:bodyPr/>
                    <a:lstStyle/>
                    <a:p>
                      <a:pPr defTabSz="914400">
                        <a:defRPr>
                          <a:solidFill>
                            <a:srgbClr val="000000"/>
                          </a:solidFill>
                        </a:defRPr>
                      </a:pPr>
                      <a:r>
                        <a:rPr sz="3200">
                          <a:solidFill>
                            <a:srgbClr val="FFFFFF"/>
                          </a:solidFill>
                        </a:rPr>
                        <a:t>viewing key</a:t>
                      </a:r>
                    </a:p>
                  </a:txBody>
                  <a:tcPr marL="50800" marR="50800" marT="50800" marB="50800" anchor="ctr" horzOverflow="overflow"/>
                </a:tc>
                <a:tc>
                  <a:txBody>
                    <a:bodyPr/>
                    <a:lstStyle/>
                    <a:p>
                      <a:pPr defTabSz="914400">
                        <a:defRPr>
                          <a:solidFill>
                            <a:srgbClr val="000000"/>
                          </a:solidFill>
                        </a:defRPr>
                      </a:pPr>
                      <a:r>
                        <a:rPr sz="3200">
                          <a:solidFill>
                            <a:srgbClr val="FFFFFF"/>
                          </a:solidFill>
                        </a:rPr>
                        <a:t>본인 note 탐색</a:t>
                      </a:r>
                    </a:p>
                  </a:txBody>
                  <a:tcPr marL="50800" marR="50800" marT="50800" marB="50800" anchor="ctr" horzOverflow="overflow"/>
                </a:tc>
                <a:tc>
                  <a:txBody>
                    <a:bodyPr/>
                    <a:lstStyle/>
                    <a:p>
                      <a:pPr defTabSz="914400">
                        <a:defRPr>
                          <a:solidFill>
                            <a:srgbClr val="000000"/>
                          </a:solidFill>
                        </a:defRPr>
                      </a:pPr>
                      <a:r>
                        <a:rPr sz="3200">
                          <a:solidFill>
                            <a:srgbClr val="FFFFFF"/>
                          </a:solidFill>
                        </a:rPr>
                        <a:t>receipt 성공·scan 0</a:t>
                      </a:r>
                    </a:p>
                  </a:txBody>
                  <a:tcPr marL="50800" marR="50800" marT="50800" marB="50800" anchor="ctr" horzOverflow="overflow"/>
                </a:tc>
                <a:extLst>
                  <a:ext uri="{0D108BD9-81ED-4DB2-BD59-A6C34878D82A}">
                    <a16:rowId xmlns:a16="http://schemas.microsoft.com/office/drawing/2014/main" val="10005"/>
                  </a:ext>
                </a:extLst>
              </a:tr>
              <a:tr h="990600">
                <a:tc>
                  <a:txBody>
                    <a:bodyPr/>
                    <a:lstStyle/>
                    <a:p>
                      <a:pPr defTabSz="914400">
                        <a:tabLst>
                          <a:tab pos="1663700" algn="l"/>
                        </a:tabLst>
                        <a:defRPr b="0">
                          <a:solidFill>
                            <a:srgbClr val="000000"/>
                          </a:solidFill>
                        </a:defRPr>
                      </a:pPr>
                      <a:r>
                        <a:rPr sz="3200" b="1">
                          <a:solidFill>
                            <a:srgbClr val="FFFFFF"/>
                          </a:solidFill>
                        </a:rPr>
                        <a:t>Auditor</a:t>
                      </a:r>
                    </a:p>
                  </a:txBody>
                  <a:tcPr marL="50800" marR="50800" marT="50800" marB="50800" anchor="ctr" horzOverflow="overflow"/>
                </a:tc>
                <a:tc>
                  <a:txBody>
                    <a:bodyPr/>
                    <a:lstStyle/>
                    <a:p>
                      <a:pPr defTabSz="914400">
                        <a:defRPr>
                          <a:solidFill>
                            <a:srgbClr val="000000"/>
                          </a:solidFill>
                        </a:defRPr>
                      </a:pPr>
                      <a:r>
                        <a:rPr sz="3200">
                          <a:solidFill>
                            <a:srgbClr val="FFFFFF"/>
                          </a:solidFill>
                        </a:rPr>
                        <a:t>disclosure key·plan</a:t>
                      </a:r>
                    </a:p>
                  </a:txBody>
                  <a:tcPr marL="50800" marR="50800" marT="50800" marB="50800" anchor="ctr" horzOverflow="overflow"/>
                </a:tc>
                <a:tc>
                  <a:txBody>
                    <a:bodyPr/>
                    <a:lstStyle/>
                    <a:p>
                      <a:pPr defTabSz="914400">
                        <a:defRPr>
                          <a:solidFill>
                            <a:srgbClr val="000000"/>
                          </a:solidFill>
                        </a:defRPr>
                      </a:pPr>
                      <a:r>
                        <a:rPr sz="3200">
                          <a:solidFill>
                            <a:srgbClr val="FFFFFF"/>
                          </a:solidFill>
                        </a:rPr>
                        <a:t>총액과 업무 의도 대사</a:t>
                      </a:r>
                    </a:p>
                  </a:txBody>
                  <a:tcPr marL="50800" marR="50800" marT="50800" marB="50800" anchor="ctr" horzOverflow="overflow"/>
                </a:tc>
                <a:tc>
                  <a:txBody>
                    <a:bodyPr/>
                    <a:lstStyle/>
                    <a:p>
                      <a:pPr defTabSz="914400">
                        <a:defRPr>
                          <a:solidFill>
                            <a:srgbClr val="000000"/>
                          </a:solidFill>
                        </a:defRPr>
                      </a:pPr>
                      <a:r>
                        <a:rPr sz="3200">
                          <a:solidFill>
                            <a:srgbClr val="FFFFFF"/>
                          </a:solidFill>
                        </a:rPr>
                        <a:t>오지급 미탐지</a:t>
                      </a:r>
                    </a:p>
                  </a:txBody>
                  <a:tcPr marL="50800" marR="50800" marT="50800" marB="50800" anchor="ctr" horzOverflow="overflow"/>
                </a:tc>
                <a:extLst>
                  <a:ext uri="{0D108BD9-81ED-4DB2-BD59-A6C34878D82A}">
                    <a16:rowId xmlns:a16="http://schemas.microsoft.com/office/drawing/2014/main" val="10006"/>
                  </a:ext>
                </a:extLst>
              </a:tr>
            </a:tbl>
          </a:graphicData>
        </a:graphic>
      </p:graphicFrame>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공통 환경"/>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공통 환경</a:t>
            </a:r>
          </a:p>
        </p:txBody>
      </p:sp>
      <p:sp>
        <p:nvSpPr>
          <p:cNvPr id="329"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a:p>
        </p:txBody>
      </p:sp>
      <p:sp>
        <p:nvSpPr>
          <p:cNvPr id="330" name="설치는 사전에 마치고, 수업에서는 버전과 Clairveil commit을 함께 확인한다."/>
          <p:cNvSpPr txBox="1"/>
          <p:nvPr/>
        </p:nvSpPr>
        <p:spPr>
          <a:xfrm>
            <a:off x="1524000" y="2413000"/>
            <a:ext cx="213360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일반체"/>
                <a:ea typeface="Apple SD 산돌고딕 Neo 일반체"/>
                <a:cs typeface="Apple SD 산돌고딕 Neo 일반체"/>
                <a:sym typeface="Apple SD 산돌고딕 Neo 일반체"/>
              </a:defRPr>
            </a:lvl1pPr>
          </a:lstStyle>
          <a:p>
            <a:r>
              <a:t>설치는 사전에 마치고, 수업에서는 버전과 Clairveil commit을 함께 확인한다.</a:t>
            </a:r>
          </a:p>
        </p:txBody>
      </p:sp>
      <p:sp>
        <p:nvSpPr>
          <p:cNvPr id="331" name="bun --version…"/>
          <p:cNvSpPr txBox="1"/>
          <p:nvPr/>
        </p:nvSpPr>
        <p:spPr>
          <a:xfrm>
            <a:off x="1524000" y="4191000"/>
            <a:ext cx="21336000" cy="66979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400">
                <a:solidFill>
                  <a:srgbClr val="00E9FF"/>
                </a:solidFill>
                <a:latin typeface="Menlo Regular"/>
                <a:ea typeface="Menlo Regular"/>
                <a:cs typeface="Menlo Regular"/>
                <a:sym typeface="Menlo Regular"/>
              </a:defRPr>
            </a:pPr>
            <a:r>
              <a:t>bun --version</a:t>
            </a:r>
          </a:p>
          <a:p>
            <a:pPr>
              <a:defRPr sz="2400">
                <a:solidFill>
                  <a:srgbClr val="00E9FF"/>
                </a:solidFill>
                <a:latin typeface="Menlo Regular"/>
                <a:ea typeface="Menlo Regular"/>
                <a:cs typeface="Menlo Regular"/>
                <a:sym typeface="Menlo Regular"/>
              </a:defRPr>
            </a:pPr>
            <a:r>
              <a:t>anvil --version</a:t>
            </a:r>
          </a:p>
          <a:p>
            <a:pPr>
              <a:defRPr sz="2400">
                <a:solidFill>
                  <a:srgbClr val="00E9FF"/>
                </a:solidFill>
                <a:latin typeface="Menlo Regular"/>
                <a:ea typeface="Menlo Regular"/>
                <a:cs typeface="Menlo Regular"/>
                <a:sym typeface="Menlo Regular"/>
              </a:defRPr>
            </a:pPr>
            <a:r>
              <a:t>cast --version</a:t>
            </a:r>
          </a:p>
          <a:p>
            <a:pPr>
              <a:defRPr sz="2400">
                <a:solidFill>
                  <a:srgbClr val="00E9FF"/>
                </a:solidFill>
                <a:latin typeface="Menlo Regular"/>
                <a:ea typeface="Menlo Regular"/>
                <a:cs typeface="Menlo Regular"/>
                <a:sym typeface="Menlo Regular"/>
              </a:defRPr>
            </a:pPr>
            <a:r>
              <a:t>forge --version</a:t>
            </a:r>
          </a:p>
          <a:p>
            <a:pPr>
              <a:defRPr sz="2400">
                <a:solidFill>
                  <a:srgbClr val="00E9FF"/>
                </a:solidFill>
                <a:latin typeface="Menlo Regular"/>
                <a:ea typeface="Menlo Regular"/>
                <a:cs typeface="Menlo Regular"/>
                <a:sym typeface="Menlo Regular"/>
              </a:defRPr>
            </a:pPr>
            <a:r>
              <a:t>go version</a:t>
            </a:r>
          </a:p>
          <a:p>
            <a:pPr>
              <a:defRPr sz="2400">
                <a:solidFill>
                  <a:srgbClr val="00E9FF"/>
                </a:solidFill>
                <a:latin typeface="Menlo Regular"/>
                <a:ea typeface="Menlo Regular"/>
                <a:cs typeface="Menlo Regular"/>
                <a:sym typeface="Menlo Regular"/>
              </a:defRPr>
            </a:pPr>
            <a:r>
              <a:t>git -C ../clairveil rev-parse HEAD</a:t>
            </a:r>
          </a:p>
          <a:p>
            <a:pPr>
              <a:defRPr sz="2400">
                <a:solidFill>
                  <a:srgbClr val="00E9FF"/>
                </a:solidFill>
                <a:latin typeface="Menlo Regular"/>
                <a:ea typeface="Menlo Regular"/>
                <a:cs typeface="Menlo Regular"/>
                <a:sym typeface="Menlo Regular"/>
              </a:defRPr>
            </a:pPr>
            <a:r>
              <a:t>bun install --cwd demo --frozen-lockfile</a:t>
            </a:r>
          </a:p>
          <a:p>
            <a:pPr>
              <a:defRPr sz="2400">
                <a:solidFill>
                  <a:srgbClr val="00E9FF"/>
                </a:solidFill>
                <a:latin typeface="Menlo Regular"/>
                <a:ea typeface="Menlo Regular"/>
                <a:cs typeface="Menlo Regular"/>
                <a:sym typeface="Menlo Regular"/>
              </a:defRPr>
            </a:pPr>
            <a:r>
              <a:t>bun run demo/scripts/check-workshop-environment.ts</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계정과 급여 계획"/>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계정과 급여 계획</a:t>
            </a:r>
          </a:p>
        </p:txBody>
      </p:sp>
      <p:sp>
        <p:nvSpPr>
          <p:cNvPr id="337"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graphicFrame>
        <p:nvGraphicFramePr>
          <p:cNvPr id="338" name="표 1"/>
          <p:cNvGraphicFramePr/>
          <p:nvPr/>
        </p:nvGraphicFramePr>
        <p:xfrm>
          <a:off x="1270000" y="2413000"/>
          <a:ext cx="21844000" cy="4953000"/>
        </p:xfrm>
        <a:graphic>
          <a:graphicData uri="http://schemas.openxmlformats.org/drawingml/2006/table">
            <a:tbl>
              <a:tblPr firstRow="1" firstCol="1">
                <a:tableStyleId>{4C3C2611-4C71-4FC5-86AE-919BDF0F9419}</a:tableStyleId>
              </a:tblPr>
              <a:tblGrid>
                <a:gridCol w="5461000">
                  <a:extLst>
                    <a:ext uri="{9D8B030D-6E8A-4147-A177-3AD203B41FA5}">
                      <a16:colId xmlns:a16="http://schemas.microsoft.com/office/drawing/2014/main" val="20000"/>
                    </a:ext>
                  </a:extLst>
                </a:gridCol>
                <a:gridCol w="8255000">
                  <a:extLst>
                    <a:ext uri="{9D8B030D-6E8A-4147-A177-3AD203B41FA5}">
                      <a16:colId xmlns:a16="http://schemas.microsoft.com/office/drawing/2014/main" val="20001"/>
                    </a:ext>
                  </a:extLst>
                </a:gridCol>
                <a:gridCol w="8128000">
                  <a:extLst>
                    <a:ext uri="{9D8B030D-6E8A-4147-A177-3AD203B41FA5}">
                      <a16:colId xmlns:a16="http://schemas.microsoft.com/office/drawing/2014/main" val="20002"/>
                    </a:ext>
                  </a:extLst>
                </a:gridCol>
              </a:tblGrid>
              <a:tr h="990600">
                <a:tc>
                  <a:txBody>
                    <a:bodyPr/>
                    <a:lstStyle/>
                    <a:p>
                      <a:pPr defTabSz="914400">
                        <a:tabLst>
                          <a:tab pos="1663700" algn="l"/>
                        </a:tabLst>
                        <a:defRPr b="0">
                          <a:solidFill>
                            <a:srgbClr val="000000"/>
                          </a:solidFill>
                        </a:defRPr>
                      </a:pPr>
                      <a:r>
                        <a:rPr sz="3200" b="1">
                          <a:solidFill>
                            <a:srgbClr val="FFFFFF"/>
                          </a:solidFill>
                        </a:rPr>
                        <a:t>항목</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역할</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비고</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COMPANY_ACCOUNT</a:t>
                      </a:r>
                    </a:p>
                  </a:txBody>
                  <a:tcPr marL="50800" marR="50800" marT="50800" marB="50800" anchor="ctr" horzOverflow="overflow"/>
                </a:tc>
                <a:tc>
                  <a:txBody>
                    <a:bodyPr/>
                    <a:lstStyle/>
                    <a:p>
                      <a:pPr defTabSz="914400">
                        <a:defRPr>
                          <a:solidFill>
                            <a:srgbClr val="000000"/>
                          </a:solidFill>
                        </a:defRPr>
                      </a:pPr>
                      <a:r>
                        <a:rPr sz="3200">
                          <a:solidFill>
                            <a:srgbClr val="FFFFFF"/>
                          </a:solidFill>
                        </a:rPr>
                        <a:t>회사 공개 EVM 주소</a:t>
                      </a:r>
                    </a:p>
                  </a:txBody>
                  <a:tcPr marL="50800" marR="50800" marT="50800" marB="50800" anchor="ctr" horzOverflow="overflow"/>
                </a:tc>
                <a:tc>
                  <a:txBody>
                    <a:bodyPr/>
                    <a:lstStyle/>
                    <a:p>
                      <a:pPr defTabSz="914400">
                        <a:defRPr>
                          <a:solidFill>
                            <a:srgbClr val="000000"/>
                          </a:solidFill>
                        </a:defRPr>
                      </a:pPr>
                      <a:r>
                        <a:rPr sz="3200">
                          <a:solidFill>
                            <a:srgbClr val="FFFFFF"/>
                          </a:solidFill>
                        </a:rPr>
                        <a:t>deposit과 transfer 호출자</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COMPANY_PRIVATE_KEY</a:t>
                      </a:r>
                    </a:p>
                  </a:txBody>
                  <a:tcPr marL="50800" marR="50800" marT="50800" marB="50800" anchor="ctr" horzOverflow="overflow"/>
                </a:tc>
                <a:tc>
                  <a:txBody>
                    <a:bodyPr/>
                    <a:lstStyle/>
                    <a:p>
                      <a:pPr defTabSz="914400">
                        <a:defRPr>
                          <a:solidFill>
                            <a:srgbClr val="000000"/>
                          </a:solidFill>
                        </a:defRPr>
                      </a:pPr>
                      <a:r>
                        <a:rPr sz="3200">
                          <a:solidFill>
                            <a:srgbClr val="FFFFFF"/>
                          </a:solidFill>
                        </a:rPr>
                        <a:t>회사 testnet signer</a:t>
                      </a:r>
                    </a:p>
                  </a:txBody>
                  <a:tcPr marL="50800" marR="50800" marT="50800" marB="50800" anchor="ctr" horzOverflow="overflow"/>
                </a:tc>
                <a:tc>
                  <a:txBody>
                    <a:bodyPr/>
                    <a:lstStyle/>
                    <a:p>
                      <a:pPr defTabSz="914400">
                        <a:defRPr>
                          <a:solidFill>
                            <a:srgbClr val="000000"/>
                          </a:solidFill>
                        </a:defRPr>
                      </a:pPr>
                      <a:r>
                        <a:rPr sz="3200">
                          <a:solidFill>
                            <a:srgbClr val="FFFFFF"/>
                          </a:solidFill>
                        </a:rPr>
                        <a:t>demo/.env에만 저장</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EMPLOYEE_ACCOUNT</a:t>
                      </a:r>
                    </a:p>
                  </a:txBody>
                  <a:tcPr marL="50800" marR="50800" marT="50800" marB="50800" anchor="ctr" horzOverflow="overflow"/>
                </a:tc>
                <a:tc>
                  <a:txBody>
                    <a:bodyPr/>
                    <a:lstStyle/>
                    <a:p>
                      <a:pPr defTabSz="914400">
                        <a:defRPr>
                          <a:solidFill>
                            <a:srgbClr val="000000"/>
                          </a:solidFill>
                        </a:defRPr>
                      </a:pPr>
                      <a:r>
                        <a:rPr sz="3200">
                          <a:solidFill>
                            <a:srgbClr val="FFFFFF"/>
                          </a:solidFill>
                        </a:rPr>
                        <a:t>별도 직원 공개 계정</a:t>
                      </a:r>
                    </a:p>
                  </a:txBody>
                  <a:tcPr marL="50800" marR="50800" marT="50800" marB="50800" anchor="ctr" horzOverflow="overflow"/>
                </a:tc>
                <a:tc>
                  <a:txBody>
                    <a:bodyPr/>
                    <a:lstStyle/>
                    <a:p>
                      <a:pPr defTabSz="914400">
                        <a:defRPr>
                          <a:solidFill>
                            <a:srgbClr val="000000"/>
                          </a:solidFill>
                        </a:defRPr>
                      </a:pPr>
                      <a:r>
                        <a:rPr sz="3200">
                          <a:solidFill>
                            <a:srgbClr val="FFFFFF"/>
                          </a:solidFill>
                        </a:rPr>
                        <a:t>회사 signer와 달라야 함</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EMP-A/B/C profile</a:t>
                      </a:r>
                    </a:p>
                  </a:txBody>
                  <a:tcPr marL="50800" marR="50800" marT="50800" marB="50800" anchor="ctr" horzOverflow="overflow"/>
                </a:tc>
                <a:tc>
                  <a:txBody>
                    <a:bodyPr/>
                    <a:lstStyle/>
                    <a:p>
                      <a:pPr defTabSz="914400">
                        <a:defRPr>
                          <a:solidFill>
                            <a:srgbClr val="000000"/>
                          </a:solidFill>
                        </a:defRPr>
                      </a:pPr>
                      <a:r>
                        <a:rPr sz="3200">
                          <a:solidFill>
                            <a:srgbClr val="FFFFFF"/>
                          </a:solidFill>
                        </a:rPr>
                        <a:t>비공개 note 수취인</a:t>
                      </a:r>
                    </a:p>
                  </a:txBody>
                  <a:tcPr marL="50800" marR="50800" marT="50800" marB="50800" anchor="ctr" horzOverflow="overflow"/>
                </a:tc>
                <a:tc>
                  <a:txBody>
                    <a:bodyPr/>
                    <a:lstStyle/>
                    <a:p>
                      <a:pPr defTabSz="914400">
                        <a:defRPr>
                          <a:solidFill>
                            <a:srgbClr val="000000"/>
                          </a:solidFill>
                        </a:defRPr>
                      </a:pPr>
                      <a:r>
                        <a:rPr sz="3200">
                          <a:solidFill>
                            <a:srgbClr val="FFFFFF"/>
                          </a:solidFill>
                        </a:rPr>
                        <a:t>세 profile이 서로 달라야 함</a:t>
                      </a:r>
                    </a:p>
                  </a:txBody>
                  <a:tcPr marL="50800" marR="50800" marT="50800" marB="50800" anchor="ctr" horzOverflow="overflow"/>
                </a:tc>
                <a:extLst>
                  <a:ext uri="{0D108BD9-81ED-4DB2-BD59-A6C34878D82A}">
                    <a16:rowId xmlns:a16="http://schemas.microsoft.com/office/drawing/2014/main" val="10004"/>
                  </a:ext>
                </a:extLst>
              </a:tr>
            </a:tbl>
          </a:graphicData>
        </a:graphic>
      </p:graphicFrame>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 name="급여 계획"/>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급여 계획</a:t>
            </a:r>
          </a:p>
        </p:txBody>
      </p:sp>
      <p:sp>
        <p:nvSpPr>
          <p:cNvPr id="344"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12</a:t>
            </a:fld>
            <a:endParaRPr/>
          </a:p>
        </p:txBody>
      </p:sp>
      <p:sp>
        <p:nvSpPr>
          <p:cNvPr id="345" name="300"/>
          <p:cNvSpPr txBox="1"/>
          <p:nvPr/>
        </p:nvSpPr>
        <p:spPr>
          <a:xfrm>
            <a:off x="9334500" y="2667000"/>
            <a:ext cx="5715000" cy="1257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7600">
                <a:solidFill>
                  <a:srgbClr val="00E9FF"/>
                </a:solidFill>
                <a:latin typeface="Apple SD 산돌고딕 Neo 볼드체"/>
                <a:ea typeface="Apple SD 산돌고딕 Neo 볼드체"/>
                <a:cs typeface="Apple SD 산돌고딕 Neo 볼드체"/>
                <a:sym typeface="Apple SD 산돌고딕 Neo 볼드체"/>
              </a:defRPr>
            </a:lvl1pPr>
          </a:lstStyle>
          <a:p>
            <a:r>
              <a:t>300</a:t>
            </a:r>
          </a:p>
        </p:txBody>
      </p:sp>
      <p:sp>
        <p:nvSpPr>
          <p:cNvPr id="346" name="합성 급여 총액"/>
          <p:cNvSpPr txBox="1"/>
          <p:nvPr/>
        </p:nvSpPr>
        <p:spPr>
          <a:xfrm>
            <a:off x="9398000" y="4254500"/>
            <a:ext cx="5588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BEC9D4"/>
                </a:solidFill>
                <a:latin typeface="Apple SD 산돌고딕 Neo 일반체"/>
                <a:ea typeface="Apple SD 산돌고딕 Neo 일반체"/>
                <a:cs typeface="Apple SD 산돌고딕 Neo 일반체"/>
                <a:sym typeface="Apple SD 산돌고딕 Neo 일반체"/>
              </a:defRPr>
            </a:lvl1pPr>
          </a:lstStyle>
          <a:p>
            <a:r>
              <a:t>합성 급여 총액</a:t>
            </a:r>
          </a:p>
        </p:txBody>
      </p:sp>
      <p:sp>
        <p:nvSpPr>
          <p:cNvPr id="347" name="EMP-A"/>
          <p:cNvSpPr txBox="1"/>
          <p:nvPr/>
        </p:nvSpPr>
        <p:spPr>
          <a:xfrm>
            <a:off x="2286000" y="6731000"/>
            <a:ext cx="5334000" cy="571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100">
                <a:latin typeface="Apple SD 산돌고딕 Neo 볼드체"/>
                <a:ea typeface="Apple SD 산돌고딕 Neo 볼드체"/>
                <a:cs typeface="Apple SD 산돌고딕 Neo 볼드체"/>
                <a:sym typeface="Apple SD 산돌고딕 Neo 볼드체"/>
              </a:defRPr>
            </a:lvl1pPr>
          </a:lstStyle>
          <a:p>
            <a:r>
              <a:t>EMP-A</a:t>
            </a:r>
          </a:p>
        </p:txBody>
      </p:sp>
      <p:sp>
        <p:nvSpPr>
          <p:cNvPr id="348" name="100"/>
          <p:cNvSpPr txBox="1"/>
          <p:nvPr/>
        </p:nvSpPr>
        <p:spPr>
          <a:xfrm>
            <a:off x="2286000" y="7937500"/>
            <a:ext cx="5334000" cy="1003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5900">
                <a:solidFill>
                  <a:srgbClr val="00E9FF"/>
                </a:solidFill>
                <a:latin typeface="Apple SD 산돌고딕 Neo 볼드체"/>
                <a:ea typeface="Apple SD 산돌고딕 Neo 볼드체"/>
                <a:cs typeface="Apple SD 산돌고딕 Neo 볼드체"/>
                <a:sym typeface="Apple SD 산돌고딕 Neo 볼드체"/>
              </a:defRPr>
            </a:lvl1pPr>
          </a:lstStyle>
          <a:p>
            <a:r>
              <a:t>100</a:t>
            </a:r>
          </a:p>
        </p:txBody>
      </p:sp>
      <p:sp>
        <p:nvSpPr>
          <p:cNvPr id="349" name="서로 다른 shielded profile"/>
          <p:cNvSpPr txBox="1"/>
          <p:nvPr/>
        </p:nvSpPr>
        <p:spPr>
          <a:xfrm>
            <a:off x="2286000" y="9588500"/>
            <a:ext cx="5588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BEC9D4"/>
                </a:solidFill>
                <a:latin typeface="Apple SD 산돌고딕 Neo 일반체"/>
                <a:ea typeface="Apple SD 산돌고딕 Neo 일반체"/>
                <a:cs typeface="Apple SD 산돌고딕 Neo 일반체"/>
                <a:sym typeface="Apple SD 산돌고딕 Neo 일반체"/>
              </a:defRPr>
            </a:lvl1pPr>
          </a:lstStyle>
          <a:p>
            <a:r>
              <a:t>서로 다른 shielded profile</a:t>
            </a:r>
          </a:p>
        </p:txBody>
      </p:sp>
      <p:sp>
        <p:nvSpPr>
          <p:cNvPr id="350" name="EMP-B"/>
          <p:cNvSpPr txBox="1"/>
          <p:nvPr/>
        </p:nvSpPr>
        <p:spPr>
          <a:xfrm>
            <a:off x="9779000" y="6731000"/>
            <a:ext cx="5334000" cy="571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100">
                <a:latin typeface="Apple SD 산돌고딕 Neo 볼드체"/>
                <a:ea typeface="Apple SD 산돌고딕 Neo 볼드체"/>
                <a:cs typeface="Apple SD 산돌고딕 Neo 볼드체"/>
                <a:sym typeface="Apple SD 산돌고딕 Neo 볼드체"/>
              </a:defRPr>
            </a:lvl1pPr>
          </a:lstStyle>
          <a:p>
            <a:r>
              <a:t>EMP-B</a:t>
            </a:r>
          </a:p>
        </p:txBody>
      </p:sp>
      <p:sp>
        <p:nvSpPr>
          <p:cNvPr id="351" name="120"/>
          <p:cNvSpPr txBox="1"/>
          <p:nvPr/>
        </p:nvSpPr>
        <p:spPr>
          <a:xfrm>
            <a:off x="9779000" y="7937500"/>
            <a:ext cx="5334000" cy="1003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5900">
                <a:solidFill>
                  <a:srgbClr val="00E9FF"/>
                </a:solidFill>
                <a:latin typeface="Apple SD 산돌고딕 Neo 볼드체"/>
                <a:ea typeface="Apple SD 산돌고딕 Neo 볼드체"/>
                <a:cs typeface="Apple SD 산돌고딕 Neo 볼드체"/>
                <a:sym typeface="Apple SD 산돌고딕 Neo 볼드체"/>
              </a:defRPr>
            </a:lvl1pPr>
          </a:lstStyle>
          <a:p>
            <a:r>
              <a:t>120</a:t>
            </a:r>
          </a:p>
        </p:txBody>
      </p:sp>
      <p:sp>
        <p:nvSpPr>
          <p:cNvPr id="352" name="서로 다른 shielded profile"/>
          <p:cNvSpPr txBox="1"/>
          <p:nvPr/>
        </p:nvSpPr>
        <p:spPr>
          <a:xfrm>
            <a:off x="9779000" y="9588500"/>
            <a:ext cx="5588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BEC9D4"/>
                </a:solidFill>
                <a:latin typeface="Apple SD 산돌고딕 Neo 일반체"/>
                <a:ea typeface="Apple SD 산돌고딕 Neo 일반체"/>
                <a:cs typeface="Apple SD 산돌고딕 Neo 일반체"/>
                <a:sym typeface="Apple SD 산돌고딕 Neo 일반체"/>
              </a:defRPr>
            </a:lvl1pPr>
          </a:lstStyle>
          <a:p>
            <a:r>
              <a:t>서로 다른 shielded profile</a:t>
            </a:r>
          </a:p>
        </p:txBody>
      </p:sp>
      <p:sp>
        <p:nvSpPr>
          <p:cNvPr id="353" name="EMP-C"/>
          <p:cNvSpPr txBox="1"/>
          <p:nvPr/>
        </p:nvSpPr>
        <p:spPr>
          <a:xfrm>
            <a:off x="17272000" y="6731000"/>
            <a:ext cx="5334000" cy="5715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100">
                <a:latin typeface="Apple SD 산돌고딕 Neo 볼드체"/>
                <a:ea typeface="Apple SD 산돌고딕 Neo 볼드체"/>
                <a:cs typeface="Apple SD 산돌고딕 Neo 볼드체"/>
                <a:sym typeface="Apple SD 산돌고딕 Neo 볼드체"/>
              </a:defRPr>
            </a:lvl1pPr>
          </a:lstStyle>
          <a:p>
            <a:r>
              <a:t>EMP-C</a:t>
            </a:r>
          </a:p>
        </p:txBody>
      </p:sp>
      <p:sp>
        <p:nvSpPr>
          <p:cNvPr id="354" name="80"/>
          <p:cNvSpPr txBox="1"/>
          <p:nvPr/>
        </p:nvSpPr>
        <p:spPr>
          <a:xfrm>
            <a:off x="17272000" y="7937500"/>
            <a:ext cx="5334000" cy="1003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5900">
                <a:solidFill>
                  <a:srgbClr val="00E9FF"/>
                </a:solidFill>
                <a:latin typeface="Apple SD 산돌고딕 Neo 볼드체"/>
                <a:ea typeface="Apple SD 산돌고딕 Neo 볼드체"/>
                <a:cs typeface="Apple SD 산돌고딕 Neo 볼드체"/>
                <a:sym typeface="Apple SD 산돌고딕 Neo 볼드체"/>
              </a:defRPr>
            </a:lvl1pPr>
          </a:lstStyle>
          <a:p>
            <a:r>
              <a:t>80</a:t>
            </a:r>
          </a:p>
        </p:txBody>
      </p:sp>
      <p:sp>
        <p:nvSpPr>
          <p:cNvPr id="355" name="서로 다른 shielded profile"/>
          <p:cNvSpPr txBox="1"/>
          <p:nvPr/>
        </p:nvSpPr>
        <p:spPr>
          <a:xfrm>
            <a:off x="17272000" y="9588500"/>
            <a:ext cx="5588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BEC9D4"/>
                </a:solidFill>
                <a:latin typeface="Apple SD 산돌고딕 Neo 일반체"/>
                <a:ea typeface="Apple SD 산돌고딕 Neo 일반체"/>
                <a:cs typeface="Apple SD 산돌고딕 Neo 일반체"/>
                <a:sym typeface="Apple SD 산돌고딕 Neo 일반체"/>
              </a:defRPr>
            </a:lvl1pPr>
          </a:lstStyle>
          <a:p>
            <a:r>
              <a:t>서로 다른 shielded profile</a:t>
            </a:r>
          </a:p>
        </p:txBody>
      </p:sp>
      <p:sp>
        <p:nvSpPr>
          <p:cNvPr id="356" name="Clairveil Local에서는 uclair, Maroo 목표에서는 OKRW 상당"/>
          <p:cNvSpPr txBox="1"/>
          <p:nvPr/>
        </p:nvSpPr>
        <p:spPr>
          <a:xfrm>
            <a:off x="6350000" y="11430000"/>
            <a:ext cx="116840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solidFill>
                  <a:srgbClr val="BEC9D4"/>
                </a:solidFill>
                <a:latin typeface="Apple SD 산돌고딕 Neo 일반체"/>
                <a:ea typeface="Apple SD 산돌고딕 Neo 일반체"/>
                <a:cs typeface="Apple SD 산돌고딕 Neo 일반체"/>
                <a:sym typeface="Apple SD 산돌고딕 Neo 일반체"/>
              </a:defRPr>
            </a:lvl1pPr>
          </a:lstStyle>
          <a:p>
            <a:r>
              <a:t>Clairveil Local에서는 uclair, Maroo 목표에서는 OKRW 상당</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Maroo read-only preflight"/>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Maroo read-only preflight</a:t>
            </a:r>
          </a:p>
        </p:txBody>
      </p:sp>
      <p:sp>
        <p:nvSpPr>
          <p:cNvPr id="362"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13</a:t>
            </a:fld>
            <a:endParaRPr/>
          </a:p>
        </p:txBody>
      </p:sp>
      <p:sp>
        <p:nvSpPr>
          <p:cNvPr id="363" name="회사 계정, 잔액, OKRW, PCL, Privacy 상태를 읽는다. 이 단계는 상태를 바꾸지 않는다."/>
          <p:cNvSpPr txBox="1"/>
          <p:nvPr/>
        </p:nvSpPr>
        <p:spPr>
          <a:xfrm>
            <a:off x="1524000" y="2413000"/>
            <a:ext cx="21336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일반체"/>
                <a:ea typeface="Apple SD 산돌고딕 Neo 일반체"/>
                <a:cs typeface="Apple SD 산돌고딕 Neo 일반체"/>
                <a:sym typeface="Apple SD 산돌고딕 Neo 일반체"/>
              </a:defRPr>
            </a:lvl1pPr>
          </a:lstStyle>
          <a:p>
            <a:r>
              <a:t>회사 계정, 잔액, OKRW, PCL, Privacy 상태를 읽는다. 이 단계는 상태를 바꾸지 않는다.</a:t>
            </a:r>
          </a:p>
        </p:txBody>
      </p:sp>
      <p:sp>
        <p:nvSpPr>
          <p:cNvPr id="364" name="bun run demo/scripts/run.ts \…"/>
          <p:cNvSpPr txBox="1"/>
          <p:nvPr/>
        </p:nvSpPr>
        <p:spPr>
          <a:xfrm>
            <a:off x="1524000" y="4191000"/>
            <a:ext cx="21336000" cy="4914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400">
                <a:solidFill>
                  <a:srgbClr val="00E9FF"/>
                </a:solidFill>
                <a:latin typeface="Menlo Regular"/>
                <a:ea typeface="Menlo Regular"/>
                <a:cs typeface="Menlo Regular"/>
                <a:sym typeface="Menlo Regular"/>
              </a:defRPr>
            </a:pPr>
            <a:r>
              <a:t>bun run demo/scripts/run.ts \</a:t>
            </a:r>
          </a:p>
          <a:p>
            <a:pPr>
              <a:defRPr sz="2400">
                <a:solidFill>
                  <a:srgbClr val="00E9FF"/>
                </a:solidFill>
                <a:latin typeface="Menlo Regular"/>
                <a:ea typeface="Menlo Regular"/>
                <a:cs typeface="Menlo Regular"/>
                <a:sym typeface="Menlo Regular"/>
              </a:defRPr>
            </a:pPr>
            <a:r>
              <a:t>  --target maroo-testnet \</a:t>
            </a:r>
          </a:p>
          <a:p>
            <a:pPr>
              <a:defRPr sz="2400">
                <a:solidFill>
                  <a:srgbClr val="00E9FF"/>
                </a:solidFill>
                <a:latin typeface="Menlo Regular"/>
                <a:ea typeface="Menlo Regular"/>
                <a:cs typeface="Menlo Regular"/>
                <a:sym typeface="Menlo Regular"/>
              </a:defRPr>
            </a:pPr>
            <a:r>
              <a:t>  --action preflight \</a:t>
            </a:r>
          </a:p>
          <a:p>
            <a:pPr>
              <a:defRPr sz="2400">
                <a:solidFill>
                  <a:srgbClr val="00E9FF"/>
                </a:solidFill>
                <a:latin typeface="Menlo Regular"/>
                <a:ea typeface="Menlo Regular"/>
                <a:cs typeface="Menlo Regular"/>
                <a:sym typeface="Menlo Regular"/>
              </a:defRPr>
            </a:pPr>
            <a:r>
              <a:t>  --env demo/.env \</a:t>
            </a:r>
          </a:p>
          <a:p>
            <a:pPr>
              <a:defRPr sz="2400">
                <a:solidFill>
                  <a:srgbClr val="00E9FF"/>
                </a:solidFill>
                <a:latin typeface="Menlo Regular"/>
                <a:ea typeface="Menlo Regular"/>
                <a:cs typeface="Menlo Regular"/>
                <a:sym typeface="Menlo Regular"/>
              </a:defRPr>
            </a:pPr>
            <a:r>
              <a:t>  --plan demo/fixtures/payroll-plan.json \</a:t>
            </a:r>
          </a:p>
          <a:p>
            <a:pPr>
              <a:defRPr sz="2400">
                <a:solidFill>
                  <a:srgbClr val="00E9FF"/>
                </a:solidFill>
                <a:latin typeface="Menlo Regular"/>
                <a:ea typeface="Menlo Regular"/>
                <a:cs typeface="Menlo Regular"/>
                <a:sym typeface="Menlo Regular"/>
              </a:defRPr>
            </a:pPr>
            <a:r>
              <a:t>  --out evidence/live-testnet/preflight.json</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Maroo readiness 판정"/>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Maroo readiness 판정</a:t>
            </a:r>
          </a:p>
        </p:txBody>
      </p:sp>
      <p:sp>
        <p:nvSpPr>
          <p:cNvPr id="370"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a:p>
        </p:txBody>
      </p:sp>
      <p:graphicFrame>
        <p:nvGraphicFramePr>
          <p:cNvPr id="371" name="표 1"/>
          <p:cNvGraphicFramePr/>
          <p:nvPr/>
        </p:nvGraphicFramePr>
        <p:xfrm>
          <a:off x="1270000" y="2413000"/>
          <a:ext cx="21844000" cy="5943600"/>
        </p:xfrm>
        <a:graphic>
          <a:graphicData uri="http://schemas.openxmlformats.org/drawingml/2006/table">
            <a:tbl>
              <a:tblPr firstRow="1" firstCol="1">
                <a:tableStyleId>{4C3C2611-4C71-4FC5-86AE-919BDF0F9419}</a:tableStyleId>
              </a:tblPr>
              <a:tblGrid>
                <a:gridCol w="6604000">
                  <a:extLst>
                    <a:ext uri="{9D8B030D-6E8A-4147-A177-3AD203B41FA5}">
                      <a16:colId xmlns:a16="http://schemas.microsoft.com/office/drawing/2014/main" val="20000"/>
                    </a:ext>
                  </a:extLst>
                </a:gridCol>
                <a:gridCol w="15240000">
                  <a:extLst>
                    <a:ext uri="{9D8B030D-6E8A-4147-A177-3AD203B41FA5}">
                      <a16:colId xmlns:a16="http://schemas.microsoft.com/office/drawing/2014/main" val="20001"/>
                    </a:ext>
                  </a:extLst>
                </a:gridCol>
              </a:tblGrid>
              <a:tr h="990600">
                <a:tc>
                  <a:txBody>
                    <a:bodyPr/>
                    <a:lstStyle/>
                    <a:p>
                      <a:pPr defTabSz="914400">
                        <a:tabLst>
                          <a:tab pos="1663700" algn="l"/>
                        </a:tabLst>
                        <a:defRPr b="0">
                          <a:solidFill>
                            <a:srgbClr val="000000"/>
                          </a:solidFill>
                        </a:defRPr>
                      </a:pPr>
                      <a:r>
                        <a:rPr sz="3200" b="1">
                          <a:solidFill>
                            <a:srgbClr val="FFFFFF"/>
                          </a:solidFill>
                        </a:rPr>
                        <a:t>확인</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통과 기준</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Network</a:t>
                      </a:r>
                    </a:p>
                  </a:txBody>
                  <a:tcPr marL="50800" marR="50800" marT="50800" marB="50800" anchor="ctr" horzOverflow="overflow"/>
                </a:tc>
                <a:tc>
                  <a:txBody>
                    <a:bodyPr/>
                    <a:lstStyle/>
                    <a:p>
                      <a:pPr defTabSz="914400">
                        <a:defRPr>
                          <a:solidFill>
                            <a:srgbClr val="000000"/>
                          </a:solidFill>
                        </a:defRPr>
                      </a:pPr>
                      <a:r>
                        <a:rPr sz="3200">
                          <a:solidFill>
                            <a:srgbClr val="FFFFFF"/>
                          </a:solidFill>
                        </a:rPr>
                        <a:t>chainId 450815</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Company signer</a:t>
                      </a:r>
                    </a:p>
                  </a:txBody>
                  <a:tcPr marL="50800" marR="50800" marT="50800" marB="50800" anchor="ctr" horzOverflow="overflow"/>
                </a:tc>
                <a:tc>
                  <a:txBody>
                    <a:bodyPr/>
                    <a:lstStyle/>
                    <a:p>
                      <a:pPr defTabSz="914400">
                        <a:defRPr>
                          <a:solidFill>
                            <a:srgbClr val="000000"/>
                          </a:solidFill>
                        </a:defRPr>
                      </a:pPr>
                      <a:r>
                        <a:rPr sz="3200">
                          <a:solidFill>
                            <a:srgbClr val="FFFFFF"/>
                          </a:solidFill>
                        </a:rPr>
                        <a:t>COMPANY_ACCOUNT와 private key 파생 주소 일치</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Role separation</a:t>
                      </a:r>
                    </a:p>
                  </a:txBody>
                  <a:tcPr marL="50800" marR="50800" marT="50800" marB="50800" anchor="ctr" horzOverflow="overflow"/>
                </a:tc>
                <a:tc>
                  <a:txBody>
                    <a:bodyPr/>
                    <a:lstStyle/>
                    <a:p>
                      <a:pPr defTabSz="914400">
                        <a:defRPr>
                          <a:solidFill>
                            <a:srgbClr val="000000"/>
                          </a:solidFill>
                        </a:defRPr>
                      </a:pPr>
                      <a:r>
                        <a:rPr sz="3200">
                          <a:solidFill>
                            <a:srgbClr val="FFFFFF"/>
                          </a:solidFill>
                        </a:rPr>
                        <a:t>COMPANY_ACCOUNT와 EMPLOYEE_ACCOUNT가 다름</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Funding</a:t>
                      </a:r>
                    </a:p>
                  </a:txBody>
                  <a:tcPr marL="50800" marR="50800" marT="50800" marB="50800" anchor="ctr" horzOverflow="overflow"/>
                </a:tc>
                <a:tc>
                  <a:txBody>
                    <a:bodyPr/>
                    <a:lstStyle/>
                    <a:p>
                      <a:pPr defTabSz="914400">
                        <a:defRPr>
                          <a:solidFill>
                            <a:srgbClr val="000000"/>
                          </a:solidFill>
                        </a:defRPr>
                      </a:pPr>
                      <a:r>
                        <a:rPr sz="3200">
                          <a:solidFill>
                            <a:srgbClr val="FFFFFF"/>
                          </a:solidFill>
                        </a:rPr>
                        <a:t>가스와 300 OKRW 상당 deposit 여유</a:t>
                      </a:r>
                    </a:p>
                  </a:txBody>
                  <a:tcPr marL="50800" marR="50800" marT="50800" marB="50800" anchor="ctr" horzOverflow="overflow"/>
                </a:tc>
                <a:extLst>
                  <a:ext uri="{0D108BD9-81ED-4DB2-BD59-A6C34878D82A}">
                    <a16:rowId xmlns:a16="http://schemas.microsoft.com/office/drawing/2014/main" val="10004"/>
                  </a:ext>
                </a:extLst>
              </a:tr>
              <a:tr h="990600">
                <a:tc>
                  <a:txBody>
                    <a:bodyPr/>
                    <a:lstStyle/>
                    <a:p>
                      <a:pPr defTabSz="914400">
                        <a:tabLst>
                          <a:tab pos="1663700" algn="l"/>
                        </a:tabLst>
                        <a:defRPr b="0">
                          <a:solidFill>
                            <a:srgbClr val="000000"/>
                          </a:solidFill>
                        </a:defRPr>
                      </a:pPr>
                      <a:r>
                        <a:rPr sz="3200" b="1">
                          <a:solidFill>
                            <a:srgbClr val="FFFFFF"/>
                          </a:solidFill>
                        </a:rPr>
                        <a:t>Policy state</a:t>
                      </a:r>
                    </a:p>
                  </a:txBody>
                  <a:tcPr marL="50800" marR="50800" marT="50800" marB="50800" anchor="ctr" horzOverflow="overflow"/>
                </a:tc>
                <a:tc>
                  <a:txBody>
                    <a:bodyPr/>
                    <a:lstStyle/>
                    <a:p>
                      <a:pPr defTabSz="914400">
                        <a:defRPr>
                          <a:solidFill>
                            <a:srgbClr val="000000"/>
                          </a:solidFill>
                        </a:defRPr>
                      </a:pPr>
                      <a:r>
                        <a:rPr sz="3200">
                          <a:solidFill>
                            <a:srgbClr val="FFFFFF"/>
                          </a:solidFill>
                        </a:rPr>
                        <a:t>global과 Privacy policy raw state 기록</a:t>
                      </a:r>
                    </a:p>
                  </a:txBody>
                  <a:tcPr marL="50800" marR="50800" marT="50800" marB="50800" anchor="ctr" horzOverflow="overflow"/>
                </a:tc>
                <a:extLst>
                  <a:ext uri="{0D108BD9-81ED-4DB2-BD59-A6C34878D82A}">
                    <a16:rowId xmlns:a16="http://schemas.microsoft.com/office/drawing/2014/main" val="10005"/>
                  </a:ext>
                </a:extLst>
              </a:tr>
            </a:tbl>
          </a:graphicData>
        </a:graphic>
      </p:graphicFrame>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15</a:t>
            </a:fld>
            <a:endParaRPr/>
          </a:p>
        </p:txBody>
      </p:sp>
      <p:sp>
        <p:nvSpPr>
          <p:cNvPr id="376" name="Clairveil Local · 실제 proof를 확인하는 격리 환경"/>
          <p:cNvSpPr txBox="1"/>
          <p:nvPr/>
        </p:nvSpPr>
        <p:spPr>
          <a:xfrm>
            <a:off x="1270000" y="698500"/>
            <a:ext cx="19685001" cy="800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600">
                <a:latin typeface="Apple SD 산돌고딕 Neo 볼드체"/>
                <a:ea typeface="Apple SD 산돌고딕 Neo 볼드체"/>
                <a:cs typeface="Apple SD 산돌고딕 Neo 볼드체"/>
                <a:sym typeface="Apple SD 산돌고딕 Neo 볼드체"/>
              </a:defRPr>
            </a:lvl1pPr>
          </a:lstStyle>
          <a:p>
            <a:r>
              <a:t>Clairveil Local · 실제 proof를 확인하는 격리 환경</a:t>
            </a:r>
          </a:p>
        </p:txBody>
      </p:sp>
      <p:sp>
        <p:nvSpPr>
          <p:cNvPr id="377" name="직사각형"/>
          <p:cNvSpPr/>
          <p:nvPr/>
        </p:nvSpPr>
        <p:spPr>
          <a:xfrm>
            <a:off x="952500" y="2159000"/>
            <a:ext cx="22479001" cy="8255000"/>
          </a:xfrm>
          <a:prstGeom prst="rect">
            <a:avLst/>
          </a:prstGeom>
          <a:solidFill>
            <a:srgbClr val="FFFFFF">
              <a:alpha val="6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78" name="LOCAL PROCESS BOUNDARY"/>
          <p:cNvSpPr txBox="1"/>
          <p:nvPr/>
        </p:nvSpPr>
        <p:spPr>
          <a:xfrm>
            <a:off x="1397000" y="2413000"/>
            <a:ext cx="8255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LOCAL PROCESS BOUNDARY</a:t>
            </a:r>
          </a:p>
        </p:txBody>
      </p:sp>
      <p:sp>
        <p:nvSpPr>
          <p:cNvPr id="379" name="직사각형"/>
          <p:cNvSpPr/>
          <p:nvPr/>
        </p:nvSpPr>
        <p:spPr>
          <a:xfrm>
            <a:off x="1397000" y="4000500"/>
            <a:ext cx="3556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80" name="Bun runner"/>
          <p:cNvSpPr txBox="1"/>
          <p:nvPr/>
        </p:nvSpPr>
        <p:spPr>
          <a:xfrm>
            <a:off x="1701800" y="43180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Bun runner</a:t>
            </a:r>
          </a:p>
        </p:txBody>
      </p:sp>
      <p:sp>
        <p:nvSpPr>
          <p:cNvPr id="381" name="환경 준비·실행·정리"/>
          <p:cNvSpPr txBox="1"/>
          <p:nvPr/>
        </p:nvSpPr>
        <p:spPr>
          <a:xfrm>
            <a:off x="1701800" y="5016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환경 준비·실행·정리</a:t>
            </a:r>
          </a:p>
        </p:txBody>
      </p:sp>
      <p:sp>
        <p:nvSpPr>
          <p:cNvPr id="382" name="evidence JSON"/>
          <p:cNvSpPr txBox="1"/>
          <p:nvPr/>
        </p:nvSpPr>
        <p:spPr>
          <a:xfrm>
            <a:off x="1701800" y="5524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evidence JSON</a:t>
            </a:r>
          </a:p>
        </p:txBody>
      </p:sp>
      <p:sp>
        <p:nvSpPr>
          <p:cNvPr id="383" name="직사각형"/>
          <p:cNvSpPr/>
          <p:nvPr/>
        </p:nvSpPr>
        <p:spPr>
          <a:xfrm>
            <a:off x="5969000" y="4000500"/>
            <a:ext cx="3556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84" name="Local chain"/>
          <p:cNvSpPr txBox="1"/>
          <p:nvPr/>
        </p:nvSpPr>
        <p:spPr>
          <a:xfrm>
            <a:off x="6273800" y="43180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Local chain</a:t>
            </a:r>
          </a:p>
        </p:txBody>
      </p:sp>
      <p:sp>
        <p:nvSpPr>
          <p:cNvPr id="385" name="Clairveil nodes"/>
          <p:cNvSpPr txBox="1"/>
          <p:nvPr/>
        </p:nvSpPr>
        <p:spPr>
          <a:xfrm>
            <a:off x="6273800" y="5016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Clairveil nodes</a:t>
            </a:r>
          </a:p>
        </p:txBody>
      </p:sp>
      <p:sp>
        <p:nvSpPr>
          <p:cNvPr id="386" name="x/privacy state"/>
          <p:cNvSpPr txBox="1"/>
          <p:nvPr/>
        </p:nvSpPr>
        <p:spPr>
          <a:xfrm>
            <a:off x="6273800" y="5524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x/privacy state</a:t>
            </a:r>
          </a:p>
        </p:txBody>
      </p:sp>
      <p:sp>
        <p:nvSpPr>
          <p:cNvPr id="387" name="직사각형"/>
          <p:cNvSpPr/>
          <p:nvPr/>
        </p:nvSpPr>
        <p:spPr>
          <a:xfrm>
            <a:off x="10541000" y="4000500"/>
            <a:ext cx="3556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88" name="Go prover"/>
          <p:cNvSpPr txBox="1"/>
          <p:nvPr/>
        </p:nvSpPr>
        <p:spPr>
          <a:xfrm>
            <a:off x="10845800" y="43180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Go prover</a:t>
            </a:r>
          </a:p>
        </p:txBody>
      </p:sp>
      <p:sp>
        <p:nvSpPr>
          <p:cNvPr id="389" name="witness · proof"/>
          <p:cNvSpPr txBox="1"/>
          <p:nvPr/>
        </p:nvSpPr>
        <p:spPr>
          <a:xfrm>
            <a:off x="10845800" y="5016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witness · proof</a:t>
            </a:r>
          </a:p>
        </p:txBody>
      </p:sp>
      <p:sp>
        <p:nvSpPr>
          <p:cNvPr id="390" name="3 encrypted outputs"/>
          <p:cNvSpPr txBox="1"/>
          <p:nvPr/>
        </p:nvSpPr>
        <p:spPr>
          <a:xfrm>
            <a:off x="10845800" y="5524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3 encrypted outputs</a:t>
            </a:r>
          </a:p>
        </p:txBody>
      </p:sp>
      <p:sp>
        <p:nvSpPr>
          <p:cNvPr id="391" name="직사각형"/>
          <p:cNvSpPr/>
          <p:nvPr/>
        </p:nvSpPr>
        <p:spPr>
          <a:xfrm>
            <a:off x="15113000" y="4000500"/>
            <a:ext cx="3556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92" name="Batch tx"/>
          <p:cNvSpPr txBox="1"/>
          <p:nvPr/>
        </p:nvSpPr>
        <p:spPr>
          <a:xfrm>
            <a:off x="15417800" y="43180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Batch tx</a:t>
            </a:r>
          </a:p>
        </p:txBody>
      </p:sp>
      <p:sp>
        <p:nvSpPr>
          <p:cNvPr id="393" name="input 1 · output 3"/>
          <p:cNvSpPr txBox="1"/>
          <p:nvPr/>
        </p:nvSpPr>
        <p:spPr>
          <a:xfrm>
            <a:off x="15417800" y="5016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input 1 · output 3</a:t>
            </a:r>
          </a:p>
        </p:txBody>
      </p:sp>
      <p:sp>
        <p:nvSpPr>
          <p:cNvPr id="394" name="root · disclosure"/>
          <p:cNvSpPr txBox="1"/>
          <p:nvPr/>
        </p:nvSpPr>
        <p:spPr>
          <a:xfrm>
            <a:off x="15417800" y="55245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root · disclosure</a:t>
            </a:r>
          </a:p>
        </p:txBody>
      </p:sp>
      <p:sp>
        <p:nvSpPr>
          <p:cNvPr id="395" name="직사각형"/>
          <p:cNvSpPr/>
          <p:nvPr/>
        </p:nvSpPr>
        <p:spPr>
          <a:xfrm>
            <a:off x="19685000" y="4000500"/>
            <a:ext cx="3175000" cy="2159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396" name="3 scanners"/>
          <p:cNvSpPr txBox="1"/>
          <p:nvPr/>
        </p:nvSpPr>
        <p:spPr>
          <a:xfrm>
            <a:off x="19989800" y="4318000"/>
            <a:ext cx="2565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3 scanners</a:t>
            </a:r>
          </a:p>
        </p:txBody>
      </p:sp>
      <p:sp>
        <p:nvSpPr>
          <p:cNvPr id="397" name="A 100 · B 120"/>
          <p:cNvSpPr txBox="1"/>
          <p:nvPr/>
        </p:nvSpPr>
        <p:spPr>
          <a:xfrm>
            <a:off x="19989800" y="5016500"/>
            <a:ext cx="256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A 100 · B 120</a:t>
            </a:r>
          </a:p>
        </p:txBody>
      </p:sp>
      <p:sp>
        <p:nvSpPr>
          <p:cNvPr id="398" name="C 80 uclair"/>
          <p:cNvSpPr txBox="1"/>
          <p:nvPr/>
        </p:nvSpPr>
        <p:spPr>
          <a:xfrm>
            <a:off x="19989800" y="5524500"/>
            <a:ext cx="256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 80 uclair</a:t>
            </a:r>
          </a:p>
        </p:txBody>
      </p:sp>
      <p:sp>
        <p:nvSpPr>
          <p:cNvPr id="399" name="→"/>
          <p:cNvSpPr txBox="1"/>
          <p:nvPr/>
        </p:nvSpPr>
        <p:spPr>
          <a:xfrm>
            <a:off x="5080000" y="4635500"/>
            <a:ext cx="7620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00" name="→"/>
          <p:cNvSpPr txBox="1"/>
          <p:nvPr/>
        </p:nvSpPr>
        <p:spPr>
          <a:xfrm>
            <a:off x="9652000" y="4635500"/>
            <a:ext cx="7620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01" name="→"/>
          <p:cNvSpPr txBox="1"/>
          <p:nvPr/>
        </p:nvSpPr>
        <p:spPr>
          <a:xfrm>
            <a:off x="14224000" y="4635500"/>
            <a:ext cx="7620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02" name="→"/>
          <p:cNvSpPr txBox="1"/>
          <p:nvPr/>
        </p:nvSpPr>
        <p:spPr>
          <a:xfrm>
            <a:off x="18796000" y="4635500"/>
            <a:ext cx="7620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03" name="직접 확인"/>
          <p:cNvSpPr txBox="1"/>
          <p:nvPr/>
        </p:nvSpPr>
        <p:spPr>
          <a:xfrm>
            <a:off x="2032000" y="7874000"/>
            <a:ext cx="3175001"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600">
                <a:solidFill>
                  <a:srgbClr val="40E19E"/>
                </a:solidFill>
                <a:latin typeface="Apple SD 산돌고딕 Neo 볼드체"/>
                <a:ea typeface="Apple SD 산돌고딕 Neo 볼드체"/>
                <a:cs typeface="Apple SD 산돌고딕 Neo 볼드체"/>
                <a:sym typeface="Apple SD 산돌고딕 Neo 볼드체"/>
              </a:defRPr>
            </a:lvl1pPr>
          </a:lstStyle>
          <a:p>
            <a:r>
              <a:t>직접 확인</a:t>
            </a:r>
          </a:p>
        </p:txBody>
      </p:sp>
      <p:sp>
        <p:nvSpPr>
          <p:cNvPr id="404" name="deposit · proof 1개 · output 3개 · 직원별 scan"/>
          <p:cNvSpPr txBox="1"/>
          <p:nvPr/>
        </p:nvSpPr>
        <p:spPr>
          <a:xfrm>
            <a:off x="5080000" y="7874000"/>
            <a:ext cx="8509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latin typeface="Apple SD 산돌고딕 Neo 일반체"/>
                <a:ea typeface="Apple SD 산돌고딕 Neo 일반체"/>
                <a:cs typeface="Apple SD 산돌고딕 Neo 일반체"/>
                <a:sym typeface="Apple SD 산돌고딕 Neo 일반체"/>
              </a:defRPr>
            </a:lvl1pPr>
          </a:lstStyle>
          <a:p>
            <a:r>
              <a:t>deposit · proof 1개 · output 3개 · 직원별 scan</a:t>
            </a:r>
          </a:p>
        </p:txBody>
      </p:sp>
      <p:sp>
        <p:nvSpPr>
          <p:cNvPr id="405" name="증명하지 않음"/>
          <p:cNvSpPr txBox="1"/>
          <p:nvPr/>
        </p:nvSpPr>
        <p:spPr>
          <a:xfrm>
            <a:off x="2032000" y="8890000"/>
            <a:ext cx="3175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600">
                <a:solidFill>
                  <a:srgbClr val="FFBF2C"/>
                </a:solidFill>
                <a:latin typeface="Apple SD 산돌고딕 Neo 볼드체"/>
                <a:ea typeface="Apple SD 산돌고딕 Neo 볼드체"/>
                <a:cs typeface="Apple SD 산돌고딕 Neo 볼드체"/>
                <a:sym typeface="Apple SD 산돌고딕 Neo 볼드체"/>
              </a:defRPr>
            </a:lvl1pPr>
          </a:lstStyle>
          <a:p>
            <a:r>
              <a:t>증명하지 않음</a:t>
            </a:r>
          </a:p>
        </p:txBody>
      </p:sp>
      <p:sp>
        <p:nvSpPr>
          <p:cNvPr id="406" name="Maroo OKRW · PCL · VK · proof 포맷 호환"/>
          <p:cNvSpPr txBox="1"/>
          <p:nvPr/>
        </p:nvSpPr>
        <p:spPr>
          <a:xfrm>
            <a:off x="5080000" y="8890000"/>
            <a:ext cx="8890000" cy="469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400">
                <a:latin typeface="Apple SD 산돌고딕 Neo 일반체"/>
                <a:ea typeface="Apple SD 산돌고딕 Neo 일반체"/>
                <a:cs typeface="Apple SD 산돌고딕 Neo 일반체"/>
                <a:sym typeface="Apple SD 산돌고딕 Neo 일반체"/>
              </a:defRPr>
            </a:lvl1pPr>
          </a:lstStyle>
          <a:p>
            <a:r>
              <a:t>Maroo OKRW · PCL · VK · proof 포맷 호환</a:t>
            </a:r>
          </a:p>
        </p:txBody>
      </p:sp>
      <p:sp>
        <p:nvSpPr>
          <p:cNvPr id="407" name="[Local] 결과는 [Live Testnet] 성공 증거와 합치지 않는다"/>
          <p:cNvSpPr txBox="1"/>
          <p:nvPr/>
        </p:nvSpPr>
        <p:spPr>
          <a:xfrm>
            <a:off x="5461000" y="11430000"/>
            <a:ext cx="13462000" cy="520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800">
                <a:solidFill>
                  <a:srgbClr val="FFBF2C"/>
                </a:solidFill>
                <a:latin typeface="Apple SD 산돌고딕 Neo 볼드체"/>
                <a:ea typeface="Apple SD 산돌고딕 Neo 볼드체"/>
                <a:cs typeface="Apple SD 산돌고딕 Neo 볼드체"/>
                <a:sym typeface="Apple SD 산돌고딕 Neo 볼드체"/>
              </a:defRPr>
            </a:lvl1pPr>
          </a:lstStyle>
          <a:p>
            <a:r>
              <a:t>[Local] 결과는 [Live Testnet] 성공 증거와 합치지 않는다</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Clairveil Local 실행"/>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Clairveil Local 실행</a:t>
            </a:r>
          </a:p>
        </p:txBody>
      </p:sp>
      <p:sp>
        <p:nvSpPr>
          <p:cNvPr id="413"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16</a:t>
            </a:fld>
            <a:endParaRPr/>
          </a:p>
        </p:txBody>
      </p:sp>
      <p:sp>
        <p:nvSpPr>
          <p:cNvPr id="414" name="runner가 임시 localnet을 만들고 정상 급여와 두 통제 사례를 실행한 뒤 정리한다."/>
          <p:cNvSpPr txBox="1"/>
          <p:nvPr/>
        </p:nvSpPr>
        <p:spPr>
          <a:xfrm>
            <a:off x="1524000" y="2413000"/>
            <a:ext cx="213360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일반체"/>
                <a:ea typeface="Apple SD 산돌고딕 Neo 일반체"/>
                <a:cs typeface="Apple SD 산돌고딕 Neo 일반체"/>
                <a:sym typeface="Apple SD 산돌고딕 Neo 일반체"/>
              </a:defRPr>
            </a:lvl1pPr>
          </a:lstStyle>
          <a:p>
            <a:r>
              <a:t>runner가 임시 localnet을 만들고 정상 급여와 두 통제 사례를 실행한 뒤 정리한다.</a:t>
            </a:r>
          </a:p>
        </p:txBody>
      </p:sp>
      <p:sp>
        <p:nvSpPr>
          <p:cNvPr id="415" name="bun run demo/scripts/run.ts \…"/>
          <p:cNvSpPr txBox="1"/>
          <p:nvPr/>
        </p:nvSpPr>
        <p:spPr>
          <a:xfrm>
            <a:off x="1524000" y="4191000"/>
            <a:ext cx="21336000" cy="40233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400">
                <a:solidFill>
                  <a:srgbClr val="00E9FF"/>
                </a:solidFill>
                <a:latin typeface="Menlo Regular"/>
                <a:ea typeface="Menlo Regular"/>
                <a:cs typeface="Menlo Regular"/>
                <a:sym typeface="Menlo Regular"/>
              </a:defRPr>
            </a:pPr>
            <a:r>
              <a:t>bun run demo/scripts/run.ts \</a:t>
            </a:r>
          </a:p>
          <a:p>
            <a:pPr>
              <a:defRPr sz="2400">
                <a:solidFill>
                  <a:srgbClr val="00E9FF"/>
                </a:solidFill>
                <a:latin typeface="Menlo Regular"/>
                <a:ea typeface="Menlo Regular"/>
                <a:cs typeface="Menlo Regular"/>
                <a:sym typeface="Menlo Regular"/>
              </a:defRPr>
            </a:pPr>
            <a:r>
              <a:t>  --target clairveil-local \</a:t>
            </a:r>
          </a:p>
          <a:p>
            <a:pPr>
              <a:defRPr sz="2400">
                <a:solidFill>
                  <a:srgbClr val="00E9FF"/>
                </a:solidFill>
                <a:latin typeface="Menlo Regular"/>
                <a:ea typeface="Menlo Regular"/>
                <a:cs typeface="Menlo Regular"/>
                <a:sym typeface="Menlo Regular"/>
              </a:defRPr>
            </a:pPr>
            <a:r>
              <a:t>  --action payroll \</a:t>
            </a:r>
          </a:p>
          <a:p>
            <a:pPr>
              <a:defRPr sz="2400">
                <a:solidFill>
                  <a:srgbClr val="00E9FF"/>
                </a:solidFill>
                <a:latin typeface="Menlo Regular"/>
                <a:ea typeface="Menlo Regular"/>
                <a:cs typeface="Menlo Regular"/>
                <a:sym typeface="Menlo Regular"/>
              </a:defRPr>
            </a:pPr>
            <a:r>
              <a:t>  --clairveil ../clairveil \</a:t>
            </a:r>
          </a:p>
          <a:p>
            <a:pPr>
              <a:defRPr sz="2400">
                <a:solidFill>
                  <a:srgbClr val="00E9FF"/>
                </a:solidFill>
                <a:latin typeface="Menlo Regular"/>
                <a:ea typeface="Menlo Regular"/>
                <a:cs typeface="Menlo Regular"/>
                <a:sym typeface="Menlo Regular"/>
              </a:defRPr>
            </a:pPr>
            <a:r>
              <a:t>  --out evidence/local/payroll-summary.json</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정상 급여 결과"/>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정상 급여 결과</a:t>
            </a:r>
          </a:p>
        </p:txBody>
      </p:sp>
      <p:sp>
        <p:nvSpPr>
          <p:cNvPr id="421"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17</a:t>
            </a:fld>
            <a:endParaRPr/>
          </a:p>
        </p:txBody>
      </p:sp>
      <p:sp>
        <p:nvSpPr>
          <p:cNvPr id="422" name="code 0 · proof 1개 · output 3개"/>
          <p:cNvSpPr txBox="1"/>
          <p:nvPr/>
        </p:nvSpPr>
        <p:spPr>
          <a:xfrm>
            <a:off x="1524000" y="2794000"/>
            <a:ext cx="21336000" cy="927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5400">
                <a:solidFill>
                  <a:srgbClr val="40E19E"/>
                </a:solidFill>
                <a:latin typeface="Apple SD 산돌고딕 Neo 볼드체"/>
                <a:ea typeface="Apple SD 산돌고딕 Neo 볼드체"/>
                <a:cs typeface="Apple SD 산돌고딕 Neo 볼드체"/>
                <a:sym typeface="Apple SD 산돌고딕 Neo 볼드체"/>
              </a:defRPr>
            </a:lvl1pPr>
          </a:lstStyle>
          <a:p>
            <a:r>
              <a:t>code 0 · proof 1개 · output 3개</a:t>
            </a:r>
          </a:p>
        </p:txBody>
      </p:sp>
      <p:sp>
        <p:nvSpPr>
          <p:cNvPr id="423" name="Deposit 300uclair…"/>
          <p:cNvSpPr txBox="1"/>
          <p:nvPr/>
        </p:nvSpPr>
        <p:spPr>
          <a:xfrm>
            <a:off x="1524000" y="4953000"/>
            <a:ext cx="21336000" cy="4432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900">
                <a:latin typeface="Apple SD 산돌고딕 Neo 일반체"/>
                <a:ea typeface="Apple SD 산돌고딕 Neo 일반체"/>
                <a:cs typeface="Apple SD 산돌고딕 Neo 일반체"/>
                <a:sym typeface="Apple SD 산돌고딕 Neo 일반체"/>
              </a:defRPr>
            </a:pPr>
            <a:r>
              <a:t>Deposit 300uclair</a:t>
            </a:r>
          </a:p>
          <a:p>
            <a:pPr>
              <a:defRPr sz="2900">
                <a:latin typeface="Apple SD 산돌고딕 Neo 일반체"/>
                <a:ea typeface="Apple SD 산돌고딕 Neo 일반체"/>
                <a:cs typeface="Apple SD 산돌고딕 Neo 일반체"/>
                <a:sym typeface="Apple SD 산돌고딕 Neo 일반체"/>
              </a:defRPr>
            </a:pPr>
            <a:endParaRPr/>
          </a:p>
          <a:p>
            <a:pPr>
              <a:defRPr sz="2900">
                <a:latin typeface="Apple SD 산돌고딕 Neo 일반체"/>
                <a:ea typeface="Apple SD 산돌고딕 Neo 일반체"/>
                <a:cs typeface="Apple SD 산돌고딕 Neo 일반체"/>
                <a:sym typeface="Apple SD 산돌고딕 Neo 일반체"/>
              </a:defRPr>
            </a:pPr>
            <a:r>
              <a:t>EMP-A 100uclair, EMP-B 120uclair, EMP-C 80uclair</a:t>
            </a:r>
          </a:p>
          <a:p>
            <a:pPr>
              <a:defRPr sz="2900">
                <a:latin typeface="Apple SD 산돌고딕 Neo 일반체"/>
                <a:ea typeface="Apple SD 산돌고딕 Neo 일반체"/>
                <a:cs typeface="Apple SD 산돌고딕 Neo 일반체"/>
                <a:sym typeface="Apple SD 산돌고딕 Neo 일반체"/>
              </a:defRPr>
            </a:pPr>
            <a:endParaRPr/>
          </a:p>
          <a:p>
            <a:pPr>
              <a:defRPr sz="2900">
                <a:latin typeface="Apple SD 산돌고딕 Neo 일반체"/>
                <a:ea typeface="Apple SD 산돌고딕 Neo 일반체"/>
                <a:cs typeface="Apple SD 산돌고딕 Neo 일반체"/>
                <a:sym typeface="Apple SD 산돌고딕 Neo 일반체"/>
              </a:defRPr>
            </a:pPr>
            <a:r>
              <a:t>각 직원 scan에서 batch tx와 연결된 신규 note 1개</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18</a:t>
            </a:fld>
            <a:endParaRPr/>
          </a:p>
        </p:txBody>
      </p:sp>
      <p:sp>
        <p:nvSpPr>
          <p:cNvPr id="428" name="주요 상태 전이 · 무엇이 공개되고 무엇이 숨겨지는가"/>
          <p:cNvSpPr txBox="1"/>
          <p:nvPr/>
        </p:nvSpPr>
        <p:spPr>
          <a:xfrm>
            <a:off x="1270000" y="698500"/>
            <a:ext cx="20955000" cy="800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600">
                <a:latin typeface="Apple SD 산돌고딕 Neo 볼드체"/>
                <a:ea typeface="Apple SD 산돌고딕 Neo 볼드체"/>
                <a:cs typeface="Apple SD 산돌고딕 Neo 볼드체"/>
                <a:sym typeface="Apple SD 산돌고딕 Neo 볼드체"/>
              </a:defRPr>
            </a:lvl1pPr>
          </a:lstStyle>
          <a:p>
            <a:r>
              <a:t>주요 상태 전이 · 무엇이 공개되고 무엇이 숨겨지는가</a:t>
            </a:r>
          </a:p>
        </p:txBody>
      </p:sp>
      <p:sp>
        <p:nvSpPr>
          <p:cNvPr id="429" name="직사각형"/>
          <p:cNvSpPr/>
          <p:nvPr/>
        </p:nvSpPr>
        <p:spPr>
          <a:xfrm>
            <a:off x="1143000" y="3302000"/>
            <a:ext cx="3810000" cy="2286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30" name="① Public OKRW"/>
          <p:cNvSpPr txBox="1"/>
          <p:nvPr/>
        </p:nvSpPr>
        <p:spPr>
          <a:xfrm>
            <a:off x="1447799" y="3619500"/>
            <a:ext cx="32004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① Public OKRW</a:t>
            </a:r>
          </a:p>
        </p:txBody>
      </p:sp>
      <p:sp>
        <p:nvSpPr>
          <p:cNvPr id="431" name="company balance"/>
          <p:cNvSpPr txBox="1"/>
          <p:nvPr/>
        </p:nvSpPr>
        <p:spPr>
          <a:xfrm>
            <a:off x="1447800" y="4318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company balance</a:t>
            </a:r>
          </a:p>
        </p:txBody>
      </p:sp>
      <p:sp>
        <p:nvSpPr>
          <p:cNvPr id="432" name="msg.value = 300"/>
          <p:cNvSpPr txBox="1"/>
          <p:nvPr/>
        </p:nvSpPr>
        <p:spPr>
          <a:xfrm>
            <a:off x="1447800" y="4826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msg.value = 300</a:t>
            </a:r>
          </a:p>
        </p:txBody>
      </p:sp>
      <p:sp>
        <p:nvSpPr>
          <p:cNvPr id="433" name="deposit →"/>
          <p:cNvSpPr txBox="1"/>
          <p:nvPr/>
        </p:nvSpPr>
        <p:spPr>
          <a:xfrm>
            <a:off x="5143500" y="4064000"/>
            <a:ext cx="2286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볼드체"/>
                <a:ea typeface="Apple SD 산돌고딕 Neo 볼드체"/>
                <a:cs typeface="Apple SD 산돌고딕 Neo 볼드체"/>
                <a:sym typeface="Apple SD 산돌고딕 Neo 볼드체"/>
              </a:defRPr>
            </a:lvl1pPr>
          </a:lstStyle>
          <a:p>
            <a:r>
              <a:t>deposit →</a:t>
            </a:r>
          </a:p>
        </p:txBody>
      </p:sp>
      <p:sp>
        <p:nvSpPr>
          <p:cNvPr id="434" name="직사각형"/>
          <p:cNvSpPr/>
          <p:nvPr/>
        </p:nvSpPr>
        <p:spPr>
          <a:xfrm>
            <a:off x="7493000" y="3302000"/>
            <a:ext cx="3937000" cy="2286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35" name="② Treasury note"/>
          <p:cNvSpPr txBox="1"/>
          <p:nvPr/>
        </p:nvSpPr>
        <p:spPr>
          <a:xfrm>
            <a:off x="7797800" y="36195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② Treasury note</a:t>
            </a:r>
          </a:p>
        </p:txBody>
      </p:sp>
      <p:sp>
        <p:nvSpPr>
          <p:cNvPr id="436" name="commitment · root₀"/>
          <p:cNvSpPr txBox="1"/>
          <p:nvPr/>
        </p:nvSpPr>
        <p:spPr>
          <a:xfrm>
            <a:off x="7797800" y="4318000"/>
            <a:ext cx="3327400" cy="3970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commitment · root₀</a:t>
            </a:r>
          </a:p>
        </p:txBody>
      </p:sp>
      <p:sp>
        <p:nvSpPr>
          <p:cNvPr id="437" name="평문 금액은 비공개"/>
          <p:cNvSpPr txBox="1"/>
          <p:nvPr/>
        </p:nvSpPr>
        <p:spPr>
          <a:xfrm>
            <a:off x="7797800" y="4826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평문 금액은 비공개</a:t>
            </a:r>
          </a:p>
        </p:txBody>
      </p:sp>
      <p:sp>
        <p:nvSpPr>
          <p:cNvPr id="438" name="proof →"/>
          <p:cNvSpPr txBox="1"/>
          <p:nvPr/>
        </p:nvSpPr>
        <p:spPr>
          <a:xfrm>
            <a:off x="11620500" y="4064000"/>
            <a:ext cx="1905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볼드체"/>
                <a:ea typeface="Apple SD 산돌고딕 Neo 볼드체"/>
                <a:cs typeface="Apple SD 산돌고딕 Neo 볼드체"/>
                <a:sym typeface="Apple SD 산돌고딕 Neo 볼드체"/>
              </a:defRPr>
            </a:lvl1pPr>
          </a:lstStyle>
          <a:p>
            <a:r>
              <a:t>proof →</a:t>
            </a:r>
          </a:p>
        </p:txBody>
      </p:sp>
      <p:sp>
        <p:nvSpPr>
          <p:cNvPr id="439" name="직사각형"/>
          <p:cNvSpPr/>
          <p:nvPr/>
        </p:nvSpPr>
        <p:spPr>
          <a:xfrm>
            <a:off x="13589000" y="3302000"/>
            <a:ext cx="3937001" cy="2286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40" name="③ Input spent"/>
          <p:cNvSpPr txBox="1"/>
          <p:nvPr/>
        </p:nvSpPr>
        <p:spPr>
          <a:xfrm>
            <a:off x="13893800" y="36195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③ Input spent</a:t>
            </a:r>
          </a:p>
        </p:txBody>
      </p:sp>
      <p:sp>
        <p:nvSpPr>
          <p:cNvPr id="441" name="nullifier 공개"/>
          <p:cNvSpPr txBox="1"/>
          <p:nvPr/>
        </p:nvSpPr>
        <p:spPr>
          <a:xfrm>
            <a:off x="13893800" y="4318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nullifier 공개</a:t>
            </a:r>
          </a:p>
        </p:txBody>
      </p:sp>
      <p:sp>
        <p:nvSpPr>
          <p:cNvPr id="442" name="root₀ → root₁"/>
          <p:cNvSpPr txBox="1"/>
          <p:nvPr/>
        </p:nvSpPr>
        <p:spPr>
          <a:xfrm>
            <a:off x="13893800" y="4826000"/>
            <a:ext cx="3327400" cy="3970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root₀ → root₁</a:t>
            </a:r>
          </a:p>
        </p:txBody>
      </p:sp>
      <p:sp>
        <p:nvSpPr>
          <p:cNvPr id="443" name="→"/>
          <p:cNvSpPr txBox="1"/>
          <p:nvPr/>
        </p:nvSpPr>
        <p:spPr>
          <a:xfrm>
            <a:off x="17716500" y="4064000"/>
            <a:ext cx="11430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5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44" name="직사각형"/>
          <p:cNvSpPr/>
          <p:nvPr/>
        </p:nvSpPr>
        <p:spPr>
          <a:xfrm>
            <a:off x="18796000" y="3301999"/>
            <a:ext cx="4445001"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45" name="④ Output × 3"/>
          <p:cNvSpPr txBox="1"/>
          <p:nvPr/>
        </p:nvSpPr>
        <p:spPr>
          <a:xfrm>
            <a:off x="19100800" y="3619500"/>
            <a:ext cx="3835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④ Output × 3</a:t>
            </a:r>
          </a:p>
        </p:txBody>
      </p:sp>
      <p:sp>
        <p:nvSpPr>
          <p:cNvPr id="446" name="commitments 공개"/>
          <p:cNvSpPr txBox="1"/>
          <p:nvPr/>
        </p:nvSpPr>
        <p:spPr>
          <a:xfrm>
            <a:off x="19100800" y="4318000"/>
            <a:ext cx="383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commitments 공개</a:t>
            </a:r>
          </a:p>
        </p:txBody>
      </p:sp>
      <p:sp>
        <p:nvSpPr>
          <p:cNvPr id="447" name="직원·금액 평문 비공개"/>
          <p:cNvSpPr txBox="1"/>
          <p:nvPr/>
        </p:nvSpPr>
        <p:spPr>
          <a:xfrm>
            <a:off x="19100800" y="4826000"/>
            <a:ext cx="383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직원·금액 평문 비공개</a:t>
            </a:r>
          </a:p>
        </p:txBody>
      </p:sp>
      <p:sp>
        <p:nvSpPr>
          <p:cNvPr id="448" name="↓ EMP-A viewing key"/>
          <p:cNvSpPr txBox="1"/>
          <p:nvPr/>
        </p:nvSpPr>
        <p:spPr>
          <a:xfrm>
            <a:off x="18542000" y="6604000"/>
            <a:ext cx="4572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00E9FF"/>
                </a:solidFill>
                <a:latin typeface="Apple SD 산돌고딕 Neo 일반체"/>
                <a:ea typeface="Apple SD 산돌고딕 Neo 일반체"/>
                <a:cs typeface="Apple SD 산돌고딕 Neo 일반체"/>
                <a:sym typeface="Apple SD 산돌고딕 Neo 일반체"/>
              </a:defRPr>
            </a:lvl1pPr>
          </a:lstStyle>
          <a:p>
            <a:r>
              <a:t>↓ EMP-A viewing key</a:t>
            </a:r>
          </a:p>
        </p:txBody>
      </p:sp>
      <p:sp>
        <p:nvSpPr>
          <p:cNvPr id="449" name="↓ EMP-B viewing key"/>
          <p:cNvSpPr txBox="1"/>
          <p:nvPr/>
        </p:nvSpPr>
        <p:spPr>
          <a:xfrm>
            <a:off x="18542000" y="7620000"/>
            <a:ext cx="4572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00E9FF"/>
                </a:solidFill>
                <a:latin typeface="Apple SD 산돌고딕 Neo 일반체"/>
                <a:ea typeface="Apple SD 산돌고딕 Neo 일반체"/>
                <a:cs typeface="Apple SD 산돌고딕 Neo 일반체"/>
                <a:sym typeface="Apple SD 산돌고딕 Neo 일반체"/>
              </a:defRPr>
            </a:lvl1pPr>
          </a:lstStyle>
          <a:p>
            <a:r>
              <a:t>↓ EMP-B viewing key</a:t>
            </a:r>
          </a:p>
        </p:txBody>
      </p:sp>
      <p:sp>
        <p:nvSpPr>
          <p:cNvPr id="450" name="↓ EMP-C viewing key"/>
          <p:cNvSpPr txBox="1"/>
          <p:nvPr/>
        </p:nvSpPr>
        <p:spPr>
          <a:xfrm>
            <a:off x="18542000" y="8636000"/>
            <a:ext cx="4572000" cy="444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200">
                <a:solidFill>
                  <a:srgbClr val="00E9FF"/>
                </a:solidFill>
                <a:latin typeface="Apple SD 산돌고딕 Neo 일반체"/>
                <a:ea typeface="Apple SD 산돌고딕 Neo 일반체"/>
                <a:cs typeface="Apple SD 산돌고딕 Neo 일반체"/>
                <a:sym typeface="Apple SD 산돌고딕 Neo 일반체"/>
              </a:defRPr>
            </a:lvl1pPr>
          </a:lstStyle>
          <a:p>
            <a:r>
              <a:t>↓ EMP-C viewing key</a:t>
            </a:r>
          </a:p>
        </p:txBody>
      </p:sp>
      <p:sp>
        <p:nvSpPr>
          <p:cNvPr id="451" name="직사각형"/>
          <p:cNvSpPr/>
          <p:nvPr/>
        </p:nvSpPr>
        <p:spPr>
          <a:xfrm>
            <a:off x="10414000" y="7429500"/>
            <a:ext cx="6096001" cy="2413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52" name="⑤ Delivery evidence"/>
          <p:cNvSpPr txBox="1"/>
          <p:nvPr/>
        </p:nvSpPr>
        <p:spPr>
          <a:xfrm>
            <a:off x="10718800" y="7747000"/>
            <a:ext cx="548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40E19E"/>
                </a:solidFill>
                <a:latin typeface="Apple SD 산돌고딕 Neo 볼드체"/>
                <a:ea typeface="Apple SD 산돌고딕 Neo 볼드체"/>
                <a:cs typeface="Apple SD 산돌고딕 Neo 볼드체"/>
                <a:sym typeface="Apple SD 산돌고딕 Neo 볼드체"/>
              </a:defRPr>
            </a:lvl1pPr>
          </a:lstStyle>
          <a:p>
            <a:r>
              <a:t>⑤ Delivery evidence</a:t>
            </a:r>
          </a:p>
        </p:txBody>
      </p:sp>
      <p:sp>
        <p:nvSpPr>
          <p:cNvPr id="453" name="직원별 note · batch tx binding"/>
          <p:cNvSpPr txBox="1"/>
          <p:nvPr/>
        </p:nvSpPr>
        <p:spPr>
          <a:xfrm>
            <a:off x="10718800" y="8445500"/>
            <a:ext cx="548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직원별 note · batch tx binding</a:t>
            </a:r>
          </a:p>
        </p:txBody>
      </p:sp>
      <p:sp>
        <p:nvSpPr>
          <p:cNvPr id="454" name="auditor의 plan/disclosure 대사"/>
          <p:cNvSpPr txBox="1"/>
          <p:nvPr/>
        </p:nvSpPr>
        <p:spPr>
          <a:xfrm>
            <a:off x="10718800" y="8953500"/>
            <a:ext cx="548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auditor의 plan/disclosure 대사</a:t>
            </a:r>
          </a:p>
        </p:txBody>
      </p:sp>
      <p:sp>
        <p:nvSpPr>
          <p:cNvPr id="455" name="PUBLIC"/>
          <p:cNvSpPr txBox="1"/>
          <p:nvPr/>
        </p:nvSpPr>
        <p:spPr>
          <a:xfrm>
            <a:off x="1397000" y="7366000"/>
            <a:ext cx="2667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600">
                <a:solidFill>
                  <a:srgbClr val="00E9FF"/>
                </a:solidFill>
                <a:latin typeface="Apple SD 산돌고딕 Neo 볼드체"/>
                <a:ea typeface="Apple SD 산돌고딕 Neo 볼드체"/>
                <a:cs typeface="Apple SD 산돌고딕 Neo 볼드체"/>
                <a:sym typeface="Apple SD 산돌고딕 Neo 볼드체"/>
              </a:defRPr>
            </a:lvl1pPr>
          </a:lstStyle>
          <a:p>
            <a:r>
              <a:t>PUBLIC</a:t>
            </a:r>
          </a:p>
        </p:txBody>
      </p:sp>
      <p:sp>
        <p:nvSpPr>
          <p:cNvPr id="456" name="tx hash · root · nullifier"/>
          <p:cNvSpPr txBox="1"/>
          <p:nvPr/>
        </p:nvSpPr>
        <p:spPr>
          <a:xfrm>
            <a:off x="1397000" y="8255000"/>
            <a:ext cx="66040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latin typeface="Apple SD 산돌고딕 Neo 일반체"/>
                <a:ea typeface="Apple SD 산돌고딕 Neo 일반체"/>
                <a:cs typeface="Apple SD 산돌고딕 Neo 일반체"/>
                <a:sym typeface="Apple SD 산돌고딕 Neo 일반체"/>
              </a:defRPr>
            </a:lvl1pPr>
          </a:lstStyle>
          <a:p>
            <a:r>
              <a:t>tx hash · root · nullifier</a:t>
            </a:r>
          </a:p>
        </p:txBody>
      </p:sp>
      <p:sp>
        <p:nvSpPr>
          <p:cNvPr id="457" name="commitments · input/output count"/>
          <p:cNvSpPr txBox="1"/>
          <p:nvPr/>
        </p:nvSpPr>
        <p:spPr>
          <a:xfrm>
            <a:off x="1397000" y="8953500"/>
            <a:ext cx="66040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latin typeface="Apple SD 산돌고딕 Neo 일반체"/>
                <a:ea typeface="Apple SD 산돌고딕 Neo 일반체"/>
                <a:cs typeface="Apple SD 산돌고딕 Neo 일반체"/>
                <a:sym typeface="Apple SD 산돌고딕 Neo 일반체"/>
              </a:defRPr>
            </a:lvl1pPr>
          </a:lstStyle>
          <a:p>
            <a:r>
              <a:t>commitments · input/output count</a:t>
            </a:r>
          </a:p>
        </p:txBody>
      </p:sp>
      <p:sp>
        <p:nvSpPr>
          <p:cNvPr id="458" name="PRIVATE"/>
          <p:cNvSpPr txBox="1"/>
          <p:nvPr/>
        </p:nvSpPr>
        <p:spPr>
          <a:xfrm>
            <a:off x="1396999" y="9779000"/>
            <a:ext cx="2667001"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600">
                <a:solidFill>
                  <a:srgbClr val="FFBF2C"/>
                </a:solidFill>
                <a:latin typeface="Apple SD 산돌고딕 Neo 볼드체"/>
                <a:ea typeface="Apple SD 산돌고딕 Neo 볼드체"/>
                <a:cs typeface="Apple SD 산돌고딕 Neo 볼드체"/>
                <a:sym typeface="Apple SD 산돌고딕 Neo 볼드체"/>
              </a:defRPr>
            </a:lvl1pPr>
          </a:lstStyle>
          <a:p>
            <a:r>
              <a:t>PRIVATE</a:t>
            </a:r>
          </a:p>
        </p:txBody>
      </p:sp>
      <p:sp>
        <p:nvSpPr>
          <p:cNvPr id="459" name="직원 mapping · note amount"/>
          <p:cNvSpPr txBox="1"/>
          <p:nvPr/>
        </p:nvSpPr>
        <p:spPr>
          <a:xfrm>
            <a:off x="1397000" y="10668000"/>
            <a:ext cx="66040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latin typeface="Apple SD 산돌고딕 Neo 일반체"/>
                <a:ea typeface="Apple SD 산돌고딕 Neo 일반체"/>
                <a:cs typeface="Apple SD 산돌고딕 Neo 일반체"/>
                <a:sym typeface="Apple SD 산돌고딕 Neo 일반체"/>
              </a:defRPr>
            </a:lvl1pPr>
          </a:lstStyle>
          <a:p>
            <a:r>
              <a:t>직원 mapping · note amount</a:t>
            </a:r>
          </a:p>
        </p:txBody>
      </p:sp>
      <p:sp>
        <p:nvSpPr>
          <p:cNvPr id="460" name="viewing / disclosure key"/>
          <p:cNvSpPr txBox="1"/>
          <p:nvPr/>
        </p:nvSpPr>
        <p:spPr>
          <a:xfrm>
            <a:off x="1397000" y="11366500"/>
            <a:ext cx="6604000"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latin typeface="Apple SD 산돌고딕 Neo 일반체"/>
                <a:ea typeface="Apple SD 산돌고딕 Neo 일반체"/>
                <a:cs typeface="Apple SD 산돌고딕 Neo 일반체"/>
                <a:sym typeface="Apple SD 산돌고딕 Neo 일반체"/>
              </a:defRPr>
            </a:lvl1pPr>
          </a:lstStyle>
          <a:p>
            <a:r>
              <a:t>viewing / disclosure key</a:t>
            </a:r>
          </a:p>
        </p:txBody>
      </p:sp>
      <p:sp>
        <p:nvSpPr>
          <p:cNvPr id="461" name="receipt 성공은 ④까지의 증거 · 급여 완료는 ⑤까지 필요"/>
          <p:cNvSpPr txBox="1"/>
          <p:nvPr/>
        </p:nvSpPr>
        <p:spPr>
          <a:xfrm>
            <a:off x="6350000" y="12065000"/>
            <a:ext cx="12700000" cy="520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800">
                <a:solidFill>
                  <a:srgbClr val="FFBF2C"/>
                </a:solidFill>
                <a:latin typeface="Apple SD 산돌고딕 Neo 볼드체"/>
                <a:ea typeface="Apple SD 산돌고딕 Neo 볼드체"/>
                <a:cs typeface="Apple SD 산돌고딕 Neo 볼드체"/>
                <a:sym typeface="Apple SD 산돌고딕 Neo 볼드체"/>
              </a:defRPr>
            </a:lvl1pPr>
          </a:lstStyle>
          <a:p>
            <a:r>
              <a:t>receipt 성공은 ④까지의 증거 · 급여 완료는 ⑤까지 필요</a:t>
            </a: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5" name="데이터 가시성 매트릭스"/>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데이터 가시성 매트릭스</a:t>
            </a:r>
          </a:p>
        </p:txBody>
      </p:sp>
      <p:sp>
        <p:nvSpPr>
          <p:cNvPr id="467"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19</a:t>
            </a:fld>
            <a:endParaRPr/>
          </a:p>
        </p:txBody>
      </p:sp>
      <p:graphicFrame>
        <p:nvGraphicFramePr>
          <p:cNvPr id="468" name="표 1"/>
          <p:cNvGraphicFramePr/>
          <p:nvPr/>
        </p:nvGraphicFramePr>
        <p:xfrm>
          <a:off x="1270000" y="2413000"/>
          <a:ext cx="21844000" cy="5039360"/>
        </p:xfrm>
        <a:graphic>
          <a:graphicData uri="http://schemas.openxmlformats.org/drawingml/2006/table">
            <a:tbl>
              <a:tblPr firstRow="1" firstCol="1">
                <a:tableStyleId>{4C3C2611-4C71-4FC5-86AE-919BDF0F9419}</a:tableStyleId>
              </a:tblPr>
              <a:tblGrid>
                <a:gridCol w="4318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gridCol w="5461000">
                  <a:extLst>
                    <a:ext uri="{9D8B030D-6E8A-4147-A177-3AD203B41FA5}">
                      <a16:colId xmlns:a16="http://schemas.microsoft.com/office/drawing/2014/main" val="20003"/>
                    </a:ext>
                  </a:extLst>
                </a:gridCol>
                <a:gridCol w="3683000">
                  <a:extLst>
                    <a:ext uri="{9D8B030D-6E8A-4147-A177-3AD203B41FA5}">
                      <a16:colId xmlns:a16="http://schemas.microsoft.com/office/drawing/2014/main" val="20004"/>
                    </a:ext>
                  </a:extLst>
                </a:gridCol>
              </a:tblGrid>
              <a:tr h="990600">
                <a:tc>
                  <a:txBody>
                    <a:bodyPr/>
                    <a:lstStyle/>
                    <a:p>
                      <a:pPr defTabSz="914400">
                        <a:tabLst>
                          <a:tab pos="1663700" algn="l"/>
                        </a:tabLst>
                        <a:defRPr b="0">
                          <a:solidFill>
                            <a:srgbClr val="000000"/>
                          </a:solidFill>
                        </a:defRPr>
                      </a:pPr>
                      <a:r>
                        <a:rPr sz="3200" b="1">
                          <a:solidFill>
                            <a:srgbClr val="FFFFFF"/>
                          </a:solidFill>
                        </a:rPr>
                        <a:t>관찰자</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급여 평문</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직원 매핑</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commitment·proof</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보유 key</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Public RPC / explorer</a:t>
                      </a:r>
                    </a:p>
                  </a:txBody>
                  <a:tcPr marL="50800" marR="50800" marT="50800" marB="50800" anchor="ctr" horzOverflow="overflow"/>
                </a:tc>
                <a:tc>
                  <a:txBody>
                    <a:bodyPr/>
                    <a:lstStyle/>
                    <a:p>
                      <a:pPr defTabSz="914400">
                        <a:defRPr>
                          <a:solidFill>
                            <a:srgbClr val="000000"/>
                          </a:solidFill>
                        </a:defRPr>
                      </a:pPr>
                      <a:r>
                        <a:rPr sz="3200">
                          <a:solidFill>
                            <a:srgbClr val="FFFFFF"/>
                          </a:solidFill>
                        </a:rPr>
                        <a:t>보이지 않음</a:t>
                      </a:r>
                    </a:p>
                  </a:txBody>
                  <a:tcPr marL="50800" marR="50800" marT="50800" marB="50800" anchor="ctr" horzOverflow="overflow"/>
                </a:tc>
                <a:tc>
                  <a:txBody>
                    <a:bodyPr/>
                    <a:lstStyle/>
                    <a:p>
                      <a:pPr defTabSz="914400">
                        <a:defRPr>
                          <a:solidFill>
                            <a:srgbClr val="000000"/>
                          </a:solidFill>
                        </a:defRPr>
                      </a:pPr>
                      <a:r>
                        <a:rPr sz="3200">
                          <a:solidFill>
                            <a:srgbClr val="FFFFFF"/>
                          </a:solidFill>
                        </a:rPr>
                        <a:t>보이지 않음</a:t>
                      </a:r>
                    </a:p>
                  </a:txBody>
                  <a:tcPr marL="50800" marR="50800" marT="50800" marB="50800" anchor="ctr" horzOverflow="overflow"/>
                </a:tc>
                <a:tc>
                  <a:txBody>
                    <a:bodyPr/>
                    <a:lstStyle/>
                    <a:p>
                      <a:pPr defTabSz="914400">
                        <a:defRPr>
                          <a:solidFill>
                            <a:srgbClr val="000000"/>
                          </a:solidFill>
                        </a:defRPr>
                      </a:pPr>
                      <a:r>
                        <a:rPr sz="3200">
                          <a:solidFill>
                            <a:srgbClr val="FFFFFF"/>
                          </a:solidFill>
                        </a:rPr>
                        <a:t>보임</a:t>
                      </a:r>
                    </a:p>
                  </a:txBody>
                  <a:tcPr marL="50800" marR="50800" marT="50800" marB="50800" anchor="ctr" horzOverflow="overflow"/>
                </a:tc>
                <a:tc>
                  <a:txBody>
                    <a:bodyPr/>
                    <a:lstStyle/>
                    <a:p>
                      <a:pPr defTabSz="914400">
                        <a:defRPr>
                          <a:solidFill>
                            <a:srgbClr val="000000"/>
                          </a:solidFill>
                        </a:defRPr>
                      </a:pPr>
                      <a:r>
                        <a:rPr sz="3200">
                          <a:solidFill>
                            <a:srgbClr val="FFFFFF"/>
                          </a:solidFill>
                        </a:rPr>
                        <a:t>없음</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Company wallet / app</a:t>
                      </a:r>
                    </a:p>
                  </a:txBody>
                  <a:tcPr marL="50800" marR="50800" marT="50800" marB="50800" anchor="ctr" horzOverflow="overflow"/>
                </a:tc>
                <a:tc>
                  <a:txBody>
                    <a:bodyPr/>
                    <a:lstStyle/>
                    <a:p>
                      <a:pPr defTabSz="914400">
                        <a:defRPr>
                          <a:solidFill>
                            <a:srgbClr val="000000"/>
                          </a:solidFill>
                        </a:defRPr>
                      </a:pPr>
                      <a:r>
                        <a:rPr sz="3200">
                          <a:solidFill>
                            <a:srgbClr val="FFFFFF"/>
                          </a:solidFill>
                        </a:rPr>
                        <a:t>plan에서 앎</a:t>
                      </a:r>
                    </a:p>
                  </a:txBody>
                  <a:tcPr marL="50800" marR="50800" marT="50800" marB="50800" anchor="ctr" horzOverflow="overflow"/>
                </a:tc>
                <a:tc>
                  <a:txBody>
                    <a:bodyPr/>
                    <a:lstStyle/>
                    <a:p>
                      <a:pPr defTabSz="914400">
                        <a:defRPr>
                          <a:solidFill>
                            <a:srgbClr val="000000"/>
                          </a:solidFill>
                        </a:defRPr>
                      </a:pPr>
                      <a:r>
                        <a:rPr sz="3200">
                          <a:solidFill>
                            <a:srgbClr val="FFFFFF"/>
                          </a:solidFill>
                        </a:rPr>
                        <a:t>registry에서 앎</a:t>
                      </a:r>
                    </a:p>
                  </a:txBody>
                  <a:tcPr marL="50800" marR="50800" marT="50800" marB="50800" anchor="ctr" horzOverflow="overflow"/>
                </a:tc>
                <a:tc>
                  <a:txBody>
                    <a:bodyPr/>
                    <a:lstStyle/>
                    <a:p>
                      <a:pPr defTabSz="914400">
                        <a:defRPr>
                          <a:solidFill>
                            <a:srgbClr val="000000"/>
                          </a:solidFill>
                        </a:defRPr>
                      </a:pPr>
                      <a:r>
                        <a:rPr sz="3200">
                          <a:solidFill>
                            <a:srgbClr val="FFFFFF"/>
                          </a:solidFill>
                        </a:rPr>
                        <a:t>제출·조회</a:t>
                      </a:r>
                    </a:p>
                  </a:txBody>
                  <a:tcPr marL="50800" marR="50800" marT="50800" marB="50800" anchor="ctr" horzOverflow="overflow"/>
                </a:tc>
                <a:tc>
                  <a:txBody>
                    <a:bodyPr/>
                    <a:lstStyle/>
                    <a:p>
                      <a:pPr defTabSz="914400">
                        <a:defRPr>
                          <a:solidFill>
                            <a:srgbClr val="000000"/>
                          </a:solidFill>
                        </a:defRPr>
                      </a:pPr>
                      <a:r>
                        <a:rPr sz="3200">
                          <a:solidFill>
                            <a:srgbClr val="FFFFFF"/>
                          </a:solidFill>
                        </a:rPr>
                        <a:t>signing key</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EMP-A/B/C scanner</a:t>
                      </a:r>
                    </a:p>
                  </a:txBody>
                  <a:tcPr marL="50800" marR="50800" marT="50800" marB="50800" anchor="ctr" horzOverflow="overflow"/>
                </a:tc>
                <a:tc>
                  <a:txBody>
                    <a:bodyPr/>
                    <a:lstStyle/>
                    <a:p>
                      <a:pPr defTabSz="914400">
                        <a:defRPr>
                          <a:solidFill>
                            <a:srgbClr val="000000"/>
                          </a:solidFill>
                        </a:defRPr>
                      </a:pPr>
                      <a:r>
                        <a:rPr sz="3200">
                          <a:solidFill>
                            <a:srgbClr val="FFFFFF"/>
                          </a:solidFill>
                        </a:rPr>
                        <a:t>본인 note만</a:t>
                      </a:r>
                    </a:p>
                  </a:txBody>
                  <a:tcPr marL="50800" marR="50800" marT="50800" marB="50800" anchor="ctr" horzOverflow="overflow"/>
                </a:tc>
                <a:tc>
                  <a:txBody>
                    <a:bodyPr/>
                    <a:lstStyle/>
                    <a:p>
                      <a:pPr defTabSz="914400">
                        <a:defRPr>
                          <a:solidFill>
                            <a:srgbClr val="000000"/>
                          </a:solidFill>
                        </a:defRPr>
                      </a:pPr>
                      <a:r>
                        <a:rPr sz="3200">
                          <a:solidFill>
                            <a:srgbClr val="FFFFFF"/>
                          </a:solidFill>
                        </a:rPr>
                        <a:t>본인만</a:t>
                      </a:r>
                    </a:p>
                  </a:txBody>
                  <a:tcPr marL="50800" marR="50800" marT="50800" marB="50800" anchor="ctr" horzOverflow="overflow"/>
                </a:tc>
                <a:tc>
                  <a:txBody>
                    <a:bodyPr/>
                    <a:lstStyle/>
                    <a:p>
                      <a:pPr defTabSz="914400">
                        <a:defRPr>
                          <a:solidFill>
                            <a:srgbClr val="000000"/>
                          </a:solidFill>
                        </a:defRPr>
                      </a:pPr>
                      <a:r>
                        <a:rPr sz="3200">
                          <a:solidFill>
                            <a:srgbClr val="FFFFFF"/>
                          </a:solidFill>
                        </a:rPr>
                        <a:t>본인 note와 결속</a:t>
                      </a:r>
                    </a:p>
                  </a:txBody>
                  <a:tcPr marL="50800" marR="50800" marT="50800" marB="50800" anchor="ctr" horzOverflow="overflow"/>
                </a:tc>
                <a:tc>
                  <a:txBody>
                    <a:bodyPr/>
                    <a:lstStyle/>
                    <a:p>
                      <a:pPr defTabSz="914400">
                        <a:defRPr>
                          <a:solidFill>
                            <a:srgbClr val="000000"/>
                          </a:solidFill>
                        </a:defRPr>
                      </a:pPr>
                      <a:r>
                        <a:rPr sz="3200">
                          <a:solidFill>
                            <a:srgbClr val="FFFFFF"/>
                          </a:solidFill>
                        </a:rPr>
                        <a:t>viewing key</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Auditor</a:t>
                      </a:r>
                    </a:p>
                  </a:txBody>
                  <a:tcPr marL="50800" marR="50800" marT="50800" marB="50800" anchor="ctr" horzOverflow="overflow"/>
                </a:tc>
                <a:tc>
                  <a:txBody>
                    <a:bodyPr/>
                    <a:lstStyle/>
                    <a:p>
                      <a:pPr defTabSz="914400">
                        <a:defRPr>
                          <a:solidFill>
                            <a:srgbClr val="000000"/>
                          </a:solidFill>
                        </a:defRPr>
                      </a:pPr>
                      <a:r>
                        <a:rPr sz="3200">
                          <a:solidFill>
                            <a:srgbClr val="FFFFFF"/>
                          </a:solidFill>
                        </a:rPr>
                        <a:t>권한 범위</a:t>
                      </a:r>
                    </a:p>
                  </a:txBody>
                  <a:tcPr marL="50800" marR="50800" marT="50800" marB="50800" anchor="ctr" horzOverflow="overflow"/>
                </a:tc>
                <a:tc>
                  <a:txBody>
                    <a:bodyPr/>
                    <a:lstStyle/>
                    <a:p>
                      <a:pPr defTabSz="914400">
                        <a:defRPr>
                          <a:solidFill>
                            <a:srgbClr val="000000"/>
                          </a:solidFill>
                        </a:defRPr>
                      </a:pPr>
                      <a:r>
                        <a:rPr sz="3200">
                          <a:solidFill>
                            <a:srgbClr val="FFFFFF"/>
                          </a:solidFill>
                        </a:rPr>
                        <a:t>권한 범위</a:t>
                      </a:r>
                    </a:p>
                  </a:txBody>
                  <a:tcPr marL="50800" marR="50800" marT="50800" marB="50800" anchor="ctr" horzOverflow="overflow"/>
                </a:tc>
                <a:tc>
                  <a:txBody>
                    <a:bodyPr/>
                    <a:lstStyle/>
                    <a:p>
                      <a:pPr defTabSz="914400">
                        <a:defRPr>
                          <a:solidFill>
                            <a:srgbClr val="000000"/>
                          </a:solidFill>
                        </a:defRPr>
                      </a:pPr>
                      <a:r>
                        <a:rPr sz="3200">
                          <a:solidFill>
                            <a:srgbClr val="FFFFFF"/>
                          </a:solidFill>
                        </a:rPr>
                        <a:t>disclosure와 대사</a:t>
                      </a:r>
                    </a:p>
                  </a:txBody>
                  <a:tcPr marL="50800" marR="50800" marT="50800" marB="50800" anchor="ctr" horzOverflow="overflow"/>
                </a:tc>
                <a:tc>
                  <a:txBody>
                    <a:bodyPr/>
                    <a:lstStyle/>
                    <a:p>
                      <a:pPr defTabSz="914400">
                        <a:defRPr>
                          <a:solidFill>
                            <a:srgbClr val="000000"/>
                          </a:solidFill>
                        </a:defRPr>
                      </a:pPr>
                      <a:r>
                        <a:rPr sz="3200">
                          <a:solidFill>
                            <a:srgbClr val="FFFFFF"/>
                          </a:solidFill>
                        </a:rPr>
                        <a:t>disclosure key</a:t>
                      </a:r>
                    </a:p>
                  </a:txBody>
                  <a:tcPr marL="50800" marR="50800" marT="50800" marB="50800" anchor="ctr" horzOverflow="overflow"/>
                </a:tc>
                <a:extLst>
                  <a:ext uri="{0D108BD9-81ED-4DB2-BD59-A6C34878D82A}">
                    <a16:rowId xmlns:a16="http://schemas.microsoft.com/office/drawing/2014/main" val="10004"/>
                  </a:ext>
                </a:extLst>
              </a:tr>
            </a:tbl>
          </a:graphicData>
        </a:graphic>
      </p:graphicFrame>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20</a:t>
            </a:fld>
            <a:endParaRPr/>
          </a:p>
        </p:txBody>
      </p:sp>
      <p:sp>
        <p:nvSpPr>
          <p:cNvPr id="473" name="실패 모드 1 · 300으로 301을 지급하려면"/>
          <p:cNvSpPr txBox="1"/>
          <p:nvPr/>
        </p:nvSpPr>
        <p:spPr>
          <a:xfrm>
            <a:off x="1270000" y="698500"/>
            <a:ext cx="19685000" cy="800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600">
                <a:latin typeface="Apple SD 산돌고딕 Neo 볼드체"/>
                <a:ea typeface="Apple SD 산돌고딕 Neo 볼드체"/>
                <a:cs typeface="Apple SD 산돌고딕 Neo 볼드체"/>
                <a:sym typeface="Apple SD 산돌고딕 Neo 볼드체"/>
              </a:defRPr>
            </a:lvl1pPr>
          </a:lstStyle>
          <a:p>
            <a:r>
              <a:t>실패 모드 1 · 300으로 301을 지급하려면</a:t>
            </a:r>
          </a:p>
        </p:txBody>
      </p:sp>
      <p:sp>
        <p:nvSpPr>
          <p:cNvPr id="474" name="직사각형"/>
          <p:cNvSpPr/>
          <p:nvPr/>
        </p:nvSpPr>
        <p:spPr>
          <a:xfrm>
            <a:off x="952499" y="2159000"/>
            <a:ext cx="14986001" cy="8255000"/>
          </a:xfrm>
          <a:prstGeom prst="rect">
            <a:avLst/>
          </a:prstGeom>
          <a:solidFill>
            <a:srgbClr val="FFFFFF">
              <a:alpha val="6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75" name="직사각형"/>
          <p:cNvSpPr/>
          <p:nvPr/>
        </p:nvSpPr>
        <p:spPr>
          <a:xfrm>
            <a:off x="16509999" y="2158999"/>
            <a:ext cx="6921501" cy="8255001"/>
          </a:xfrm>
          <a:prstGeom prst="rect">
            <a:avLst/>
          </a:prstGeom>
          <a:solidFill>
            <a:srgbClr val="FFFFFF">
              <a:alpha val="9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76" name="OFF-CHAIN · BROADCAST 전"/>
          <p:cNvSpPr txBox="1"/>
          <p:nvPr/>
        </p:nvSpPr>
        <p:spPr>
          <a:xfrm>
            <a:off x="1397000" y="2413000"/>
            <a:ext cx="8255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OFF-CHAIN · BROADCAST 전</a:t>
            </a:r>
          </a:p>
        </p:txBody>
      </p:sp>
      <p:sp>
        <p:nvSpPr>
          <p:cNvPr id="477" name="NOT REACHED"/>
          <p:cNvSpPr txBox="1"/>
          <p:nvPr/>
        </p:nvSpPr>
        <p:spPr>
          <a:xfrm>
            <a:off x="16954500" y="2413000"/>
            <a:ext cx="5080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FF6368"/>
                </a:solidFill>
                <a:latin typeface="Apple SD 산돌고딕 Neo 볼드체"/>
                <a:ea typeface="Apple SD 산돌고딕 Neo 볼드체"/>
                <a:cs typeface="Apple SD 산돌고딕 Neo 볼드체"/>
                <a:sym typeface="Apple SD 산돌고딕 Neo 볼드체"/>
              </a:defRPr>
            </a:lvl1pPr>
          </a:lstStyle>
          <a:p>
            <a:r>
              <a:t>NOT REACHED</a:t>
            </a:r>
          </a:p>
        </p:txBody>
      </p:sp>
      <p:sp>
        <p:nvSpPr>
          <p:cNvPr id="478" name="직사각형"/>
          <p:cNvSpPr/>
          <p:nvPr/>
        </p:nvSpPr>
        <p:spPr>
          <a:xfrm>
            <a:off x="1460500" y="4191000"/>
            <a:ext cx="3556000"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79" name="Treasury note"/>
          <p:cNvSpPr txBox="1"/>
          <p:nvPr/>
        </p:nvSpPr>
        <p:spPr>
          <a:xfrm>
            <a:off x="1765300" y="45085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Treasury note</a:t>
            </a:r>
          </a:p>
        </p:txBody>
      </p:sp>
      <p:sp>
        <p:nvSpPr>
          <p:cNvPr id="480" name="available = 300"/>
          <p:cNvSpPr txBox="1"/>
          <p:nvPr/>
        </p:nvSpPr>
        <p:spPr>
          <a:xfrm>
            <a:off x="1765300" y="52070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available = 300</a:t>
            </a:r>
          </a:p>
        </p:txBody>
      </p:sp>
      <p:sp>
        <p:nvSpPr>
          <p:cNvPr id="481" name="root₀"/>
          <p:cNvSpPr txBox="1"/>
          <p:nvPr/>
        </p:nvSpPr>
        <p:spPr>
          <a:xfrm>
            <a:off x="1765300" y="5715000"/>
            <a:ext cx="2946400" cy="3970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root₀</a:t>
            </a:r>
          </a:p>
        </p:txBody>
      </p:sp>
      <p:sp>
        <p:nvSpPr>
          <p:cNvPr id="482" name="→"/>
          <p:cNvSpPr txBox="1"/>
          <p:nvPr/>
        </p:nvSpPr>
        <p:spPr>
          <a:xfrm>
            <a:off x="5143500" y="49530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83" name="직사각형"/>
          <p:cNvSpPr/>
          <p:nvPr/>
        </p:nvSpPr>
        <p:spPr>
          <a:xfrm>
            <a:off x="6096000" y="4191000"/>
            <a:ext cx="3556000"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84" name="Payroll plan"/>
          <p:cNvSpPr txBox="1"/>
          <p:nvPr/>
        </p:nvSpPr>
        <p:spPr>
          <a:xfrm>
            <a:off x="6400800" y="45085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Payroll plan</a:t>
            </a:r>
          </a:p>
        </p:txBody>
      </p:sp>
      <p:sp>
        <p:nvSpPr>
          <p:cNvPr id="485" name="A 101 + B 120"/>
          <p:cNvSpPr txBox="1"/>
          <p:nvPr/>
        </p:nvSpPr>
        <p:spPr>
          <a:xfrm>
            <a:off x="6400800" y="52070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A 101 + B 120</a:t>
            </a:r>
          </a:p>
        </p:txBody>
      </p:sp>
      <p:sp>
        <p:nvSpPr>
          <p:cNvPr id="486" name="+ C 80 = 301"/>
          <p:cNvSpPr txBox="1"/>
          <p:nvPr/>
        </p:nvSpPr>
        <p:spPr>
          <a:xfrm>
            <a:off x="6400800" y="57150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 C 80 = 301</a:t>
            </a:r>
          </a:p>
        </p:txBody>
      </p:sp>
      <p:sp>
        <p:nvSpPr>
          <p:cNvPr id="487" name="→"/>
          <p:cNvSpPr txBox="1"/>
          <p:nvPr/>
        </p:nvSpPr>
        <p:spPr>
          <a:xfrm>
            <a:off x="9779000" y="49530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88" name="직사각형"/>
          <p:cNvSpPr/>
          <p:nvPr/>
        </p:nvSpPr>
        <p:spPr>
          <a:xfrm>
            <a:off x="10731500" y="4191000"/>
            <a:ext cx="4191001"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89" name="Input selection"/>
          <p:cNvSpPr txBox="1"/>
          <p:nvPr/>
        </p:nvSpPr>
        <p:spPr>
          <a:xfrm>
            <a:off x="11036300" y="4508500"/>
            <a:ext cx="358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6368"/>
                </a:solidFill>
                <a:latin typeface="Apple SD 산돌고딕 Neo 볼드체"/>
                <a:ea typeface="Apple SD 산돌고딕 Neo 볼드체"/>
                <a:cs typeface="Apple SD 산돌고딕 Neo 볼드체"/>
                <a:sym typeface="Apple SD 산돌고딕 Neo 볼드체"/>
              </a:defRPr>
            </a:lvl1pPr>
          </a:lstStyle>
          <a:p>
            <a:r>
              <a:t>Input selection</a:t>
            </a:r>
          </a:p>
        </p:txBody>
      </p:sp>
      <p:sp>
        <p:nvSpPr>
          <p:cNvPr id="490" name="301 &gt; 300"/>
          <p:cNvSpPr txBox="1"/>
          <p:nvPr/>
        </p:nvSpPr>
        <p:spPr>
          <a:xfrm>
            <a:off x="11036300" y="5207000"/>
            <a:ext cx="358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301 &gt; 300</a:t>
            </a:r>
          </a:p>
        </p:txBody>
      </p:sp>
      <p:sp>
        <p:nvSpPr>
          <p:cNvPr id="491" name="REJECT"/>
          <p:cNvSpPr txBox="1"/>
          <p:nvPr/>
        </p:nvSpPr>
        <p:spPr>
          <a:xfrm>
            <a:off x="11036300" y="5715000"/>
            <a:ext cx="358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REJECT</a:t>
            </a:r>
          </a:p>
        </p:txBody>
      </p:sp>
      <p:sp>
        <p:nvSpPr>
          <p:cNvPr id="492" name="×"/>
          <p:cNvSpPr txBox="1"/>
          <p:nvPr/>
        </p:nvSpPr>
        <p:spPr>
          <a:xfrm>
            <a:off x="15494000" y="4826000"/>
            <a:ext cx="889000" cy="774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400">
                <a:solidFill>
                  <a:srgbClr val="FF6368"/>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493" name="직사각형"/>
          <p:cNvSpPr/>
          <p:nvPr/>
        </p:nvSpPr>
        <p:spPr>
          <a:xfrm>
            <a:off x="17145000" y="3809999"/>
            <a:ext cx="5461000" cy="1651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94" name="Prover"/>
          <p:cNvSpPr txBox="1"/>
          <p:nvPr/>
        </p:nvSpPr>
        <p:spPr>
          <a:xfrm>
            <a:off x="17449800" y="4127500"/>
            <a:ext cx="485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6368"/>
                </a:solidFill>
                <a:latin typeface="Apple SD 산돌고딕 Neo 볼드체"/>
                <a:ea typeface="Apple SD 산돌고딕 Neo 볼드체"/>
                <a:cs typeface="Apple SD 산돌고딕 Neo 볼드체"/>
                <a:sym typeface="Apple SD 산돌고딕 Neo 볼드체"/>
              </a:defRPr>
            </a:lvl1pPr>
          </a:lstStyle>
          <a:p>
            <a:r>
              <a:t>Prover</a:t>
            </a:r>
          </a:p>
        </p:txBody>
      </p:sp>
      <p:sp>
        <p:nvSpPr>
          <p:cNvPr id="495" name="호출되지 않음"/>
          <p:cNvSpPr txBox="1"/>
          <p:nvPr/>
        </p:nvSpPr>
        <p:spPr>
          <a:xfrm>
            <a:off x="17449800" y="48260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호출되지 않음</a:t>
            </a:r>
          </a:p>
        </p:txBody>
      </p:sp>
      <p:sp>
        <p:nvSpPr>
          <p:cNvPr id="496" name="직사각형"/>
          <p:cNvSpPr/>
          <p:nvPr/>
        </p:nvSpPr>
        <p:spPr>
          <a:xfrm>
            <a:off x="17145000" y="6350000"/>
            <a:ext cx="5461000" cy="1651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497" name="x/privacy"/>
          <p:cNvSpPr txBox="1"/>
          <p:nvPr/>
        </p:nvSpPr>
        <p:spPr>
          <a:xfrm>
            <a:off x="17449800" y="6667500"/>
            <a:ext cx="485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6368"/>
                </a:solidFill>
                <a:latin typeface="Apple SD 산돌고딕 Neo 볼드체"/>
                <a:ea typeface="Apple SD 산돌고딕 Neo 볼드체"/>
                <a:cs typeface="Apple SD 산돌고딕 Neo 볼드체"/>
                <a:sym typeface="Apple SD 산돌고딕 Neo 볼드체"/>
              </a:defRPr>
            </a:lvl1pPr>
          </a:lstStyle>
          <a:p>
            <a:r>
              <a:t>x/privacy</a:t>
            </a:r>
          </a:p>
        </p:txBody>
      </p:sp>
      <p:sp>
        <p:nvSpPr>
          <p:cNvPr id="498" name="transaction 없음"/>
          <p:cNvSpPr txBox="1"/>
          <p:nvPr/>
        </p:nvSpPr>
        <p:spPr>
          <a:xfrm>
            <a:off x="17449800" y="73660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transaction 없음</a:t>
            </a:r>
          </a:p>
        </p:txBody>
      </p:sp>
      <p:sp>
        <p:nvSpPr>
          <p:cNvPr id="499" name="관찰 증거"/>
          <p:cNvSpPr txBox="1"/>
          <p:nvPr/>
        </p:nvSpPr>
        <p:spPr>
          <a:xfrm>
            <a:off x="1905000" y="8001000"/>
            <a:ext cx="3175001"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600">
                <a:solidFill>
                  <a:srgbClr val="40E19E"/>
                </a:solidFill>
                <a:latin typeface="Apple SD 산돌고딕 Neo 볼드체"/>
                <a:ea typeface="Apple SD 산돌고딕 Neo 볼드체"/>
                <a:cs typeface="Apple SD 산돌고딕 Neo 볼드체"/>
                <a:sym typeface="Apple SD 산돌고딕 Neo 볼드체"/>
              </a:defRPr>
            </a:lvl1pPr>
          </a:lstStyle>
          <a:p>
            <a:r>
              <a:t>관찰 증거</a:t>
            </a:r>
          </a:p>
        </p:txBody>
      </p:sp>
      <p:sp>
        <p:nvSpPr>
          <p:cNvPr id="500" name="proof 0 · broadcastAttempted=false · treasuryStateUnchanged=true"/>
          <p:cNvSpPr txBox="1"/>
          <p:nvPr/>
        </p:nvSpPr>
        <p:spPr>
          <a:xfrm>
            <a:off x="5207000" y="8001000"/>
            <a:ext cx="10033001" cy="457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300">
                <a:latin typeface="Apple SD 산돌고딕 Neo 일반체"/>
                <a:ea typeface="Apple SD 산돌고딕 Neo 일반체"/>
                <a:cs typeface="Apple SD 산돌고딕 Neo 일반체"/>
                <a:sym typeface="Apple SD 산돌고딕 Neo 일반체"/>
              </a:defRPr>
            </a:lvl1pPr>
          </a:lstStyle>
          <a:p>
            <a:r>
              <a:t>proof 0 · broadcastAttempted=false · treasuryStateUnchanged=true</a:t>
            </a:r>
          </a:p>
        </p:txBody>
      </p:sp>
      <p:sp>
        <p:nvSpPr>
          <p:cNvPr id="501" name="Maroo 설계: proof 전 plan 합계 대사 + x/privacy의 가치 보존 검증"/>
          <p:cNvSpPr txBox="1"/>
          <p:nvPr/>
        </p:nvSpPr>
        <p:spPr>
          <a:xfrm>
            <a:off x="4572000" y="11620500"/>
            <a:ext cx="15240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Maroo 설계: proof 전 plan 합계 대사 + x/privacy의 가치 보존 검증</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21</a:t>
            </a:fld>
            <a:endParaRPr/>
          </a:p>
        </p:txBody>
      </p:sp>
      <p:sp>
        <p:nvSpPr>
          <p:cNvPr id="506" name="실패 모드 2 · chain 성공, 급여 업무 실패"/>
          <p:cNvSpPr txBox="1"/>
          <p:nvPr/>
        </p:nvSpPr>
        <p:spPr>
          <a:xfrm>
            <a:off x="1270000" y="698500"/>
            <a:ext cx="19685000" cy="800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600">
                <a:latin typeface="Apple SD 산돌고딕 Neo 볼드체"/>
                <a:ea typeface="Apple SD 산돌고딕 Neo 볼드체"/>
                <a:cs typeface="Apple SD 산돌고딕 Neo 볼드체"/>
                <a:sym typeface="Apple SD 산돌고딕 Neo 볼드체"/>
              </a:defRPr>
            </a:lvl1pPr>
          </a:lstStyle>
          <a:p>
            <a:r>
              <a:t>실패 모드 2 · chain 성공, 급여 업무 실패</a:t>
            </a:r>
          </a:p>
        </p:txBody>
      </p:sp>
      <p:sp>
        <p:nvSpPr>
          <p:cNvPr id="507" name="BUSINESS INTENT"/>
          <p:cNvSpPr txBox="1"/>
          <p:nvPr/>
        </p:nvSpPr>
        <p:spPr>
          <a:xfrm>
            <a:off x="1333500" y="2222500"/>
            <a:ext cx="6350001"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BUSINESS INTENT</a:t>
            </a:r>
          </a:p>
        </p:txBody>
      </p:sp>
      <p:sp>
        <p:nvSpPr>
          <p:cNvPr id="508" name="CHAIN VALIDATION"/>
          <p:cNvSpPr txBox="1"/>
          <p:nvPr/>
        </p:nvSpPr>
        <p:spPr>
          <a:xfrm>
            <a:off x="9652000" y="2222500"/>
            <a:ext cx="6350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FFBF2C"/>
                </a:solidFill>
                <a:latin typeface="Apple SD 산돌고딕 Neo 볼드체"/>
                <a:ea typeface="Apple SD 산돌고딕 Neo 볼드체"/>
                <a:cs typeface="Apple SD 산돌고딕 Neo 볼드체"/>
                <a:sym typeface="Apple SD 산돌고딕 Neo 볼드체"/>
              </a:defRPr>
            </a:lvl1pPr>
          </a:lstStyle>
          <a:p>
            <a:r>
              <a:t>CHAIN VALIDATION</a:t>
            </a:r>
          </a:p>
        </p:txBody>
      </p:sp>
      <p:sp>
        <p:nvSpPr>
          <p:cNvPr id="509" name="DELIVERY CHECK"/>
          <p:cNvSpPr txBox="1"/>
          <p:nvPr/>
        </p:nvSpPr>
        <p:spPr>
          <a:xfrm>
            <a:off x="18161000" y="2222500"/>
            <a:ext cx="5080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DELIVERY CHECK</a:t>
            </a:r>
          </a:p>
        </p:txBody>
      </p:sp>
      <p:sp>
        <p:nvSpPr>
          <p:cNvPr id="510" name="직사각형"/>
          <p:cNvSpPr/>
          <p:nvPr/>
        </p:nvSpPr>
        <p:spPr>
          <a:xfrm>
            <a:off x="1270000" y="3810000"/>
            <a:ext cx="4064000" cy="2413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11" name="Approved plan"/>
          <p:cNvSpPr txBox="1"/>
          <p:nvPr/>
        </p:nvSpPr>
        <p:spPr>
          <a:xfrm>
            <a:off x="1574800" y="4127500"/>
            <a:ext cx="3454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Approved plan</a:t>
            </a:r>
          </a:p>
        </p:txBody>
      </p:sp>
      <p:sp>
        <p:nvSpPr>
          <p:cNvPr id="512" name="EMP-B"/>
          <p:cNvSpPr txBox="1"/>
          <p:nvPr/>
        </p:nvSpPr>
        <p:spPr>
          <a:xfrm>
            <a:off x="1574800" y="4826000"/>
            <a:ext cx="3454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EMP-B</a:t>
            </a:r>
          </a:p>
        </p:txBody>
      </p:sp>
      <p:sp>
        <p:nvSpPr>
          <p:cNvPr id="513" name="120uclair"/>
          <p:cNvSpPr txBox="1"/>
          <p:nvPr/>
        </p:nvSpPr>
        <p:spPr>
          <a:xfrm>
            <a:off x="1574800" y="5334000"/>
            <a:ext cx="3454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120uclair</a:t>
            </a:r>
          </a:p>
        </p:txBody>
      </p:sp>
      <p:sp>
        <p:nvSpPr>
          <p:cNvPr id="514" name="→"/>
          <p:cNvSpPr txBox="1"/>
          <p:nvPr/>
        </p:nvSpPr>
        <p:spPr>
          <a:xfrm>
            <a:off x="5461000" y="4635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15" name="직사각형"/>
          <p:cNvSpPr/>
          <p:nvPr/>
        </p:nvSpPr>
        <p:spPr>
          <a:xfrm>
            <a:off x="6413500" y="3810000"/>
            <a:ext cx="4064000" cy="2413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16" name="Actual output"/>
          <p:cNvSpPr txBox="1"/>
          <p:nvPr/>
        </p:nvSpPr>
        <p:spPr>
          <a:xfrm>
            <a:off x="6718300" y="4127500"/>
            <a:ext cx="3454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Actual output</a:t>
            </a:r>
          </a:p>
        </p:txBody>
      </p:sp>
      <p:sp>
        <p:nvSpPr>
          <p:cNvPr id="517" name="EMP-C"/>
          <p:cNvSpPr txBox="1"/>
          <p:nvPr/>
        </p:nvSpPr>
        <p:spPr>
          <a:xfrm>
            <a:off x="6718300" y="4826000"/>
            <a:ext cx="3454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EMP-C</a:t>
            </a:r>
          </a:p>
        </p:txBody>
      </p:sp>
      <p:sp>
        <p:nvSpPr>
          <p:cNvPr id="518" name="valid shielded profile"/>
          <p:cNvSpPr txBox="1"/>
          <p:nvPr/>
        </p:nvSpPr>
        <p:spPr>
          <a:xfrm>
            <a:off x="6718300" y="5334000"/>
            <a:ext cx="3454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valid shielded profile</a:t>
            </a:r>
          </a:p>
        </p:txBody>
      </p:sp>
      <p:sp>
        <p:nvSpPr>
          <p:cNvPr id="519" name="→"/>
          <p:cNvSpPr txBox="1"/>
          <p:nvPr/>
        </p:nvSpPr>
        <p:spPr>
          <a:xfrm>
            <a:off x="10604500" y="4635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20" name="직사각형"/>
          <p:cNvSpPr/>
          <p:nvPr/>
        </p:nvSpPr>
        <p:spPr>
          <a:xfrm>
            <a:off x="11557000" y="3810000"/>
            <a:ext cx="3556001" cy="2413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21" name="Proof"/>
          <p:cNvSpPr txBox="1"/>
          <p:nvPr/>
        </p:nvSpPr>
        <p:spPr>
          <a:xfrm>
            <a:off x="11861800" y="4127500"/>
            <a:ext cx="294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40E19E"/>
                </a:solidFill>
                <a:latin typeface="Apple SD 산돌고딕 Neo 볼드체"/>
                <a:ea typeface="Apple SD 산돌고딕 Neo 볼드체"/>
                <a:cs typeface="Apple SD 산돌고딕 Neo 볼드체"/>
                <a:sym typeface="Apple SD 산돌고딕 Neo 볼드체"/>
              </a:defRPr>
            </a:lvl1pPr>
          </a:lstStyle>
          <a:p>
            <a:r>
              <a:t>Proof</a:t>
            </a:r>
          </a:p>
        </p:txBody>
      </p:sp>
      <p:sp>
        <p:nvSpPr>
          <p:cNvPr id="522" name="root·nullifier"/>
          <p:cNvSpPr txBox="1"/>
          <p:nvPr/>
        </p:nvSpPr>
        <p:spPr>
          <a:xfrm>
            <a:off x="11861800" y="48260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root·nullifier</a:t>
            </a:r>
          </a:p>
        </p:txBody>
      </p:sp>
      <p:sp>
        <p:nvSpPr>
          <p:cNvPr id="523" name="value conserved"/>
          <p:cNvSpPr txBox="1"/>
          <p:nvPr/>
        </p:nvSpPr>
        <p:spPr>
          <a:xfrm>
            <a:off x="11861800" y="5334000"/>
            <a:ext cx="294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value conserved</a:t>
            </a:r>
          </a:p>
        </p:txBody>
      </p:sp>
      <p:sp>
        <p:nvSpPr>
          <p:cNvPr id="524" name="→"/>
          <p:cNvSpPr txBox="1"/>
          <p:nvPr/>
        </p:nvSpPr>
        <p:spPr>
          <a:xfrm>
            <a:off x="15240000" y="4635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25" name="직사각형"/>
          <p:cNvSpPr/>
          <p:nvPr/>
        </p:nvSpPr>
        <p:spPr>
          <a:xfrm>
            <a:off x="16192499" y="3810000"/>
            <a:ext cx="3175001" cy="2413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26" name="PCL"/>
          <p:cNvSpPr txBox="1"/>
          <p:nvPr/>
        </p:nvSpPr>
        <p:spPr>
          <a:xfrm>
            <a:off x="16497300" y="4127500"/>
            <a:ext cx="2565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40E19E"/>
                </a:solidFill>
                <a:latin typeface="Apple SD 산돌고딕 Neo 볼드체"/>
                <a:ea typeface="Apple SD 산돌고딕 Neo 볼드체"/>
                <a:cs typeface="Apple SD 산돌고딕 Neo 볼드체"/>
                <a:sym typeface="Apple SD 산돌고딕 Neo 볼드체"/>
              </a:defRPr>
            </a:lvl1pPr>
          </a:lstStyle>
          <a:p>
            <a:r>
              <a:t>PCL</a:t>
            </a:r>
          </a:p>
        </p:txBody>
      </p:sp>
      <p:sp>
        <p:nvSpPr>
          <p:cNvPr id="527" name="configured policy"/>
          <p:cNvSpPr txBox="1"/>
          <p:nvPr/>
        </p:nvSpPr>
        <p:spPr>
          <a:xfrm>
            <a:off x="16497300" y="4826000"/>
            <a:ext cx="256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configured policy</a:t>
            </a:r>
          </a:p>
        </p:txBody>
      </p:sp>
      <p:sp>
        <p:nvSpPr>
          <p:cNvPr id="528" name="ALLOW"/>
          <p:cNvSpPr txBox="1"/>
          <p:nvPr/>
        </p:nvSpPr>
        <p:spPr>
          <a:xfrm>
            <a:off x="16497300" y="5334000"/>
            <a:ext cx="2565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ALLOW</a:t>
            </a:r>
          </a:p>
        </p:txBody>
      </p:sp>
      <p:sp>
        <p:nvSpPr>
          <p:cNvPr id="529" name="→"/>
          <p:cNvSpPr txBox="1"/>
          <p:nvPr/>
        </p:nvSpPr>
        <p:spPr>
          <a:xfrm>
            <a:off x="19494500" y="4635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30" name="직사각형"/>
          <p:cNvSpPr/>
          <p:nvPr/>
        </p:nvSpPr>
        <p:spPr>
          <a:xfrm>
            <a:off x="20447000" y="3810000"/>
            <a:ext cx="2667000" cy="2413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31" name="Receipt"/>
          <p:cNvSpPr txBox="1"/>
          <p:nvPr/>
        </p:nvSpPr>
        <p:spPr>
          <a:xfrm>
            <a:off x="20751800" y="4127500"/>
            <a:ext cx="205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40E19E"/>
                </a:solidFill>
                <a:latin typeface="Apple SD 산돌고딕 Neo 볼드체"/>
                <a:ea typeface="Apple SD 산돌고딕 Neo 볼드체"/>
                <a:cs typeface="Apple SD 산돌고딕 Neo 볼드체"/>
                <a:sym typeface="Apple SD 산돌고딕 Neo 볼드체"/>
              </a:defRPr>
            </a:lvl1pPr>
          </a:lstStyle>
          <a:p>
            <a:r>
              <a:t>Receipt</a:t>
            </a:r>
          </a:p>
        </p:txBody>
      </p:sp>
      <p:sp>
        <p:nvSpPr>
          <p:cNvPr id="532" name="code 0"/>
          <p:cNvSpPr txBox="1"/>
          <p:nvPr/>
        </p:nvSpPr>
        <p:spPr>
          <a:xfrm>
            <a:off x="20751800" y="4826000"/>
            <a:ext cx="205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code 0</a:t>
            </a:r>
          </a:p>
        </p:txBody>
      </p:sp>
      <p:sp>
        <p:nvSpPr>
          <p:cNvPr id="533" name="SUCCESS"/>
          <p:cNvSpPr txBox="1"/>
          <p:nvPr/>
        </p:nvSpPr>
        <p:spPr>
          <a:xfrm>
            <a:off x="20751800" y="5334000"/>
            <a:ext cx="205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SUCCESS</a:t>
            </a:r>
          </a:p>
        </p:txBody>
      </p:sp>
      <p:sp>
        <p:nvSpPr>
          <p:cNvPr id="534" name="직사각형"/>
          <p:cNvSpPr/>
          <p:nvPr/>
        </p:nvSpPr>
        <p:spPr>
          <a:xfrm>
            <a:off x="3873500" y="8064499"/>
            <a:ext cx="5461000" cy="2032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35" name="EMP-B scan"/>
          <p:cNvSpPr txBox="1"/>
          <p:nvPr/>
        </p:nvSpPr>
        <p:spPr>
          <a:xfrm>
            <a:off x="4178300" y="8382000"/>
            <a:ext cx="485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6368"/>
                </a:solidFill>
                <a:latin typeface="Apple SD 산돌고딕 Neo 볼드체"/>
                <a:ea typeface="Apple SD 산돌고딕 Neo 볼드체"/>
                <a:cs typeface="Apple SD 산돌고딕 Neo 볼드체"/>
                <a:sym typeface="Apple SD 산돌고딕 Neo 볼드체"/>
              </a:defRPr>
            </a:lvl1pPr>
          </a:lstStyle>
          <a:p>
            <a:r>
              <a:t>EMP-B scan</a:t>
            </a:r>
          </a:p>
        </p:txBody>
      </p:sp>
      <p:sp>
        <p:nvSpPr>
          <p:cNvPr id="536" name="new note = 0"/>
          <p:cNvSpPr txBox="1"/>
          <p:nvPr/>
        </p:nvSpPr>
        <p:spPr>
          <a:xfrm>
            <a:off x="4178300" y="9080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new note = 0</a:t>
            </a:r>
          </a:p>
        </p:txBody>
      </p:sp>
      <p:sp>
        <p:nvSpPr>
          <p:cNvPr id="537" name="의도한 직원 미수령"/>
          <p:cNvSpPr txBox="1"/>
          <p:nvPr/>
        </p:nvSpPr>
        <p:spPr>
          <a:xfrm>
            <a:off x="4178300" y="9588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의도한 직원 미수령</a:t>
            </a:r>
          </a:p>
        </p:txBody>
      </p:sp>
      <p:sp>
        <p:nvSpPr>
          <p:cNvPr id="538" name="직사각형"/>
          <p:cNvSpPr/>
          <p:nvPr/>
        </p:nvSpPr>
        <p:spPr>
          <a:xfrm>
            <a:off x="10223500" y="8064499"/>
            <a:ext cx="5461000" cy="2032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39" name="EMP-C scan"/>
          <p:cNvSpPr txBox="1"/>
          <p:nvPr/>
        </p:nvSpPr>
        <p:spPr>
          <a:xfrm>
            <a:off x="10528300" y="8382000"/>
            <a:ext cx="485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EMP-C scan</a:t>
            </a:r>
          </a:p>
        </p:txBody>
      </p:sp>
      <p:sp>
        <p:nvSpPr>
          <p:cNvPr id="540" name="new note = 1"/>
          <p:cNvSpPr txBox="1"/>
          <p:nvPr/>
        </p:nvSpPr>
        <p:spPr>
          <a:xfrm>
            <a:off x="10528300" y="9080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new note = 1</a:t>
            </a:r>
          </a:p>
        </p:txBody>
      </p:sp>
      <p:sp>
        <p:nvSpPr>
          <p:cNvPr id="541" name="다른 직원 수령"/>
          <p:cNvSpPr txBox="1"/>
          <p:nvPr/>
        </p:nvSpPr>
        <p:spPr>
          <a:xfrm>
            <a:off x="10528300" y="9588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다른 직원 수령</a:t>
            </a:r>
          </a:p>
        </p:txBody>
      </p:sp>
      <p:sp>
        <p:nvSpPr>
          <p:cNvPr id="542" name="직사각형"/>
          <p:cNvSpPr/>
          <p:nvPr/>
        </p:nvSpPr>
        <p:spPr>
          <a:xfrm>
            <a:off x="16573500" y="8064499"/>
            <a:ext cx="5461000" cy="2032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43" name="Auditor verdict"/>
          <p:cNvSpPr txBox="1"/>
          <p:nvPr/>
        </p:nvSpPr>
        <p:spPr>
          <a:xfrm>
            <a:off x="16878300" y="8382000"/>
            <a:ext cx="4851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6368"/>
                </a:solidFill>
                <a:latin typeface="Apple SD 산돌고딕 Neo 볼드체"/>
                <a:ea typeface="Apple SD 산돌고딕 Neo 볼드체"/>
                <a:cs typeface="Apple SD 산돌고딕 Neo 볼드체"/>
                <a:sym typeface="Apple SD 산돌고딕 Neo 볼드체"/>
              </a:defRPr>
            </a:lvl1pPr>
          </a:lstStyle>
          <a:p>
            <a:r>
              <a:t>Auditor verdict</a:t>
            </a:r>
          </a:p>
        </p:txBody>
      </p:sp>
      <p:sp>
        <p:nvSpPr>
          <p:cNvPr id="544" name="plan ≠ scan"/>
          <p:cNvSpPr txBox="1"/>
          <p:nvPr/>
        </p:nvSpPr>
        <p:spPr>
          <a:xfrm>
            <a:off x="16878300" y="9080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plan ≠ scan</a:t>
            </a:r>
          </a:p>
        </p:txBody>
      </p:sp>
      <p:sp>
        <p:nvSpPr>
          <p:cNvPr id="545" name="BUSINESS FAILURE"/>
          <p:cNvSpPr txBox="1"/>
          <p:nvPr/>
        </p:nvSpPr>
        <p:spPr>
          <a:xfrm>
            <a:off x="16878300" y="9588500"/>
            <a:ext cx="4851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BUSINESS FAILURE</a:t>
            </a:r>
          </a:p>
        </p:txBody>
      </p:sp>
      <p:sp>
        <p:nvSpPr>
          <p:cNvPr id="546" name="→"/>
          <p:cNvSpPr txBox="1"/>
          <p:nvPr/>
        </p:nvSpPr>
        <p:spPr>
          <a:xfrm>
            <a:off x="9461500" y="8699500"/>
            <a:ext cx="698500" cy="596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2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47" name="→"/>
          <p:cNvSpPr txBox="1"/>
          <p:nvPr/>
        </p:nvSpPr>
        <p:spPr>
          <a:xfrm>
            <a:off x="15811500" y="8699500"/>
            <a:ext cx="698500" cy="5969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2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48" name="핵심 · Privacy와 PCL의 성공만으로 직원 업무 의도는 증명되지 않는다"/>
          <p:cNvSpPr txBox="1"/>
          <p:nvPr/>
        </p:nvSpPr>
        <p:spPr>
          <a:xfrm>
            <a:off x="4635500" y="11620500"/>
            <a:ext cx="15113001"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핵심 · Privacy와 PCL의 성공만으로 직원 업무 의도는 증명되지 않는다</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22</a:t>
            </a:fld>
            <a:endParaRPr/>
          </a:p>
        </p:txBody>
      </p:sp>
      <p:sp>
        <p:nvSpPr>
          <p:cNvPr id="553" name="Maroo 오지급 방지 · 세 경계에 통제를 배치한다"/>
          <p:cNvSpPr txBox="1"/>
          <p:nvPr/>
        </p:nvSpPr>
        <p:spPr>
          <a:xfrm>
            <a:off x="1270000" y="698500"/>
            <a:ext cx="20320000" cy="800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600">
                <a:latin typeface="Apple SD 산돌고딕 Neo 볼드체"/>
                <a:ea typeface="Apple SD 산돌고딕 Neo 볼드체"/>
                <a:cs typeface="Apple SD 산돌고딕 Neo 볼드체"/>
                <a:sym typeface="Apple SD 산돌고딕 Neo 볼드체"/>
              </a:defRPr>
            </a:lvl1pPr>
          </a:lstStyle>
          <a:p>
            <a:r>
              <a:t>Maroo 오지급 방지 · 세 경계에 통제를 배치한다</a:t>
            </a:r>
          </a:p>
        </p:txBody>
      </p:sp>
      <p:sp>
        <p:nvSpPr>
          <p:cNvPr id="554" name="직사각형"/>
          <p:cNvSpPr/>
          <p:nvPr/>
        </p:nvSpPr>
        <p:spPr>
          <a:xfrm>
            <a:off x="888999" y="2222500"/>
            <a:ext cx="10033001" cy="8255000"/>
          </a:xfrm>
          <a:prstGeom prst="rect">
            <a:avLst/>
          </a:prstGeom>
          <a:solidFill>
            <a:srgbClr val="FFFFFF">
              <a:alpha val="6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55" name="직사각형"/>
          <p:cNvSpPr/>
          <p:nvPr/>
        </p:nvSpPr>
        <p:spPr>
          <a:xfrm>
            <a:off x="11430000" y="2222500"/>
            <a:ext cx="6350000" cy="8255000"/>
          </a:xfrm>
          <a:prstGeom prst="rect">
            <a:avLst/>
          </a:prstGeom>
          <a:solidFill>
            <a:srgbClr val="FFFFFF">
              <a:alpha val="9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56" name="직사각형"/>
          <p:cNvSpPr/>
          <p:nvPr/>
        </p:nvSpPr>
        <p:spPr>
          <a:xfrm>
            <a:off x="18287999" y="2222500"/>
            <a:ext cx="5207001" cy="8255000"/>
          </a:xfrm>
          <a:prstGeom prst="rect">
            <a:avLst/>
          </a:prstGeom>
          <a:solidFill>
            <a:srgbClr val="FFFFFF">
              <a:alpha val="6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57" name="PRE-BROADCAST"/>
          <p:cNvSpPr txBox="1"/>
          <p:nvPr/>
        </p:nvSpPr>
        <p:spPr>
          <a:xfrm>
            <a:off x="1333500" y="2476500"/>
            <a:ext cx="4445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PRE-BROADCAST</a:t>
            </a:r>
          </a:p>
        </p:txBody>
      </p:sp>
      <p:sp>
        <p:nvSpPr>
          <p:cNvPr id="558" name="ON-CHAIN"/>
          <p:cNvSpPr txBox="1"/>
          <p:nvPr/>
        </p:nvSpPr>
        <p:spPr>
          <a:xfrm>
            <a:off x="11874500" y="2476500"/>
            <a:ext cx="3810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FFBF2C"/>
                </a:solidFill>
                <a:latin typeface="Apple SD 산돌고딕 Neo 볼드체"/>
                <a:ea typeface="Apple SD 산돌고딕 Neo 볼드체"/>
                <a:cs typeface="Apple SD 산돌고딕 Neo 볼드체"/>
                <a:sym typeface="Apple SD 산돌고딕 Neo 볼드체"/>
              </a:defRPr>
            </a:lvl1pPr>
          </a:lstStyle>
          <a:p>
            <a:r>
              <a:t>ON-CHAIN</a:t>
            </a:r>
          </a:p>
        </p:txBody>
      </p:sp>
      <p:sp>
        <p:nvSpPr>
          <p:cNvPr id="559" name="POST-RECEIPT"/>
          <p:cNvSpPr txBox="1"/>
          <p:nvPr/>
        </p:nvSpPr>
        <p:spPr>
          <a:xfrm>
            <a:off x="18732500" y="2476500"/>
            <a:ext cx="4064000" cy="495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500">
                <a:solidFill>
                  <a:srgbClr val="00E9FF"/>
                </a:solidFill>
                <a:latin typeface="Apple SD 산돌고딕 Neo 볼드체"/>
                <a:ea typeface="Apple SD 산돌고딕 Neo 볼드체"/>
                <a:cs typeface="Apple SD 산돌고딕 Neo 볼드체"/>
                <a:sym typeface="Apple SD 산돌고딕 Neo 볼드체"/>
              </a:defRPr>
            </a:lvl1pPr>
          </a:lstStyle>
          <a:p>
            <a:r>
              <a:t>POST-RECEIPT</a:t>
            </a:r>
          </a:p>
        </p:txBody>
      </p:sp>
      <p:sp>
        <p:nvSpPr>
          <p:cNvPr id="560" name="직사각형"/>
          <p:cNvSpPr/>
          <p:nvPr/>
        </p:nvSpPr>
        <p:spPr>
          <a:xfrm>
            <a:off x="1397000" y="3810000"/>
            <a:ext cx="3810000"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61" name="① Signer policy"/>
          <p:cNvSpPr txBox="1"/>
          <p:nvPr/>
        </p:nvSpPr>
        <p:spPr>
          <a:xfrm>
            <a:off x="1701800" y="4127500"/>
            <a:ext cx="3200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① Signer policy</a:t>
            </a:r>
          </a:p>
        </p:txBody>
      </p:sp>
      <p:sp>
        <p:nvSpPr>
          <p:cNvPr id="562" name="PCL · EAS"/>
          <p:cNvSpPr txBox="1"/>
          <p:nvPr/>
        </p:nvSpPr>
        <p:spPr>
          <a:xfrm>
            <a:off x="1701799" y="4826000"/>
            <a:ext cx="3200401"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PCL · EAS</a:t>
            </a:r>
          </a:p>
        </p:txBody>
      </p:sp>
      <p:sp>
        <p:nvSpPr>
          <p:cNvPr id="563" name="회사 호출자 적격성"/>
          <p:cNvSpPr txBox="1"/>
          <p:nvPr/>
        </p:nvSpPr>
        <p:spPr>
          <a:xfrm>
            <a:off x="1701800" y="5334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회사 호출자 적격성</a:t>
            </a:r>
          </a:p>
        </p:txBody>
      </p:sp>
      <p:sp>
        <p:nvSpPr>
          <p:cNvPr id="564" name="직사각형"/>
          <p:cNvSpPr/>
          <p:nvPr/>
        </p:nvSpPr>
        <p:spPr>
          <a:xfrm>
            <a:off x="6350000" y="3810000"/>
            <a:ext cx="3810000"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65" name="② Recipient registry"/>
          <p:cNvSpPr txBox="1"/>
          <p:nvPr/>
        </p:nvSpPr>
        <p:spPr>
          <a:xfrm>
            <a:off x="6654800" y="4127500"/>
            <a:ext cx="3200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② Recipient registry</a:t>
            </a:r>
          </a:p>
        </p:txBody>
      </p:sp>
      <p:sp>
        <p:nvSpPr>
          <p:cNvPr id="566" name="employee ↔ shielded"/>
          <p:cNvSpPr txBox="1"/>
          <p:nvPr/>
        </p:nvSpPr>
        <p:spPr>
          <a:xfrm>
            <a:off x="6654800" y="4826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employee ↔ shielded</a:t>
            </a:r>
          </a:p>
        </p:txBody>
      </p:sp>
      <p:sp>
        <p:nvSpPr>
          <p:cNvPr id="567" name="승인 주소 매핑"/>
          <p:cNvSpPr txBox="1"/>
          <p:nvPr/>
        </p:nvSpPr>
        <p:spPr>
          <a:xfrm>
            <a:off x="6654800" y="5334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승인 주소 매핑</a:t>
            </a:r>
          </a:p>
        </p:txBody>
      </p:sp>
      <p:sp>
        <p:nvSpPr>
          <p:cNvPr id="568" name="직사각형"/>
          <p:cNvSpPr/>
          <p:nvPr/>
        </p:nvSpPr>
        <p:spPr>
          <a:xfrm>
            <a:off x="3810000" y="7239000"/>
            <a:ext cx="3810000" cy="2286001"/>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69" name="③ Plan binding"/>
          <p:cNvSpPr txBox="1"/>
          <p:nvPr/>
        </p:nvSpPr>
        <p:spPr>
          <a:xfrm>
            <a:off x="4114800" y="7556500"/>
            <a:ext cx="3200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③ Plan binding</a:t>
            </a:r>
          </a:p>
        </p:txBody>
      </p:sp>
      <p:sp>
        <p:nvSpPr>
          <p:cNvPr id="570" name="payroll digest ↔ outputs"/>
          <p:cNvSpPr txBox="1"/>
          <p:nvPr/>
        </p:nvSpPr>
        <p:spPr>
          <a:xfrm>
            <a:off x="4114800" y="8255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payroll digest ↔ outputs</a:t>
            </a:r>
          </a:p>
        </p:txBody>
      </p:sp>
      <p:sp>
        <p:nvSpPr>
          <p:cNvPr id="571" name="mismatch면 fail closed"/>
          <p:cNvSpPr txBox="1"/>
          <p:nvPr/>
        </p:nvSpPr>
        <p:spPr>
          <a:xfrm>
            <a:off x="4114800" y="8763000"/>
            <a:ext cx="3200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mismatch면 fail closed</a:t>
            </a:r>
          </a:p>
        </p:txBody>
      </p:sp>
      <p:sp>
        <p:nvSpPr>
          <p:cNvPr id="572" name="직사각형"/>
          <p:cNvSpPr/>
          <p:nvPr/>
        </p:nvSpPr>
        <p:spPr>
          <a:xfrm>
            <a:off x="12192000" y="4445000"/>
            <a:ext cx="4826001" cy="2794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73" name="④ PCL + x/privacy"/>
          <p:cNvSpPr txBox="1"/>
          <p:nvPr/>
        </p:nvSpPr>
        <p:spPr>
          <a:xfrm>
            <a:off x="12496800" y="4762500"/>
            <a:ext cx="4216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FFBF2C"/>
                </a:solidFill>
                <a:latin typeface="Apple SD 산돌고딕 Neo 볼드체"/>
                <a:ea typeface="Apple SD 산돌고딕 Neo 볼드체"/>
                <a:cs typeface="Apple SD 산돌고딕 Neo 볼드체"/>
                <a:sym typeface="Apple SD 산돌고딕 Neo 볼드체"/>
              </a:defRPr>
            </a:lvl1pPr>
          </a:lstStyle>
          <a:p>
            <a:r>
              <a:t>④ PCL + x/privacy</a:t>
            </a:r>
          </a:p>
        </p:txBody>
      </p:sp>
      <p:sp>
        <p:nvSpPr>
          <p:cNvPr id="574" name="configured policy"/>
          <p:cNvSpPr txBox="1"/>
          <p:nvPr/>
        </p:nvSpPr>
        <p:spPr>
          <a:xfrm>
            <a:off x="12496800" y="5461000"/>
            <a:ext cx="421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configured policy</a:t>
            </a:r>
          </a:p>
        </p:txBody>
      </p:sp>
      <p:sp>
        <p:nvSpPr>
          <p:cNvPr id="575" name="proof · root · nullifier"/>
          <p:cNvSpPr txBox="1"/>
          <p:nvPr/>
        </p:nvSpPr>
        <p:spPr>
          <a:xfrm>
            <a:off x="12496800" y="5969000"/>
            <a:ext cx="421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proof · root · nullifier</a:t>
            </a:r>
          </a:p>
        </p:txBody>
      </p:sp>
      <p:sp>
        <p:nvSpPr>
          <p:cNvPr id="576" name="value conservation"/>
          <p:cNvSpPr txBox="1"/>
          <p:nvPr/>
        </p:nvSpPr>
        <p:spPr>
          <a:xfrm>
            <a:off x="12496800" y="6477000"/>
            <a:ext cx="4216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value conservation</a:t>
            </a:r>
          </a:p>
        </p:txBody>
      </p:sp>
      <p:sp>
        <p:nvSpPr>
          <p:cNvPr id="577" name="직사각형"/>
          <p:cNvSpPr/>
          <p:nvPr/>
        </p:nvSpPr>
        <p:spPr>
          <a:xfrm>
            <a:off x="18923000" y="4445000"/>
            <a:ext cx="3937000" cy="2794000"/>
          </a:xfrm>
          <a:prstGeom prst="rect">
            <a:avLst/>
          </a:prstGeom>
          <a:solidFill>
            <a:srgbClr val="FFFFFF">
              <a:alpha val="14000"/>
            </a:srgbClr>
          </a:solidFill>
          <a:ln w="12700">
            <a:miter lim="400000"/>
          </a:ln>
        </p:spPr>
        <p:txBody>
          <a:bodyPr lIns="50800" tIns="50800" rIns="50800" bIns="50800" anchor="ctr"/>
          <a:lstStyle/>
          <a:p>
            <a:pPr algn="ctr" defTabSz="825500">
              <a:lnSpc>
                <a:spcPct val="100000"/>
              </a:lnSpc>
              <a:spcBef>
                <a:spcPts val="0"/>
              </a:spcBef>
              <a:defRPr sz="3200">
                <a:solidFill>
                  <a:srgbClr val="000000"/>
                </a:solidFill>
                <a:latin typeface="Helvetica Neue Medium"/>
                <a:ea typeface="Helvetica Neue Medium"/>
                <a:cs typeface="Helvetica Neue Medium"/>
                <a:sym typeface="Helvetica Neue Medium"/>
              </a:defRPr>
            </a:pPr>
            <a:endParaRPr/>
          </a:p>
        </p:txBody>
      </p:sp>
      <p:sp>
        <p:nvSpPr>
          <p:cNvPr id="578" name="⑤ Reconciliation"/>
          <p:cNvSpPr txBox="1"/>
          <p:nvPr/>
        </p:nvSpPr>
        <p:spPr>
          <a:xfrm>
            <a:off x="19227800" y="4762500"/>
            <a:ext cx="33274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00E9FF"/>
                </a:solidFill>
                <a:latin typeface="Apple SD 산돌고딕 Neo 볼드체"/>
                <a:ea typeface="Apple SD 산돌고딕 Neo 볼드체"/>
                <a:cs typeface="Apple SD 산돌고딕 Neo 볼드체"/>
                <a:sym typeface="Apple SD 산돌고딕 Neo 볼드체"/>
              </a:defRPr>
            </a:lvl1pPr>
          </a:lstStyle>
          <a:p>
            <a:r>
              <a:t>⑤ Reconciliation</a:t>
            </a:r>
          </a:p>
        </p:txBody>
      </p:sp>
      <p:sp>
        <p:nvSpPr>
          <p:cNvPr id="579" name="receipt ↔ employee scan"/>
          <p:cNvSpPr txBox="1"/>
          <p:nvPr/>
        </p:nvSpPr>
        <p:spPr>
          <a:xfrm>
            <a:off x="19227800" y="5461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receipt ↔ employee scan</a:t>
            </a:r>
          </a:p>
        </p:txBody>
      </p:sp>
      <p:sp>
        <p:nvSpPr>
          <p:cNvPr id="580" name="plan · disclosure 대사"/>
          <p:cNvSpPr txBox="1"/>
          <p:nvPr/>
        </p:nvSpPr>
        <p:spPr>
          <a:xfrm>
            <a:off x="19227800" y="5969000"/>
            <a:ext cx="3327400" cy="368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1800">
                <a:latin typeface="Apple SD 산돌고딕 Neo 일반체"/>
                <a:ea typeface="Apple SD 산돌고딕 Neo 일반체"/>
                <a:cs typeface="Apple SD 산돌고딕 Neo 일반체"/>
                <a:sym typeface="Apple SD 산돌고딕 Neo 일반체"/>
              </a:defRPr>
            </a:lvl1pPr>
          </a:lstStyle>
          <a:p>
            <a:r>
              <a:t>plan · disclosure 대사</a:t>
            </a:r>
          </a:p>
        </p:txBody>
      </p:sp>
      <p:sp>
        <p:nvSpPr>
          <p:cNvPr id="581" name="→"/>
          <p:cNvSpPr txBox="1"/>
          <p:nvPr/>
        </p:nvSpPr>
        <p:spPr>
          <a:xfrm>
            <a:off x="5334000" y="4508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82" name="→"/>
          <p:cNvSpPr txBox="1"/>
          <p:nvPr/>
        </p:nvSpPr>
        <p:spPr>
          <a:xfrm>
            <a:off x="10223500" y="4508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83" name="→"/>
          <p:cNvSpPr txBox="1"/>
          <p:nvPr/>
        </p:nvSpPr>
        <p:spPr>
          <a:xfrm>
            <a:off x="17843500" y="5270500"/>
            <a:ext cx="825500" cy="647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600">
                <a:solidFill>
                  <a:srgbClr val="BEC9D4"/>
                </a:solidFill>
                <a:latin typeface="Apple SD 산돌고딕 Neo 볼드체"/>
                <a:ea typeface="Apple SD 산돌고딕 Neo 볼드체"/>
                <a:cs typeface="Apple SD 산돌고딕 Neo 볼드체"/>
                <a:sym typeface="Apple SD 산돌고딕 Neo 볼드체"/>
              </a:defRPr>
            </a:lvl1pPr>
          </a:lstStyle>
          <a:p>
            <a:r>
              <a:t>→</a:t>
            </a:r>
          </a:p>
        </p:txBody>
      </p:sp>
      <p:sp>
        <p:nvSpPr>
          <p:cNvPr id="584" name="Privacy proof는 업무 의도를 대신 검증하지 않는다"/>
          <p:cNvSpPr txBox="1"/>
          <p:nvPr/>
        </p:nvSpPr>
        <p:spPr>
          <a:xfrm>
            <a:off x="7747000" y="11620500"/>
            <a:ext cx="13970000" cy="520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800">
                <a:solidFill>
                  <a:srgbClr val="FFBF2C"/>
                </a:solidFill>
                <a:latin typeface="Apple SD 산돌고딕 Neo 볼드체"/>
                <a:ea typeface="Apple SD 산돌고딕 Neo 볼드체"/>
                <a:cs typeface="Apple SD 산돌고딕 Neo 볼드체"/>
                <a:sym typeface="Apple SD 산돌고딕 Neo 볼드체"/>
              </a:defRPr>
            </a:lvl1pPr>
          </a:lstStyle>
          <a:p>
            <a:r>
              <a:t>Privacy proof는 업무 의도를 대신 검증하지 않는다</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Maroo 실행 경로"/>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Maroo 실행 경로</a:t>
            </a:r>
          </a:p>
        </p:txBody>
      </p:sp>
      <p:sp>
        <p:nvSpPr>
          <p:cNvPr id="590"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23</a:t>
            </a:fld>
            <a:endParaRPr/>
          </a:p>
        </p:txBody>
      </p:sp>
      <p:sp>
        <p:nvSpPr>
          <p:cNvPr id="591" name="Path A · 호환 bundle 보유"/>
          <p:cNvSpPr txBox="1"/>
          <p:nvPr/>
        </p:nvSpPr>
        <p:spPr>
          <a:xfrm>
            <a:off x="1524000" y="2667000"/>
            <a:ext cx="965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solidFill>
                  <a:srgbClr val="00E9FF"/>
                </a:solidFill>
                <a:latin typeface="Apple SD 산돌고딕 Neo 볼드체"/>
                <a:ea typeface="Apple SD 산돌고딕 Neo 볼드체"/>
                <a:cs typeface="Apple SD 산돌고딕 Neo 볼드체"/>
                <a:sym typeface="Apple SD 산돌고딕 Neo 볼드체"/>
              </a:defRPr>
            </a:lvl1pPr>
          </a:lstStyle>
          <a:p>
            <a:r>
              <a:t>Path A · 호환 bundle 보유</a:t>
            </a:r>
          </a:p>
        </p:txBody>
      </p:sp>
      <p:sp>
        <p:nvSpPr>
          <p:cNvPr id="592" name="유효 deposit proof…"/>
          <p:cNvSpPr txBox="1"/>
          <p:nvPr/>
        </p:nvSpPr>
        <p:spPr>
          <a:xfrm>
            <a:off x="1524000" y="3810000"/>
            <a:ext cx="9652000" cy="61315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700">
                <a:latin typeface="Apple SD 산돌고딕 Neo 일반체"/>
                <a:ea typeface="Apple SD 산돌고딕 Neo 일반체"/>
                <a:cs typeface="Apple SD 산돌고딕 Neo 일반체"/>
                <a:sym typeface="Apple SD 산돌고딕 Neo 일반체"/>
              </a:defRPr>
            </a:pPr>
            <a:r>
              <a:t>유효 deposit proof</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status 1과 deposit event</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3-output batch와 직원 scan</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audit report 대사</a:t>
            </a:r>
          </a:p>
        </p:txBody>
      </p:sp>
      <p:sp>
        <p:nvSpPr>
          <p:cNvPr id="593" name="Path B · 현재 제출 경로"/>
          <p:cNvSpPr txBox="1"/>
          <p:nvPr/>
        </p:nvSpPr>
        <p:spPr>
          <a:xfrm>
            <a:off x="13208000" y="2667000"/>
            <a:ext cx="9652000" cy="558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3000">
                <a:solidFill>
                  <a:srgbClr val="00E9FF"/>
                </a:solidFill>
                <a:latin typeface="Apple SD 산돌고딕 Neo 볼드체"/>
                <a:ea typeface="Apple SD 산돌고딕 Neo 볼드체"/>
                <a:cs typeface="Apple SD 산돌고딕 Neo 볼드체"/>
                <a:sym typeface="Apple SD 산돌고딕 Neo 볼드체"/>
              </a:defRPr>
            </a:lvl1pPr>
          </a:lstStyle>
          <a:p>
            <a:r>
              <a:t>Path B · 현재 제출 경로</a:t>
            </a:r>
          </a:p>
        </p:txBody>
      </p:sp>
      <p:sp>
        <p:nvSpPr>
          <p:cNvPr id="594" name="ABI-valid invalid-proof probe…"/>
          <p:cNvSpPr txBox="1"/>
          <p:nvPr/>
        </p:nvSpPr>
        <p:spPr>
          <a:xfrm>
            <a:off x="13208000" y="3810000"/>
            <a:ext cx="9652000" cy="61315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700">
                <a:latin typeface="Apple SD 산돌고딕 Neo 일반체"/>
                <a:ea typeface="Apple SD 산돌고딕 Neo 일반체"/>
                <a:cs typeface="Apple SD 산돌고딕 Neo 일반체"/>
                <a:sym typeface="Apple SD 산돌고딕 Neo 일반체"/>
              </a:defRPr>
            </a:pPr>
            <a:r>
              <a:t>ABI-valid invalid-proof probe</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deposit과 transfer 실제 제출</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포함 후 revert 판정</a:t>
            </a:r>
          </a:p>
          <a:p>
            <a:pPr>
              <a:defRPr sz="2700">
                <a:latin typeface="Apple SD 산돌고딕 Neo 일반체"/>
                <a:ea typeface="Apple SD 산돌고딕 Neo 일반체"/>
                <a:cs typeface="Apple SD 산돌고딕 Neo 일반체"/>
                <a:sym typeface="Apple SD 산돌고딕 Neo 일반체"/>
              </a:defRPr>
            </a:pPr>
            <a:endParaRPr/>
          </a:p>
          <a:p>
            <a:pPr>
              <a:defRPr sz="2700">
                <a:latin typeface="Apple SD 산돌고딕 Neo 일반체"/>
                <a:ea typeface="Apple SD 산돌고딕 Neo 일반체"/>
                <a:cs typeface="Apple SD 산돌고딕 Neo 일반체"/>
                <a:sym typeface="Apple SD 산돌고딕 Neo 일반체"/>
              </a:defRPr>
            </a:pPr>
            <a:r>
              <a:t>유효 지급 성공으로 기록하지 않음</a:t>
            </a: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ath B 실행"/>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Path B 실행</a:t>
            </a:r>
          </a:p>
        </p:txBody>
      </p:sp>
      <p:sp>
        <p:nvSpPr>
          <p:cNvPr id="600"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601" name="상태 변경을 허용하는 명시적 확인 문자열을 넣는다. 회사 signer만 사용한다."/>
          <p:cNvSpPr txBox="1"/>
          <p:nvPr/>
        </p:nvSpPr>
        <p:spPr>
          <a:xfrm>
            <a:off x="1524000" y="2413000"/>
            <a:ext cx="21336000" cy="508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2700">
                <a:solidFill>
                  <a:srgbClr val="BEC9D4"/>
                </a:solidFill>
                <a:latin typeface="Apple SD 산돌고딕 Neo 일반체"/>
                <a:ea typeface="Apple SD 산돌고딕 Neo 일반체"/>
                <a:cs typeface="Apple SD 산돌고딕 Neo 일반체"/>
                <a:sym typeface="Apple SD 산돌고딕 Neo 일반체"/>
              </a:defRPr>
            </a:lvl1pPr>
          </a:lstStyle>
          <a:p>
            <a:r>
              <a:t>상태 변경을 허용하는 명시적 확인 문자열을 넣는다. 회사 signer만 사용한다.</a:t>
            </a:r>
          </a:p>
        </p:txBody>
      </p:sp>
      <p:sp>
        <p:nvSpPr>
          <p:cNvPr id="602" name="bun run demo/scripts/run.ts \…"/>
          <p:cNvSpPr txBox="1"/>
          <p:nvPr/>
        </p:nvSpPr>
        <p:spPr>
          <a:xfrm>
            <a:off x="1524000" y="4191000"/>
            <a:ext cx="21336000" cy="58064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400">
                <a:solidFill>
                  <a:srgbClr val="00E9FF"/>
                </a:solidFill>
                <a:latin typeface="Menlo Regular"/>
                <a:ea typeface="Menlo Regular"/>
                <a:cs typeface="Menlo Regular"/>
                <a:sym typeface="Menlo Regular"/>
              </a:defRPr>
            </a:pPr>
            <a:r>
              <a:t>bun run demo/scripts/run.ts \</a:t>
            </a:r>
          </a:p>
          <a:p>
            <a:pPr>
              <a:defRPr sz="2400">
                <a:solidFill>
                  <a:srgbClr val="00E9FF"/>
                </a:solidFill>
                <a:latin typeface="Menlo Regular"/>
                <a:ea typeface="Menlo Regular"/>
                <a:cs typeface="Menlo Regular"/>
                <a:sym typeface="Menlo Regular"/>
              </a:defRPr>
            </a:pPr>
            <a:r>
              <a:t>  --target maroo-testnet \</a:t>
            </a:r>
          </a:p>
          <a:p>
            <a:pPr>
              <a:defRPr sz="2400">
                <a:solidFill>
                  <a:srgbClr val="00E9FF"/>
                </a:solidFill>
                <a:latin typeface="Menlo Regular"/>
                <a:ea typeface="Menlo Regular"/>
                <a:cs typeface="Menlo Regular"/>
                <a:sym typeface="Menlo Regular"/>
              </a:defRPr>
            </a:pPr>
            <a:r>
              <a:t>  --action attempt \</a:t>
            </a:r>
          </a:p>
          <a:p>
            <a:pPr>
              <a:defRPr sz="2400">
                <a:solidFill>
                  <a:srgbClr val="00E9FF"/>
                </a:solidFill>
                <a:latin typeface="Menlo Regular"/>
                <a:ea typeface="Menlo Regular"/>
                <a:cs typeface="Menlo Regular"/>
                <a:sym typeface="Menlo Regular"/>
              </a:defRPr>
            </a:pPr>
            <a:r>
              <a:t>  --kind privacy-deposit-transfer-probes \</a:t>
            </a:r>
          </a:p>
          <a:p>
            <a:pPr>
              <a:defRPr sz="2400">
                <a:solidFill>
                  <a:srgbClr val="00E9FF"/>
                </a:solidFill>
                <a:latin typeface="Menlo Regular"/>
                <a:ea typeface="Menlo Regular"/>
                <a:cs typeface="Menlo Regular"/>
                <a:sym typeface="Menlo Regular"/>
              </a:defRPr>
            </a:pPr>
            <a:r>
              <a:t>  --env demo/.env --broadcast \</a:t>
            </a:r>
          </a:p>
          <a:p>
            <a:pPr>
              <a:defRPr sz="2400">
                <a:solidFill>
                  <a:srgbClr val="00E9FF"/>
                </a:solidFill>
                <a:latin typeface="Menlo Regular"/>
                <a:ea typeface="Menlo Regular"/>
                <a:cs typeface="Menlo Regular"/>
                <a:sym typeface="Menlo Regular"/>
              </a:defRPr>
            </a:pPr>
            <a:r>
              <a:t>  --ack-state-change MAROO_TESTNET_ONLY \</a:t>
            </a:r>
          </a:p>
          <a:p>
            <a:pPr>
              <a:defRPr sz="2400">
                <a:solidFill>
                  <a:srgbClr val="00E9FF"/>
                </a:solidFill>
                <a:latin typeface="Menlo Regular"/>
                <a:ea typeface="Menlo Regular"/>
                <a:cs typeface="Menlo Regular"/>
                <a:sym typeface="Menlo Regular"/>
              </a:defRPr>
            </a:pPr>
            <a:r>
              <a:t>  --out evidence/live-testnet/state-change-attempt.json</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실제 Maroo receipt"/>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실제 Maroo receipt</a:t>
            </a:r>
          </a:p>
        </p:txBody>
      </p:sp>
      <p:sp>
        <p:nvSpPr>
          <p:cNvPr id="608"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25</a:t>
            </a:fld>
            <a:endParaRPr/>
          </a:p>
        </p:txBody>
      </p:sp>
      <p:graphicFrame>
        <p:nvGraphicFramePr>
          <p:cNvPr id="609" name="표 1"/>
          <p:cNvGraphicFramePr/>
          <p:nvPr/>
        </p:nvGraphicFramePr>
        <p:xfrm>
          <a:off x="1270000" y="2413000"/>
          <a:ext cx="21844000" cy="2971800"/>
        </p:xfrm>
        <a:graphic>
          <a:graphicData uri="http://schemas.openxmlformats.org/drawingml/2006/table">
            <a:tbl>
              <a:tblPr firstRow="1" firstCol="1">
                <a:tableStyleId>{4C3C2611-4C71-4FC5-86AE-919BDF0F9419}</a:tableStyleId>
              </a:tblPr>
              <a:tblGrid>
                <a:gridCol w="44450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4191000">
                  <a:extLst>
                    <a:ext uri="{9D8B030D-6E8A-4147-A177-3AD203B41FA5}">
                      <a16:colId xmlns:a16="http://schemas.microsoft.com/office/drawing/2014/main" val="20002"/>
                    </a:ext>
                  </a:extLst>
                </a:gridCol>
                <a:gridCol w="7874000">
                  <a:extLst>
                    <a:ext uri="{9D8B030D-6E8A-4147-A177-3AD203B41FA5}">
                      <a16:colId xmlns:a16="http://schemas.microsoft.com/office/drawing/2014/main" val="20003"/>
                    </a:ext>
                  </a:extLst>
                </a:gridCol>
              </a:tblGrid>
              <a:tr h="990600">
                <a:tc>
                  <a:txBody>
                    <a:bodyPr/>
                    <a:lstStyle/>
                    <a:p>
                      <a:pPr defTabSz="914400">
                        <a:tabLst>
                          <a:tab pos="1663700" algn="l"/>
                        </a:tabLst>
                        <a:defRPr b="0">
                          <a:solidFill>
                            <a:srgbClr val="000000"/>
                          </a:solidFill>
                        </a:defRPr>
                      </a:pPr>
                      <a:r>
                        <a:rPr sz="3200" b="1">
                          <a:solidFill>
                            <a:srgbClr val="FFFFFF"/>
                          </a:solidFill>
                        </a:rPr>
                        <a:t>호출</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결과</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블록</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관찰</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deposit</a:t>
                      </a:r>
                    </a:p>
                  </a:txBody>
                  <a:tcPr marL="50800" marR="50800" marT="50800" marB="50800" anchor="ctr" horzOverflow="overflow"/>
                </a:tc>
                <a:tc>
                  <a:txBody>
                    <a:bodyPr/>
                    <a:lstStyle/>
                    <a:p>
                      <a:pPr defTabSz="914400">
                        <a:defRPr>
                          <a:solidFill>
                            <a:srgbClr val="000000"/>
                          </a:solidFill>
                        </a:defRPr>
                      </a:pPr>
                      <a:r>
                        <a:rPr sz="3200">
                          <a:solidFill>
                            <a:srgbClr val="FFFFFF"/>
                          </a:solidFill>
                        </a:rPr>
                        <a:t>included-revert</a:t>
                      </a:r>
                    </a:p>
                  </a:txBody>
                  <a:tcPr marL="50800" marR="50800" marT="50800" marB="50800" anchor="ctr" horzOverflow="overflow"/>
                </a:tc>
                <a:tc>
                  <a:txBody>
                    <a:bodyPr/>
                    <a:lstStyle/>
                    <a:p>
                      <a:pPr defTabSz="914400">
                        <a:defRPr>
                          <a:solidFill>
                            <a:srgbClr val="000000"/>
                          </a:solidFill>
                        </a:defRPr>
                      </a:pPr>
                      <a:r>
                        <a:rPr sz="3200">
                          <a:solidFill>
                            <a:srgbClr val="FFFFFF"/>
                          </a:solidFill>
                        </a:rPr>
                        <a:t>17,243,931</a:t>
                      </a:r>
                    </a:p>
                  </a:txBody>
                  <a:tcPr marL="50800" marR="50800" marT="50800" marB="50800" anchor="ctr" horzOverflow="overflow"/>
                </a:tc>
                <a:tc>
                  <a:txBody>
                    <a:bodyPr/>
                    <a:lstStyle/>
                    <a:p>
                      <a:pPr defTabSz="914400">
                        <a:defRPr>
                          <a:solidFill>
                            <a:srgbClr val="000000"/>
                          </a:solidFill>
                        </a:defRPr>
                      </a:pPr>
                      <a:r>
                        <a:rPr sz="3200">
                          <a:solidFill>
                            <a:srgbClr val="FFFFFF"/>
                          </a:solidFill>
                        </a:rPr>
                        <a:t>non-zero commitment 요구</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transfer</a:t>
                      </a:r>
                    </a:p>
                  </a:txBody>
                  <a:tcPr marL="50800" marR="50800" marT="50800" marB="50800" anchor="ctr" horzOverflow="overflow"/>
                </a:tc>
                <a:tc>
                  <a:txBody>
                    <a:bodyPr/>
                    <a:lstStyle/>
                    <a:p>
                      <a:pPr defTabSz="914400">
                        <a:defRPr>
                          <a:solidFill>
                            <a:srgbClr val="000000"/>
                          </a:solidFill>
                        </a:defRPr>
                      </a:pPr>
                      <a:r>
                        <a:rPr sz="3200">
                          <a:solidFill>
                            <a:srgbClr val="FFFFFF"/>
                          </a:solidFill>
                        </a:rPr>
                        <a:t>included-revert</a:t>
                      </a:r>
                    </a:p>
                  </a:txBody>
                  <a:tcPr marL="50800" marR="50800" marT="50800" marB="50800" anchor="ctr" horzOverflow="overflow"/>
                </a:tc>
                <a:tc>
                  <a:txBody>
                    <a:bodyPr/>
                    <a:lstStyle/>
                    <a:p>
                      <a:pPr defTabSz="914400">
                        <a:defRPr>
                          <a:solidFill>
                            <a:srgbClr val="000000"/>
                          </a:solidFill>
                        </a:defRPr>
                      </a:pPr>
                      <a:r>
                        <a:rPr sz="3200">
                          <a:solidFill>
                            <a:srgbClr val="FFFFFF"/>
                          </a:solidFill>
                        </a:rPr>
                        <a:t>17,243,934</a:t>
                      </a:r>
                    </a:p>
                  </a:txBody>
                  <a:tcPr marL="50800" marR="50800" marT="50800" marB="50800" anchor="ctr" horzOverflow="overflow"/>
                </a:tc>
                <a:tc>
                  <a:txBody>
                    <a:bodyPr/>
                    <a:lstStyle/>
                    <a:p>
                      <a:pPr defTabSz="914400">
                        <a:defRPr>
                          <a:solidFill>
                            <a:srgbClr val="000000"/>
                          </a:solidFill>
                        </a:defRPr>
                      </a:pPr>
                      <a:r>
                        <a:rPr sz="3200">
                          <a:solidFill>
                            <a:srgbClr val="FFFFFF"/>
                          </a:solidFill>
                        </a:rPr>
                        <a:t>gas 1,000,000, decoded reason 없음</a:t>
                      </a:r>
                    </a:p>
                  </a:txBody>
                  <a:tcPr marL="50800" marR="50800" marT="50800" marB="50800" anchor="ctr" horzOverflow="overflow"/>
                </a:tc>
                <a:extLst>
                  <a:ext uri="{0D108BD9-81ED-4DB2-BD59-A6C34878D82A}">
                    <a16:rowId xmlns:a16="http://schemas.microsoft.com/office/drawing/2014/main" val="10002"/>
                  </a:ext>
                </a:extLst>
              </a:tr>
            </a:tbl>
          </a:graphicData>
        </a:graphic>
      </p:graphicFrame>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3" name="실패 모드 지도 · 첫 실패 계층을 찾는다"/>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실패 모드 지도 · 첫 실패 계층을 찾는다</a:t>
            </a:r>
          </a:p>
        </p:txBody>
      </p:sp>
      <p:sp>
        <p:nvSpPr>
          <p:cNvPr id="615"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26</a:t>
            </a:fld>
            <a:endParaRPr/>
          </a:p>
        </p:txBody>
      </p:sp>
      <p:graphicFrame>
        <p:nvGraphicFramePr>
          <p:cNvPr id="616" name="표 1"/>
          <p:cNvGraphicFramePr/>
          <p:nvPr/>
        </p:nvGraphicFramePr>
        <p:xfrm>
          <a:off x="1270000" y="2413000"/>
          <a:ext cx="21844000" cy="5943600"/>
        </p:xfrm>
        <a:graphic>
          <a:graphicData uri="http://schemas.openxmlformats.org/drawingml/2006/table">
            <a:tbl>
              <a:tblPr firstRow="1" firstCol="1">
                <a:tableStyleId>{4C3C2611-4C71-4FC5-86AE-919BDF0F9419}</a:tableStyleId>
              </a:tblPr>
              <a:tblGrid>
                <a:gridCol w="7874000">
                  <a:extLst>
                    <a:ext uri="{9D8B030D-6E8A-4147-A177-3AD203B41FA5}">
                      <a16:colId xmlns:a16="http://schemas.microsoft.com/office/drawing/2014/main" val="20000"/>
                    </a:ext>
                  </a:extLst>
                </a:gridCol>
                <a:gridCol w="5969000">
                  <a:extLst>
                    <a:ext uri="{9D8B030D-6E8A-4147-A177-3AD203B41FA5}">
                      <a16:colId xmlns:a16="http://schemas.microsoft.com/office/drawing/2014/main" val="20001"/>
                    </a:ext>
                  </a:extLst>
                </a:gridCol>
                <a:gridCol w="8001000">
                  <a:extLst>
                    <a:ext uri="{9D8B030D-6E8A-4147-A177-3AD203B41FA5}">
                      <a16:colId xmlns:a16="http://schemas.microsoft.com/office/drawing/2014/main" val="20002"/>
                    </a:ext>
                  </a:extLst>
                </a:gridCol>
              </a:tblGrid>
              <a:tr h="990600">
                <a:tc>
                  <a:txBody>
                    <a:bodyPr/>
                    <a:lstStyle/>
                    <a:p>
                      <a:pPr defTabSz="914400">
                        <a:tabLst>
                          <a:tab pos="1663700" algn="l"/>
                        </a:tabLst>
                        <a:defRPr b="0">
                          <a:solidFill>
                            <a:srgbClr val="000000"/>
                          </a:solidFill>
                        </a:defRPr>
                      </a:pPr>
                      <a:r>
                        <a:rPr sz="3200" b="1">
                          <a:solidFill>
                            <a:srgbClr val="FFFFFF"/>
                          </a:solidFill>
                        </a:rPr>
                        <a:t>관찰</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경계</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다음 확인</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local validator가 거부</a:t>
                      </a:r>
                    </a:p>
                  </a:txBody>
                  <a:tcPr marL="50800" marR="50800" marT="50800" marB="50800" anchor="ctr" horzOverflow="overflow"/>
                </a:tc>
                <a:tc>
                  <a:txBody>
                    <a:bodyPr/>
                    <a:lstStyle/>
                    <a:p>
                      <a:pPr defTabSz="914400">
                        <a:defRPr>
                          <a:solidFill>
                            <a:srgbClr val="000000"/>
                          </a:solidFill>
                        </a:defRPr>
                      </a:pPr>
                      <a:r>
                        <a:rPr sz="3200">
                          <a:solidFill>
                            <a:srgbClr val="FFFFFF"/>
                          </a:solidFill>
                        </a:rPr>
                        <a:t>Wallet / app</a:t>
                      </a:r>
                    </a:p>
                  </a:txBody>
                  <a:tcPr marL="50800" marR="50800" marT="50800" marB="50800" anchor="ctr" horzOverflow="overflow"/>
                </a:tc>
                <a:tc>
                  <a:txBody>
                    <a:bodyPr/>
                    <a:lstStyle/>
                    <a:p>
                      <a:pPr defTabSz="914400">
                        <a:defRPr>
                          <a:solidFill>
                            <a:srgbClr val="000000"/>
                          </a:solidFill>
                        </a:defRPr>
                      </a:pPr>
                      <a:r>
                        <a:rPr sz="3200">
                          <a:solidFill>
                            <a:srgbClr val="FFFFFF"/>
                          </a:solidFill>
                        </a:rPr>
                        <a:t>schema, profileRef, 합계</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PCL typed selector</a:t>
                      </a:r>
                    </a:p>
                  </a:txBody>
                  <a:tcPr marL="50800" marR="50800" marT="50800" marB="50800" anchor="ctr" horzOverflow="overflow"/>
                </a:tc>
                <a:tc>
                  <a:txBody>
                    <a:bodyPr/>
                    <a:lstStyle/>
                    <a:p>
                      <a:pPr defTabSz="914400">
                        <a:defRPr>
                          <a:solidFill>
                            <a:srgbClr val="000000"/>
                          </a:solidFill>
                        </a:defRPr>
                      </a:pPr>
                      <a:r>
                        <a:rPr sz="3200">
                          <a:solidFill>
                            <a:srgbClr val="FFFFFF"/>
                          </a:solidFill>
                        </a:rPr>
                        <a:t>Policy</a:t>
                      </a:r>
                    </a:p>
                  </a:txBody>
                  <a:tcPr marL="50800" marR="50800" marT="50800" marB="50800" anchor="ctr" horzOverflow="overflow"/>
                </a:tc>
                <a:tc>
                  <a:txBody>
                    <a:bodyPr/>
                    <a:lstStyle/>
                    <a:p>
                      <a:pPr defTabSz="914400">
                        <a:defRPr>
                          <a:solidFill>
                            <a:srgbClr val="000000"/>
                          </a:solidFill>
                        </a:defRPr>
                      </a:pPr>
                      <a:r>
                        <a:rPr sz="3200">
                          <a:solidFill>
                            <a:srgbClr val="FFFFFF"/>
                          </a:solidFill>
                        </a:rPr>
                        <a:t>principal, EAS, denylist</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proof, root, nullifier 오류</a:t>
                      </a:r>
                    </a:p>
                  </a:txBody>
                  <a:tcPr marL="50800" marR="50800" marT="50800" marB="50800" anchor="ctr" horzOverflow="overflow"/>
                </a:tc>
                <a:tc>
                  <a:txBody>
                    <a:bodyPr/>
                    <a:lstStyle/>
                    <a:p>
                      <a:pPr defTabSz="914400">
                        <a:defRPr>
                          <a:solidFill>
                            <a:srgbClr val="000000"/>
                          </a:solidFill>
                        </a:defRPr>
                      </a:pPr>
                      <a:r>
                        <a:rPr sz="3200">
                          <a:solidFill>
                            <a:srgbClr val="FFFFFF"/>
                          </a:solidFill>
                        </a:rPr>
                        <a:t>Prover ↔ Privacy</a:t>
                      </a:r>
                    </a:p>
                  </a:txBody>
                  <a:tcPr marL="50800" marR="50800" marT="50800" marB="50800" anchor="ctr" horzOverflow="overflow"/>
                </a:tc>
                <a:tc>
                  <a:txBody>
                    <a:bodyPr/>
                    <a:lstStyle/>
                    <a:p>
                      <a:pPr defTabSz="914400">
                        <a:defRPr>
                          <a:solidFill>
                            <a:srgbClr val="000000"/>
                          </a:solidFill>
                        </a:defRPr>
                      </a:pPr>
                      <a:r>
                        <a:rPr sz="3200">
                          <a:solidFill>
                            <a:srgbClr val="FFFFFF"/>
                          </a:solidFill>
                        </a:rPr>
                        <a:t>VK, root, spend 상태</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receipt 성공, scan 0</a:t>
                      </a:r>
                    </a:p>
                  </a:txBody>
                  <a:tcPr marL="50800" marR="50800" marT="50800" marB="50800" anchor="ctr" horzOverflow="overflow"/>
                </a:tc>
                <a:tc>
                  <a:txBody>
                    <a:bodyPr/>
                    <a:lstStyle/>
                    <a:p>
                      <a:pPr defTabSz="914400">
                        <a:defRPr>
                          <a:solidFill>
                            <a:srgbClr val="000000"/>
                          </a:solidFill>
                        </a:defRPr>
                      </a:pPr>
                      <a:r>
                        <a:rPr sz="3200">
                          <a:solidFill>
                            <a:srgbClr val="FFFFFF"/>
                          </a:solidFill>
                        </a:rPr>
                        <a:t>Privacy ↔ Scanner</a:t>
                      </a:r>
                    </a:p>
                  </a:txBody>
                  <a:tcPr marL="50800" marR="50800" marT="50800" marB="50800" anchor="ctr" horzOverflow="overflow"/>
                </a:tc>
                <a:tc>
                  <a:txBody>
                    <a:bodyPr/>
                    <a:lstStyle/>
                    <a:p>
                      <a:pPr defTabSz="914400">
                        <a:defRPr>
                          <a:solidFill>
                            <a:srgbClr val="000000"/>
                          </a:solidFill>
                        </a:defRPr>
                      </a:pPr>
                      <a:r>
                        <a:rPr sz="3200">
                          <a:solidFill>
                            <a:srgbClr val="FFFFFF"/>
                          </a:solidFill>
                        </a:rPr>
                        <a:t>cursor, viewing key, output</a:t>
                      </a:r>
                    </a:p>
                  </a:txBody>
                  <a:tcPr marL="50800" marR="50800" marT="50800" marB="50800" anchor="ctr" horzOverflow="overflow"/>
                </a:tc>
                <a:extLst>
                  <a:ext uri="{0D108BD9-81ED-4DB2-BD59-A6C34878D82A}">
                    <a16:rowId xmlns:a16="http://schemas.microsoft.com/office/drawing/2014/main" val="10004"/>
                  </a:ext>
                </a:extLst>
              </a:tr>
              <a:tr h="990600">
                <a:tc>
                  <a:txBody>
                    <a:bodyPr/>
                    <a:lstStyle/>
                    <a:p>
                      <a:pPr defTabSz="914400">
                        <a:tabLst>
                          <a:tab pos="1663700" algn="l"/>
                        </a:tabLst>
                        <a:defRPr b="0">
                          <a:solidFill>
                            <a:srgbClr val="000000"/>
                          </a:solidFill>
                        </a:defRPr>
                      </a:pPr>
                      <a:r>
                        <a:rPr sz="3200" b="1" dirty="0">
                          <a:solidFill>
                            <a:srgbClr val="FFFFFF"/>
                          </a:solidFill>
                        </a:rPr>
                        <a:t>receipt </a:t>
                      </a:r>
                      <a:r>
                        <a:rPr sz="3200" b="1" dirty="0" err="1">
                          <a:solidFill>
                            <a:srgbClr val="FFFFFF"/>
                          </a:solidFill>
                        </a:rPr>
                        <a:t>성공</a:t>
                      </a:r>
                      <a:r>
                        <a:rPr sz="3200" b="1" dirty="0">
                          <a:solidFill>
                            <a:srgbClr val="FFFFFF"/>
                          </a:solidFill>
                        </a:rPr>
                        <a:t>, </a:t>
                      </a:r>
                      <a:r>
                        <a:rPr sz="3200" b="1" dirty="0" err="1">
                          <a:solidFill>
                            <a:srgbClr val="FFFFFF"/>
                          </a:solidFill>
                        </a:rPr>
                        <a:t>다른</a:t>
                      </a:r>
                      <a:r>
                        <a:rPr sz="3200" b="1" dirty="0">
                          <a:solidFill>
                            <a:srgbClr val="FFFFFF"/>
                          </a:solidFill>
                        </a:rPr>
                        <a:t> </a:t>
                      </a:r>
                      <a:r>
                        <a:rPr sz="3200" b="1" dirty="0" err="1">
                          <a:solidFill>
                            <a:srgbClr val="FFFFFF"/>
                          </a:solidFill>
                        </a:rPr>
                        <a:t>직원</a:t>
                      </a:r>
                      <a:r>
                        <a:rPr sz="3200" b="1" dirty="0">
                          <a:solidFill>
                            <a:srgbClr val="FFFFFF"/>
                          </a:solidFill>
                        </a:rPr>
                        <a:t> scan</a:t>
                      </a:r>
                    </a:p>
                  </a:txBody>
                  <a:tcPr marL="50800" marR="50800" marT="50800" marB="50800" anchor="ctr" horzOverflow="overflow"/>
                </a:tc>
                <a:tc>
                  <a:txBody>
                    <a:bodyPr/>
                    <a:lstStyle/>
                    <a:p>
                      <a:pPr defTabSz="914400">
                        <a:defRPr>
                          <a:solidFill>
                            <a:srgbClr val="000000"/>
                          </a:solidFill>
                        </a:defRPr>
                      </a:pPr>
                      <a:r>
                        <a:rPr sz="3200">
                          <a:solidFill>
                            <a:srgbClr val="FFFFFF"/>
                          </a:solidFill>
                        </a:rPr>
                        <a:t>App ↔ Auditor</a:t>
                      </a:r>
                    </a:p>
                  </a:txBody>
                  <a:tcPr marL="50800" marR="50800" marT="50800" marB="50800" anchor="ctr" horzOverflow="overflow"/>
                </a:tc>
                <a:tc>
                  <a:txBody>
                    <a:bodyPr/>
                    <a:lstStyle/>
                    <a:p>
                      <a:pPr defTabSz="914400">
                        <a:defRPr>
                          <a:solidFill>
                            <a:srgbClr val="000000"/>
                          </a:solidFill>
                        </a:defRPr>
                      </a:pPr>
                      <a:r>
                        <a:rPr sz="3200" dirty="0" err="1">
                          <a:solidFill>
                            <a:srgbClr val="FFFFFF"/>
                          </a:solidFill>
                        </a:rPr>
                        <a:t>registry와</a:t>
                      </a:r>
                      <a:r>
                        <a:rPr sz="3200" dirty="0">
                          <a:solidFill>
                            <a:srgbClr val="FFFFFF"/>
                          </a:solidFill>
                        </a:rPr>
                        <a:t> plan binding</a:t>
                      </a:r>
                    </a:p>
                  </a:txBody>
                  <a:tcPr marL="50800" marR="50800" marT="50800" marB="50800" anchor="ctr" horzOverflow="overflow"/>
                </a:tc>
                <a:extLst>
                  <a:ext uri="{0D108BD9-81ED-4DB2-BD59-A6C34878D82A}">
                    <a16:rowId xmlns:a16="http://schemas.microsoft.com/office/drawing/2014/main" val="10005"/>
                  </a:ext>
                </a:extLst>
              </a:tr>
            </a:tbl>
          </a:graphicData>
        </a:graphic>
      </p:graphicFrame>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0" name="완료 증거"/>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완료 증거</a:t>
            </a:r>
          </a:p>
        </p:txBody>
      </p:sp>
      <p:sp>
        <p:nvSpPr>
          <p:cNvPr id="622" name="deposit receipt와 treasury note…"/>
          <p:cNvSpPr txBox="1">
            <a:spLocks noGrp="1"/>
          </p:cNvSpPr>
          <p:nvPr>
            <p:ph type="body" idx="1"/>
          </p:nvPr>
        </p:nvSpPr>
        <p:spPr>
          <a:prstGeom prst="rect">
            <a:avLst/>
          </a:prstGeom>
        </p:spPr>
        <p:txBody>
          <a:bodyPr/>
          <a:lstStyle/>
          <a:p>
            <a:pPr marL="368300" indent="-368300">
              <a:defRPr sz="2900">
                <a:latin typeface="Apple SD 산돌고딕 Neo 일반체"/>
                <a:ea typeface="Apple SD 산돌고딕 Neo 일반체"/>
                <a:cs typeface="Apple SD 산돌고딕 Neo 일반체"/>
                <a:sym typeface="Apple SD 산돌고딕 Neo 일반체"/>
              </a:defRPr>
            </a:pPr>
            <a:r>
              <a:t>deposit receipt와 treasury note</a:t>
            </a:r>
          </a:p>
          <a:p>
            <a:pPr marL="368300" indent="-368300">
              <a:defRPr sz="2900">
                <a:latin typeface="Apple SD 산돌고딕 Neo 일반체"/>
                <a:ea typeface="Apple SD 산돌고딕 Neo 일반체"/>
                <a:cs typeface="Apple SD 산돌고딕 Neo 일반체"/>
                <a:sym typeface="Apple SD 산돌고딕 Neo 일반체"/>
              </a:defRPr>
            </a:pPr>
            <a:r>
              <a:t>batch receipt와 outputCount 3</a:t>
            </a:r>
          </a:p>
          <a:p>
            <a:pPr marL="368300" indent="-368300">
              <a:defRPr sz="2900">
                <a:latin typeface="Apple SD 산돌고딕 Neo 일반체"/>
                <a:ea typeface="Apple SD 산돌고딕 Neo 일반체"/>
                <a:cs typeface="Apple SD 산돌고딕 Neo 일반체"/>
                <a:sym typeface="Apple SD 산돌고딕 Neo 일반체"/>
              </a:defRPr>
            </a:pPr>
            <a:r>
              <a:t>서로 다른 직원 scan 3건</a:t>
            </a:r>
          </a:p>
          <a:p>
            <a:pPr marL="368300" indent="-368300">
              <a:defRPr sz="2900">
                <a:latin typeface="Apple SD 산돌고딕 Neo 일반체"/>
                <a:ea typeface="Apple SD 산돌고딕 Neo 일반체"/>
                <a:cs typeface="Apple SD 산돌고딕 Neo 일반체"/>
                <a:sym typeface="Apple SD 산돌고딕 Neo 일반체"/>
              </a:defRPr>
            </a:pPr>
            <a:r>
              <a:t>audit total과 disclosure digest</a:t>
            </a:r>
          </a:p>
          <a:p>
            <a:pPr marL="368300" indent="-368300">
              <a:defRPr sz="2900">
                <a:latin typeface="Apple SD 산돌고딕 Neo 일반체"/>
                <a:ea typeface="Apple SD 산돌고딕 Neo 일반체"/>
                <a:cs typeface="Apple SD 산돌고딕 Neo 일반체"/>
                <a:sym typeface="Apple SD 산돌고딕 Neo 일반체"/>
              </a:defRPr>
            </a:pPr>
            <a:r>
              <a:t>plan digest와 모든 결과의 연결</a:t>
            </a:r>
          </a:p>
        </p:txBody>
      </p:sp>
      <p:sp>
        <p:nvSpPr>
          <p:cNvPr id="623"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27</a:t>
            </a:fld>
            <a:endParaRPr/>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7" name="워크숍 종료 판정"/>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워크숍 종료 판정</a:t>
            </a:r>
          </a:p>
        </p:txBody>
      </p:sp>
      <p:sp>
        <p:nvSpPr>
          <p:cNvPr id="629"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28</a:t>
            </a:fld>
            <a:endParaRPr/>
          </a:p>
        </p:txBody>
      </p:sp>
      <p:graphicFrame>
        <p:nvGraphicFramePr>
          <p:cNvPr id="630" name="표 1"/>
          <p:cNvGraphicFramePr/>
          <p:nvPr/>
        </p:nvGraphicFramePr>
        <p:xfrm>
          <a:off x="1270000" y="2413000"/>
          <a:ext cx="21844000" cy="4953000"/>
        </p:xfrm>
        <a:graphic>
          <a:graphicData uri="http://schemas.openxmlformats.org/drawingml/2006/table">
            <a:tbl>
              <a:tblPr firstRow="1" firstCol="1">
                <a:tableStyleId>{4C3C2611-4C71-4FC5-86AE-919BDF0F9419}</a:tableStyleId>
              </a:tblPr>
              <a:tblGrid>
                <a:gridCol w="8255000">
                  <a:extLst>
                    <a:ext uri="{9D8B030D-6E8A-4147-A177-3AD203B41FA5}">
                      <a16:colId xmlns:a16="http://schemas.microsoft.com/office/drawing/2014/main" val="20000"/>
                    </a:ext>
                  </a:extLst>
                </a:gridCol>
                <a:gridCol w="13589000">
                  <a:extLst>
                    <a:ext uri="{9D8B030D-6E8A-4147-A177-3AD203B41FA5}">
                      <a16:colId xmlns:a16="http://schemas.microsoft.com/office/drawing/2014/main" val="20001"/>
                    </a:ext>
                  </a:extLst>
                </a:gridCol>
              </a:tblGrid>
              <a:tr h="990600">
                <a:tc>
                  <a:txBody>
                    <a:bodyPr/>
                    <a:lstStyle/>
                    <a:p>
                      <a:pPr defTabSz="914400">
                        <a:tabLst>
                          <a:tab pos="1663700" algn="l"/>
                        </a:tabLst>
                        <a:defRPr b="0">
                          <a:solidFill>
                            <a:srgbClr val="000000"/>
                          </a:solidFill>
                        </a:defRPr>
                      </a:pPr>
                      <a:r>
                        <a:rPr sz="3200" b="1">
                          <a:solidFill>
                            <a:srgbClr val="FFFFFF"/>
                          </a:solidFill>
                        </a:rPr>
                        <a:t>질문</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기록할 답</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어디까지 실행했는가</a:t>
                      </a:r>
                    </a:p>
                  </a:txBody>
                  <a:tcPr marL="50800" marR="50800" marT="50800" marB="50800" anchor="ctr" horzOverflow="overflow"/>
                </a:tc>
                <a:tc>
                  <a:txBody>
                    <a:bodyPr/>
                    <a:lstStyle/>
                    <a:p>
                      <a:pPr defTabSz="914400">
                        <a:defRPr>
                          <a:solidFill>
                            <a:srgbClr val="000000"/>
                          </a:solidFill>
                        </a:defRPr>
                      </a:pPr>
                      <a:r>
                        <a:rPr sz="3200">
                          <a:solidFill>
                            <a:srgbClr val="FFFFFF"/>
                          </a:solidFill>
                        </a:rPr>
                        <a:t>Live, Local, Simulation, Docs Only</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첫 실패 계층은 어디인가</a:t>
                      </a:r>
                    </a:p>
                  </a:txBody>
                  <a:tcPr marL="50800" marR="50800" marT="50800" marB="50800" anchor="ctr" horzOverflow="overflow"/>
                </a:tc>
                <a:tc>
                  <a:txBody>
                    <a:bodyPr/>
                    <a:lstStyle/>
                    <a:p>
                      <a:pPr defTabSz="914400">
                        <a:defRPr>
                          <a:solidFill>
                            <a:srgbClr val="000000"/>
                          </a:solidFill>
                        </a:defRPr>
                      </a:pPr>
                      <a:r>
                        <a:rPr sz="3200">
                          <a:solidFill>
                            <a:srgbClr val="FFFFFF"/>
                          </a:solidFill>
                        </a:rPr>
                        <a:t>준비, RPC, PCL, Privacy, Delivery, 업무</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직원 지급을 확인했는가</a:t>
                      </a:r>
                    </a:p>
                  </a:txBody>
                  <a:tcPr marL="50800" marR="50800" marT="50800" marB="50800" anchor="ctr" horzOverflow="overflow"/>
                </a:tc>
                <a:tc>
                  <a:txBody>
                    <a:bodyPr/>
                    <a:lstStyle/>
                    <a:p>
                      <a:pPr defTabSz="914400">
                        <a:defRPr>
                          <a:solidFill>
                            <a:srgbClr val="000000"/>
                          </a:solidFill>
                        </a:defRPr>
                      </a:pPr>
                      <a:r>
                        <a:rPr sz="3200">
                          <a:solidFill>
                            <a:srgbClr val="FFFFFF"/>
                          </a:solidFill>
                        </a:rPr>
                        <a:t>직원별 scan과 tx binding</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프로덕션 전에 무엇이 필요한가</a:t>
                      </a:r>
                    </a:p>
                  </a:txBody>
                  <a:tcPr marL="50800" marR="50800" marT="50800" marB="50800" anchor="ctr" horzOverflow="overflow"/>
                </a:tc>
                <a:tc>
                  <a:txBody>
                    <a:bodyPr/>
                    <a:lstStyle/>
                    <a:p>
                      <a:pPr defTabSz="914400">
                        <a:defRPr>
                          <a:solidFill>
                            <a:srgbClr val="000000"/>
                          </a:solidFill>
                        </a:defRPr>
                      </a:pPr>
                      <a:r>
                        <a:rPr sz="3200">
                          <a:solidFill>
                            <a:srgbClr val="FFFFFF"/>
                          </a:solidFill>
                        </a:rPr>
                        <a:t>prover, custody, policy, scanner owner</a:t>
                      </a:r>
                    </a:p>
                  </a:txBody>
                  <a:tcPr marL="50800" marR="50800" marT="50800" marB="50800" anchor="ctr" horzOverflow="overflow"/>
                </a:tc>
                <a:extLst>
                  <a:ext uri="{0D108BD9-81ED-4DB2-BD59-A6C34878D82A}">
                    <a16:rowId xmlns:a16="http://schemas.microsoft.com/office/drawing/2014/main" val="10004"/>
                  </a:ext>
                </a:extLst>
              </a:tr>
            </a:tbl>
          </a:graphicData>
        </a:graphic>
      </p:graphicFrame>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 name="프로덕션 전 결정해야 할 것"/>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프로덕션 전 결정해야 할 것</a:t>
            </a:r>
          </a:p>
        </p:txBody>
      </p:sp>
      <p:sp>
        <p:nvSpPr>
          <p:cNvPr id="636"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29</a:t>
            </a:fld>
            <a:endParaRPr/>
          </a:p>
        </p:txBody>
      </p:sp>
      <p:graphicFrame>
        <p:nvGraphicFramePr>
          <p:cNvPr id="637" name="표 1"/>
          <p:cNvGraphicFramePr/>
          <p:nvPr/>
        </p:nvGraphicFramePr>
        <p:xfrm>
          <a:off x="1270000" y="2413000"/>
          <a:ext cx="21844000" cy="8011160"/>
        </p:xfrm>
        <a:graphic>
          <a:graphicData uri="http://schemas.openxmlformats.org/drawingml/2006/table">
            <a:tbl>
              <a:tblPr firstRow="1" firstCol="1">
                <a:tableStyleId>{4C3C2611-4C71-4FC5-86AE-919BDF0F9419}</a:tableStyleId>
              </a:tblPr>
              <a:tblGrid>
                <a:gridCol w="3683000">
                  <a:extLst>
                    <a:ext uri="{9D8B030D-6E8A-4147-A177-3AD203B41FA5}">
                      <a16:colId xmlns:a16="http://schemas.microsoft.com/office/drawing/2014/main" val="20000"/>
                    </a:ext>
                  </a:extLst>
                </a:gridCol>
                <a:gridCol w="5461000">
                  <a:extLst>
                    <a:ext uri="{9D8B030D-6E8A-4147-A177-3AD203B41FA5}">
                      <a16:colId xmlns:a16="http://schemas.microsoft.com/office/drawing/2014/main" val="20001"/>
                    </a:ext>
                  </a:extLst>
                </a:gridCol>
                <a:gridCol w="8890000">
                  <a:extLst>
                    <a:ext uri="{9D8B030D-6E8A-4147-A177-3AD203B41FA5}">
                      <a16:colId xmlns:a16="http://schemas.microsoft.com/office/drawing/2014/main" val="20002"/>
                    </a:ext>
                  </a:extLst>
                </a:gridCol>
                <a:gridCol w="3810000">
                  <a:extLst>
                    <a:ext uri="{9D8B030D-6E8A-4147-A177-3AD203B41FA5}">
                      <a16:colId xmlns:a16="http://schemas.microsoft.com/office/drawing/2014/main" val="20003"/>
                    </a:ext>
                  </a:extLst>
                </a:gridCol>
              </a:tblGrid>
              <a:tr h="990600">
                <a:tc>
                  <a:txBody>
                    <a:bodyPr/>
                    <a:lstStyle/>
                    <a:p>
                      <a:pPr defTabSz="914400">
                        <a:tabLst>
                          <a:tab pos="1663700" algn="l"/>
                        </a:tabLst>
                        <a:defRPr b="0">
                          <a:solidFill>
                            <a:srgbClr val="000000"/>
                          </a:solidFill>
                        </a:defRPr>
                      </a:pPr>
                      <a:r>
                        <a:rPr sz="3200" b="1">
                          <a:solidFill>
                            <a:srgbClr val="FFFFFF"/>
                          </a:solidFill>
                        </a:rPr>
                        <a:t>영역</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이번 워크숍</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프로덕션 결정</a:t>
                      </a:r>
                    </a:p>
                  </a:txBody>
                  <a:tcPr marL="50800" marR="50800" marT="50800" marB="50800" anchor="ctr" horzOverflow="overflow"/>
                </a:tc>
                <a:tc>
                  <a:txBody>
                    <a:bodyPr/>
                    <a:lstStyle/>
                    <a:p>
                      <a:pPr defTabSz="914400">
                        <a:tabLst>
                          <a:tab pos="1663700" algn="l"/>
                        </a:tabLst>
                        <a:defRPr b="0">
                          <a:solidFill>
                            <a:srgbClr val="000000"/>
                          </a:solidFill>
                        </a:defRPr>
                      </a:pPr>
                      <a:r>
                        <a:rPr sz="3200" b="1">
                          <a:solidFill>
                            <a:srgbClr val="FFFFFF"/>
                          </a:solidFill>
                        </a:rPr>
                        <a:t>필수 owner</a:t>
                      </a:r>
                    </a:p>
                  </a:txBody>
                  <a:tcPr marL="50800" marR="50800" marT="50800" marB="50800" anchor="ctr" horzOverflow="overflow"/>
                </a:tc>
                <a:extLst>
                  <a:ext uri="{0D108BD9-81ED-4DB2-BD59-A6C34878D82A}">
                    <a16:rowId xmlns:a16="http://schemas.microsoft.com/office/drawing/2014/main" val="10000"/>
                  </a:ext>
                </a:extLst>
              </a:tr>
              <a:tr h="990600">
                <a:tc>
                  <a:txBody>
                    <a:bodyPr/>
                    <a:lstStyle/>
                    <a:p>
                      <a:pPr defTabSz="914400">
                        <a:tabLst>
                          <a:tab pos="1663700" algn="l"/>
                        </a:tabLst>
                        <a:defRPr b="0">
                          <a:solidFill>
                            <a:srgbClr val="000000"/>
                          </a:solidFill>
                        </a:defRPr>
                      </a:pPr>
                      <a:r>
                        <a:rPr sz="3200" b="1">
                          <a:solidFill>
                            <a:srgbClr val="FFFFFF"/>
                          </a:solidFill>
                        </a:rPr>
                        <a:t>Prover / VK</a:t>
                      </a:r>
                    </a:p>
                  </a:txBody>
                  <a:tcPr marL="50800" marR="50800" marT="50800" marB="50800" anchor="ctr" horzOverflow="overflow"/>
                </a:tc>
                <a:tc>
                  <a:txBody>
                    <a:bodyPr/>
                    <a:lstStyle/>
                    <a:p>
                      <a:pPr defTabSz="914400">
                        <a:defRPr>
                          <a:solidFill>
                            <a:srgbClr val="000000"/>
                          </a:solidFill>
                        </a:defRPr>
                      </a:pPr>
                      <a:r>
                        <a:rPr sz="3200">
                          <a:solidFill>
                            <a:srgbClr val="FFFFFF"/>
                          </a:solidFill>
                        </a:rPr>
                        <a:t>Local proof·Maroo 실패 probe</a:t>
                      </a:r>
                    </a:p>
                  </a:txBody>
                  <a:tcPr marL="50800" marR="50800" marT="50800" marB="50800" anchor="ctr" horzOverflow="overflow"/>
                </a:tc>
                <a:tc>
                  <a:txBody>
                    <a:bodyPr/>
                    <a:lstStyle/>
                    <a:p>
                      <a:pPr defTabSz="914400">
                        <a:defRPr>
                          <a:solidFill>
                            <a:srgbClr val="000000"/>
                          </a:solidFill>
                        </a:defRPr>
                      </a:pPr>
                      <a:r>
                        <a:rPr sz="3200">
                          <a:solidFill>
                            <a:srgbClr val="FFFFFF"/>
                          </a:solidFill>
                        </a:rPr>
                        <a:t>호환 버전·provenance·배포</a:t>
                      </a:r>
                    </a:p>
                  </a:txBody>
                  <a:tcPr marL="50800" marR="50800" marT="50800" marB="50800" anchor="ctr" horzOverflow="overflow"/>
                </a:tc>
                <a:tc>
                  <a:txBody>
                    <a:bodyPr/>
                    <a:lstStyle/>
                    <a:p>
                      <a:pPr defTabSz="914400">
                        <a:defRPr>
                          <a:solidFill>
                            <a:srgbClr val="000000"/>
                          </a:solidFill>
                        </a:defRPr>
                      </a:pPr>
                      <a:r>
                        <a:rPr sz="3200">
                          <a:solidFill>
                            <a:srgbClr val="FFFFFF"/>
                          </a:solidFill>
                        </a:rPr>
                        <a:t>ZK platform</a:t>
                      </a:r>
                    </a:p>
                  </a:txBody>
                  <a:tcPr marL="50800" marR="50800" marT="50800" marB="50800" anchor="ctr" horzOverflow="overflow"/>
                </a:tc>
                <a:extLst>
                  <a:ext uri="{0D108BD9-81ED-4DB2-BD59-A6C34878D82A}">
                    <a16:rowId xmlns:a16="http://schemas.microsoft.com/office/drawing/2014/main" val="10001"/>
                  </a:ext>
                </a:extLst>
              </a:tr>
              <a:tr h="990600">
                <a:tc>
                  <a:txBody>
                    <a:bodyPr/>
                    <a:lstStyle/>
                    <a:p>
                      <a:pPr defTabSz="914400">
                        <a:tabLst>
                          <a:tab pos="1663700" algn="l"/>
                        </a:tabLst>
                        <a:defRPr b="0">
                          <a:solidFill>
                            <a:srgbClr val="000000"/>
                          </a:solidFill>
                        </a:defRPr>
                      </a:pPr>
                      <a:r>
                        <a:rPr sz="3200" b="1">
                          <a:solidFill>
                            <a:srgbClr val="FFFFFF"/>
                          </a:solidFill>
                        </a:rPr>
                        <a:t>Custody</a:t>
                      </a:r>
                    </a:p>
                  </a:txBody>
                  <a:tcPr marL="50800" marR="50800" marT="50800" marB="50800" anchor="ctr" horzOverflow="overflow"/>
                </a:tc>
                <a:tc>
                  <a:txBody>
                    <a:bodyPr/>
                    <a:lstStyle/>
                    <a:p>
                      <a:pPr defTabSz="914400">
                        <a:defRPr>
                          <a:solidFill>
                            <a:srgbClr val="000000"/>
                          </a:solidFill>
                        </a:defRPr>
                      </a:pPr>
                      <a:r>
                        <a:rPr sz="3200">
                          <a:solidFill>
                            <a:srgbClr val="FFFFFF"/>
                          </a:solidFill>
                        </a:rPr>
                        <a:t>단일 testnet key</a:t>
                      </a:r>
                    </a:p>
                  </a:txBody>
                  <a:tcPr marL="50800" marR="50800" marT="50800" marB="50800" anchor="ctr" horzOverflow="overflow"/>
                </a:tc>
                <a:tc>
                  <a:txBody>
                    <a:bodyPr/>
                    <a:lstStyle/>
                    <a:p>
                      <a:pPr defTabSz="914400">
                        <a:defRPr>
                          <a:solidFill>
                            <a:srgbClr val="000000"/>
                          </a:solidFill>
                        </a:defRPr>
                      </a:pPr>
                      <a:r>
                        <a:rPr sz="3200">
                          <a:solidFill>
                            <a:srgbClr val="FFFFFF"/>
                          </a:solidFill>
                        </a:rPr>
                        <a:t>HSM·승인·회전·복구</a:t>
                      </a:r>
                    </a:p>
                  </a:txBody>
                  <a:tcPr marL="50800" marR="50800" marT="50800" marB="50800" anchor="ctr" horzOverflow="overflow"/>
                </a:tc>
                <a:tc>
                  <a:txBody>
                    <a:bodyPr/>
                    <a:lstStyle/>
                    <a:p>
                      <a:pPr defTabSz="914400">
                        <a:defRPr>
                          <a:solidFill>
                            <a:srgbClr val="000000"/>
                          </a:solidFill>
                        </a:defRPr>
                      </a:pPr>
                      <a:r>
                        <a:rPr sz="3200">
                          <a:solidFill>
                            <a:srgbClr val="FFFFFF"/>
                          </a:solidFill>
                        </a:rPr>
                        <a:t>Treasury</a:t>
                      </a:r>
                    </a:p>
                  </a:txBody>
                  <a:tcPr marL="50800" marR="50800" marT="50800" marB="50800" anchor="ctr" horzOverflow="overflow"/>
                </a:tc>
                <a:extLst>
                  <a:ext uri="{0D108BD9-81ED-4DB2-BD59-A6C34878D82A}">
                    <a16:rowId xmlns:a16="http://schemas.microsoft.com/office/drawing/2014/main" val="10002"/>
                  </a:ext>
                </a:extLst>
              </a:tr>
              <a:tr h="990600">
                <a:tc>
                  <a:txBody>
                    <a:bodyPr/>
                    <a:lstStyle/>
                    <a:p>
                      <a:pPr defTabSz="914400">
                        <a:tabLst>
                          <a:tab pos="1663700" algn="l"/>
                        </a:tabLst>
                        <a:defRPr b="0">
                          <a:solidFill>
                            <a:srgbClr val="000000"/>
                          </a:solidFill>
                        </a:defRPr>
                      </a:pPr>
                      <a:r>
                        <a:rPr sz="3200" b="1">
                          <a:solidFill>
                            <a:srgbClr val="FFFFFF"/>
                          </a:solidFill>
                        </a:rPr>
                        <a:t>PCL / EAS</a:t>
                      </a:r>
                    </a:p>
                  </a:txBody>
                  <a:tcPr marL="50800" marR="50800" marT="50800" marB="50800" anchor="ctr" horzOverflow="overflow"/>
                </a:tc>
                <a:tc>
                  <a:txBody>
                    <a:bodyPr/>
                    <a:lstStyle/>
                    <a:p>
                      <a:pPr defTabSz="914400">
                        <a:defRPr>
                          <a:solidFill>
                            <a:srgbClr val="000000"/>
                          </a:solidFill>
                        </a:defRPr>
                      </a:pPr>
                      <a:r>
                        <a:rPr sz="3200">
                          <a:solidFill>
                            <a:srgbClr val="FFFFFF"/>
                          </a:solidFill>
                        </a:rPr>
                        <a:t>상태 read·책임 매핑</a:t>
                      </a:r>
                    </a:p>
                  </a:txBody>
                  <a:tcPr marL="50800" marR="50800" marT="50800" marB="50800" anchor="ctr" horzOverflow="overflow"/>
                </a:tc>
                <a:tc>
                  <a:txBody>
                    <a:bodyPr/>
                    <a:lstStyle/>
                    <a:p>
                      <a:pPr defTabSz="914400">
                        <a:defRPr>
                          <a:solidFill>
                            <a:srgbClr val="000000"/>
                          </a:solidFill>
                        </a:defRPr>
                      </a:pPr>
                      <a:r>
                        <a:rPr sz="3200">
                          <a:solidFill>
                            <a:srgbClr val="FFFFFF"/>
                          </a:solidFill>
                        </a:rPr>
                        <a:t>정책 변경·예외·denylist</a:t>
                      </a:r>
                    </a:p>
                  </a:txBody>
                  <a:tcPr marL="50800" marR="50800" marT="50800" marB="50800" anchor="ctr" horzOverflow="overflow"/>
                </a:tc>
                <a:tc>
                  <a:txBody>
                    <a:bodyPr/>
                    <a:lstStyle/>
                    <a:p>
                      <a:pPr defTabSz="914400">
                        <a:defRPr>
                          <a:solidFill>
                            <a:srgbClr val="000000"/>
                          </a:solidFill>
                        </a:defRPr>
                      </a:pPr>
                      <a:r>
                        <a:rPr sz="3200">
                          <a:solidFill>
                            <a:srgbClr val="FFFFFF"/>
                          </a:solidFill>
                        </a:rPr>
                        <a:t>Compliance</a:t>
                      </a:r>
                    </a:p>
                  </a:txBody>
                  <a:tcPr marL="50800" marR="50800" marT="50800" marB="50800" anchor="ctr" horzOverflow="overflow"/>
                </a:tc>
                <a:extLst>
                  <a:ext uri="{0D108BD9-81ED-4DB2-BD59-A6C34878D82A}">
                    <a16:rowId xmlns:a16="http://schemas.microsoft.com/office/drawing/2014/main" val="10003"/>
                  </a:ext>
                </a:extLst>
              </a:tr>
              <a:tr h="990600">
                <a:tc>
                  <a:txBody>
                    <a:bodyPr/>
                    <a:lstStyle/>
                    <a:p>
                      <a:pPr defTabSz="914400">
                        <a:tabLst>
                          <a:tab pos="1663700" algn="l"/>
                        </a:tabLst>
                        <a:defRPr b="0">
                          <a:solidFill>
                            <a:srgbClr val="000000"/>
                          </a:solidFill>
                        </a:defRPr>
                      </a:pPr>
                      <a:r>
                        <a:rPr sz="3200" b="1">
                          <a:solidFill>
                            <a:srgbClr val="FFFFFF"/>
                          </a:solidFill>
                        </a:rPr>
                        <a:t>Employee registry</a:t>
                      </a:r>
                    </a:p>
                  </a:txBody>
                  <a:tcPr marL="50800" marR="50800" marT="50800" marB="50800" anchor="ctr" horzOverflow="overflow"/>
                </a:tc>
                <a:tc>
                  <a:txBody>
                    <a:bodyPr/>
                    <a:lstStyle/>
                    <a:p>
                      <a:pPr defTabSz="914400">
                        <a:defRPr>
                          <a:solidFill>
                            <a:srgbClr val="000000"/>
                          </a:solidFill>
                        </a:defRPr>
                      </a:pPr>
                      <a:r>
                        <a:rPr sz="3200">
                          <a:solidFill>
                            <a:srgbClr val="FFFFFF"/>
                          </a:solidFill>
                        </a:rPr>
                        <a:t>합성 profile 3개</a:t>
                      </a:r>
                    </a:p>
                  </a:txBody>
                  <a:tcPr marL="50800" marR="50800" marT="50800" marB="50800" anchor="ctr" horzOverflow="overflow"/>
                </a:tc>
                <a:tc>
                  <a:txBody>
                    <a:bodyPr/>
                    <a:lstStyle/>
                    <a:p>
                      <a:pPr defTabSz="914400">
                        <a:defRPr>
                          <a:solidFill>
                            <a:srgbClr val="000000"/>
                          </a:solidFill>
                        </a:defRPr>
                      </a:pPr>
                      <a:r>
                        <a:rPr sz="3200">
                          <a:solidFill>
                            <a:srgbClr val="FFFFFF"/>
                          </a:solidFill>
                        </a:rPr>
                        <a:t>입사·변경·퇴사 lifecycle</a:t>
                      </a:r>
                    </a:p>
                  </a:txBody>
                  <a:tcPr marL="50800" marR="50800" marT="50800" marB="50800" anchor="ctr" horzOverflow="overflow"/>
                </a:tc>
                <a:tc>
                  <a:txBody>
                    <a:bodyPr/>
                    <a:lstStyle/>
                    <a:p>
                      <a:pPr defTabSz="914400">
                        <a:defRPr>
                          <a:solidFill>
                            <a:srgbClr val="000000"/>
                          </a:solidFill>
                        </a:defRPr>
                      </a:pPr>
                      <a:r>
                        <a:rPr sz="3200">
                          <a:solidFill>
                            <a:srgbClr val="FFFFFF"/>
                          </a:solidFill>
                        </a:rPr>
                        <a:t>Payroll</a:t>
                      </a:r>
                    </a:p>
                  </a:txBody>
                  <a:tcPr marL="50800" marR="50800" marT="50800" marB="50800" anchor="ctr" horzOverflow="overflow"/>
                </a:tc>
                <a:extLst>
                  <a:ext uri="{0D108BD9-81ED-4DB2-BD59-A6C34878D82A}">
                    <a16:rowId xmlns:a16="http://schemas.microsoft.com/office/drawing/2014/main" val="10004"/>
                  </a:ext>
                </a:extLst>
              </a:tr>
              <a:tr h="990600">
                <a:tc>
                  <a:txBody>
                    <a:bodyPr/>
                    <a:lstStyle/>
                    <a:p>
                      <a:pPr defTabSz="914400">
                        <a:tabLst>
                          <a:tab pos="1663700" algn="l"/>
                        </a:tabLst>
                        <a:defRPr b="0">
                          <a:solidFill>
                            <a:srgbClr val="000000"/>
                          </a:solidFill>
                        </a:defRPr>
                      </a:pPr>
                      <a:r>
                        <a:rPr sz="3200" b="1">
                          <a:solidFill>
                            <a:srgbClr val="FFFFFF"/>
                          </a:solidFill>
                        </a:rPr>
                        <a:t>Scanner</a:t>
                      </a:r>
                    </a:p>
                  </a:txBody>
                  <a:tcPr marL="50800" marR="50800" marT="50800" marB="50800" anchor="ctr" horzOverflow="overflow"/>
                </a:tc>
                <a:tc>
                  <a:txBody>
                    <a:bodyPr/>
                    <a:lstStyle/>
                    <a:p>
                      <a:pPr defTabSz="914400">
                        <a:defRPr>
                          <a:solidFill>
                            <a:srgbClr val="000000"/>
                          </a:solidFill>
                        </a:defRPr>
                      </a:pPr>
                      <a:r>
                        <a:rPr sz="3200">
                          <a:solidFill>
                            <a:srgbClr val="FFFFFF"/>
                          </a:solidFill>
                        </a:rPr>
                        <a:t>Local 직원별 scan</a:t>
                      </a:r>
                    </a:p>
                  </a:txBody>
                  <a:tcPr marL="50800" marR="50800" marT="50800" marB="50800" anchor="ctr" horzOverflow="overflow"/>
                </a:tc>
                <a:tc>
                  <a:txBody>
                    <a:bodyPr/>
                    <a:lstStyle/>
                    <a:p>
                      <a:pPr defTabSz="914400">
                        <a:defRPr>
                          <a:solidFill>
                            <a:srgbClr val="000000"/>
                          </a:solidFill>
                        </a:defRPr>
                      </a:pPr>
                      <a:r>
                        <a:rPr sz="3200">
                          <a:solidFill>
                            <a:srgbClr val="FFFFFF"/>
                          </a:solidFill>
                        </a:rPr>
                        <a:t>cursor·재시도·SLA·소유권</a:t>
                      </a:r>
                    </a:p>
                  </a:txBody>
                  <a:tcPr marL="50800" marR="50800" marT="50800" marB="50800" anchor="ctr" horzOverflow="overflow"/>
                </a:tc>
                <a:tc>
                  <a:txBody>
                    <a:bodyPr/>
                    <a:lstStyle/>
                    <a:p>
                      <a:pPr defTabSz="914400">
                        <a:defRPr>
                          <a:solidFill>
                            <a:srgbClr val="000000"/>
                          </a:solidFill>
                        </a:defRPr>
                      </a:pPr>
                      <a:r>
                        <a:rPr sz="3200">
                          <a:solidFill>
                            <a:srgbClr val="FFFFFF"/>
                          </a:solidFill>
                        </a:rPr>
                        <a:t>Wallet team</a:t>
                      </a:r>
                    </a:p>
                  </a:txBody>
                  <a:tcPr marL="50800" marR="50800" marT="50800" marB="50800" anchor="ctr" horzOverflow="overflow"/>
                </a:tc>
                <a:extLst>
                  <a:ext uri="{0D108BD9-81ED-4DB2-BD59-A6C34878D82A}">
                    <a16:rowId xmlns:a16="http://schemas.microsoft.com/office/drawing/2014/main" val="10005"/>
                  </a:ext>
                </a:extLst>
              </a:tr>
              <a:tr h="990600">
                <a:tc>
                  <a:txBody>
                    <a:bodyPr/>
                    <a:lstStyle/>
                    <a:p>
                      <a:pPr defTabSz="914400">
                        <a:tabLst>
                          <a:tab pos="1663700" algn="l"/>
                        </a:tabLst>
                        <a:defRPr b="0">
                          <a:solidFill>
                            <a:srgbClr val="000000"/>
                          </a:solidFill>
                        </a:defRPr>
                      </a:pPr>
                      <a:r>
                        <a:rPr sz="3200" b="1">
                          <a:solidFill>
                            <a:srgbClr val="FFFFFF"/>
                          </a:solidFill>
                        </a:rPr>
                        <a:t>Audit / disclosure</a:t>
                      </a:r>
                    </a:p>
                  </a:txBody>
                  <a:tcPr marL="50800" marR="50800" marT="50800" marB="50800" anchor="ctr" horzOverflow="overflow"/>
                </a:tc>
                <a:tc>
                  <a:txBody>
                    <a:bodyPr/>
                    <a:lstStyle/>
                    <a:p>
                      <a:pPr defTabSz="914400">
                        <a:defRPr>
                          <a:solidFill>
                            <a:srgbClr val="000000"/>
                          </a:solidFill>
                        </a:defRPr>
                      </a:pPr>
                      <a:r>
                        <a:rPr sz="3200">
                          <a:solidFill>
                            <a:srgbClr val="FFFFFF"/>
                          </a:solidFill>
                        </a:rPr>
                        <a:t>digest와 scan 대사</a:t>
                      </a:r>
                    </a:p>
                  </a:txBody>
                  <a:tcPr marL="50800" marR="50800" marT="50800" marB="50800" anchor="ctr" horzOverflow="overflow"/>
                </a:tc>
                <a:tc>
                  <a:txBody>
                    <a:bodyPr/>
                    <a:lstStyle/>
                    <a:p>
                      <a:pPr defTabSz="914400">
                        <a:defRPr>
                          <a:solidFill>
                            <a:srgbClr val="000000"/>
                          </a:solidFill>
                        </a:defRPr>
                      </a:pPr>
                      <a:r>
                        <a:rPr sz="3200">
                          <a:solidFill>
                            <a:srgbClr val="FFFFFF"/>
                          </a:solidFill>
                        </a:rPr>
                        <a:t>접근권한·보존·감사 절차</a:t>
                      </a:r>
                    </a:p>
                  </a:txBody>
                  <a:tcPr marL="50800" marR="50800" marT="50800" marB="50800" anchor="ctr" horzOverflow="overflow"/>
                </a:tc>
                <a:tc>
                  <a:txBody>
                    <a:bodyPr/>
                    <a:lstStyle/>
                    <a:p>
                      <a:pPr defTabSz="914400">
                        <a:defRPr>
                          <a:solidFill>
                            <a:srgbClr val="000000"/>
                          </a:solidFill>
                        </a:defRPr>
                      </a:pPr>
                      <a:r>
                        <a:rPr sz="3200">
                          <a:solidFill>
                            <a:srgbClr val="FFFFFF"/>
                          </a:solidFill>
                        </a:rPr>
                        <a:t>Audit</a:t>
                      </a:r>
                    </a:p>
                  </a:txBody>
                  <a:tcPr marL="50800" marR="50800" marT="50800" marB="50800" anchor="ctr" horzOverflow="overflow"/>
                </a:tc>
                <a:extLst>
                  <a:ext uri="{0D108BD9-81ED-4DB2-BD59-A6C34878D82A}">
                    <a16:rowId xmlns:a16="http://schemas.microsoft.com/office/drawing/2014/main" val="10006"/>
                  </a:ext>
                </a:extLst>
              </a:tr>
              <a:tr h="990600">
                <a:tc>
                  <a:txBody>
                    <a:bodyPr/>
                    <a:lstStyle/>
                    <a:p>
                      <a:pPr defTabSz="914400">
                        <a:tabLst>
                          <a:tab pos="1663700" algn="l"/>
                        </a:tabLst>
                        <a:defRPr b="0">
                          <a:solidFill>
                            <a:srgbClr val="000000"/>
                          </a:solidFill>
                        </a:defRPr>
                      </a:pPr>
                      <a:r>
                        <a:rPr sz="3200" b="1">
                          <a:solidFill>
                            <a:srgbClr val="FFFFFF"/>
                          </a:solidFill>
                        </a:rPr>
                        <a:t>Operations</a:t>
                      </a:r>
                    </a:p>
                  </a:txBody>
                  <a:tcPr marL="50800" marR="50800" marT="50800" marB="50800" anchor="ctr" horzOverflow="overflow"/>
                </a:tc>
                <a:tc>
                  <a:txBody>
                    <a:bodyPr/>
                    <a:lstStyle/>
                    <a:p>
                      <a:pPr defTabSz="914400">
                        <a:defRPr>
                          <a:solidFill>
                            <a:srgbClr val="000000"/>
                          </a:solidFill>
                        </a:defRPr>
                      </a:pPr>
                      <a:r>
                        <a:rPr sz="3200">
                          <a:solidFill>
                            <a:srgbClr val="FFFFFF"/>
                          </a:solidFill>
                        </a:rPr>
                        <a:t>수동 evidence</a:t>
                      </a:r>
                    </a:p>
                  </a:txBody>
                  <a:tcPr marL="50800" marR="50800" marT="50800" marB="50800" anchor="ctr" horzOverflow="overflow"/>
                </a:tc>
                <a:tc>
                  <a:txBody>
                    <a:bodyPr/>
                    <a:lstStyle/>
                    <a:p>
                      <a:pPr defTabSz="914400">
                        <a:defRPr>
                          <a:solidFill>
                            <a:srgbClr val="000000"/>
                          </a:solidFill>
                        </a:defRPr>
                      </a:pPr>
                      <a:r>
                        <a:rPr sz="3200">
                          <a:solidFill>
                            <a:srgbClr val="FFFFFF"/>
                          </a:solidFill>
                        </a:rPr>
                        <a:t>monitoring·alert·incident runbook</a:t>
                      </a:r>
                    </a:p>
                  </a:txBody>
                  <a:tcPr marL="50800" marR="50800" marT="50800" marB="50800" anchor="ctr" horzOverflow="overflow"/>
                </a:tc>
                <a:tc>
                  <a:txBody>
                    <a:bodyPr/>
                    <a:lstStyle/>
                    <a:p>
                      <a:pPr defTabSz="914400">
                        <a:defRPr>
                          <a:solidFill>
                            <a:srgbClr val="000000"/>
                          </a:solidFill>
                        </a:defRPr>
                      </a:pPr>
                      <a:r>
                        <a:rPr sz="3200">
                          <a:solidFill>
                            <a:srgbClr val="FFFFFF"/>
                          </a:solidFill>
                        </a:rPr>
                        <a:t>SRE</a:t>
                      </a:r>
                    </a:p>
                  </a:txBody>
                  <a:tcPr marL="50800" marR="50800" marT="50800" marB="50800" anchor="ctr" horzOverflow="overflow"/>
                </a:tc>
                <a:extLst>
                  <a:ext uri="{0D108BD9-81ED-4DB2-BD59-A6C34878D82A}">
                    <a16:rowId xmlns:a16="http://schemas.microsoft.com/office/drawing/2014/main" val="10007"/>
                  </a:ext>
                </a:extLst>
              </a:tr>
            </a:tbl>
          </a:graphicData>
        </a:graphic>
      </p:graphicFrame>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마지막 질문"/>
          <p:cNvSpPr txBox="1">
            <a:spLocks noGrp="1"/>
          </p:cNvSpPr>
          <p:nvPr>
            <p:ph type="title"/>
          </p:nvPr>
        </p:nvSpPr>
        <p:spPr>
          <a:prstGeom prst="rect">
            <a:avLst/>
          </a:prstGeom>
        </p:spPr>
        <p:txBody>
          <a:bodyPr/>
          <a:lstStyle>
            <a:lvl1pPr>
              <a:defRPr sz="4800" b="0" spc="-96">
                <a:latin typeface="Apple SD 산돌고딕 Neo 볼드체"/>
                <a:ea typeface="Apple SD 산돌고딕 Neo 볼드체"/>
                <a:cs typeface="Apple SD 산돌고딕 Neo 볼드체"/>
                <a:sym typeface="Apple SD 산돌고딕 Neo 볼드체"/>
              </a:defRPr>
            </a:lvl1pPr>
          </a:lstStyle>
          <a:p>
            <a:r>
              <a:t>마지막 질문</a:t>
            </a:r>
          </a:p>
        </p:txBody>
      </p:sp>
      <p:sp>
        <p:nvSpPr>
          <p:cNvPr id="643" name="슬라이드 번호"/>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
        <p:nvSpPr>
          <p:cNvPr id="644" name="어떤 증거가 있어야 급여를 완료 처리할 수 있는가"/>
          <p:cNvSpPr txBox="1"/>
          <p:nvPr/>
        </p:nvSpPr>
        <p:spPr>
          <a:xfrm>
            <a:off x="1524000" y="2794000"/>
            <a:ext cx="21336001" cy="927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5400">
                <a:solidFill>
                  <a:srgbClr val="00E9FF"/>
                </a:solidFill>
                <a:latin typeface="Apple SD 산돌고딕 Neo 볼드체"/>
                <a:ea typeface="Apple SD 산돌고딕 Neo 볼드체"/>
                <a:cs typeface="Apple SD 산돌고딕 Neo 볼드체"/>
                <a:sym typeface="Apple SD 산돌고딕 Neo 볼드체"/>
              </a:defRPr>
            </a:lvl1pPr>
          </a:lstStyle>
          <a:p>
            <a:r>
              <a:t>어떤 증거가 있어야 급여를 완료 처리할 수 있는가</a:t>
            </a:r>
          </a:p>
        </p:txBody>
      </p:sp>
      <p:sp>
        <p:nvSpPr>
          <p:cNvPr id="645" name="온체인 receipt만으로는 부족하다…"/>
          <p:cNvSpPr txBox="1"/>
          <p:nvPr/>
        </p:nvSpPr>
        <p:spPr>
          <a:xfrm>
            <a:off x="1524000" y="4953000"/>
            <a:ext cx="21336000" cy="24892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p>
            <a:pPr>
              <a:defRPr sz="2900">
                <a:latin typeface="Apple SD 산돌고딕 Neo 일반체"/>
                <a:ea typeface="Apple SD 산돌고딕 Neo 일반체"/>
                <a:cs typeface="Apple SD 산돌고딕 Neo 일반체"/>
                <a:sym typeface="Apple SD 산돌고딕 Neo 일반체"/>
              </a:defRPr>
            </a:pPr>
            <a:r>
              <a:t>온체인 receipt만으로는 부족하다</a:t>
            </a:r>
          </a:p>
          <a:p>
            <a:pPr>
              <a:defRPr sz="2900">
                <a:latin typeface="Apple SD 산돌고딕 Neo 일반체"/>
                <a:ea typeface="Apple SD 산돌고딕 Neo 일반체"/>
                <a:cs typeface="Apple SD 산돌고딕 Neo 일반체"/>
                <a:sym typeface="Apple SD 산돌고딕 Neo 일반체"/>
              </a:defRPr>
            </a:pPr>
            <a:endParaRPr/>
          </a:p>
          <a:p>
            <a:pPr>
              <a:defRPr sz="2900">
                <a:latin typeface="Apple SD 산돌고딕 Neo 일반체"/>
                <a:ea typeface="Apple SD 산돌고딕 Neo 일반체"/>
                <a:cs typeface="Apple SD 산돌고딕 Neo 일반체"/>
                <a:sym typeface="Apple SD 산돌고딕 Neo 일반체"/>
              </a:defRPr>
            </a:pPr>
            <a:r>
              <a:t>정책 판정, proof 상태, 직원별 scan, 업무 계획 대사를 함께 본다</a:t>
            </a:r>
          </a:p>
        </p:txBody>
      </p:sp>
    </p:spTree>
  </p:cSld>
  <p:clrMapOvr>
    <a:masterClrMapping/>
  </p:clrMapOvr>
  <p:transition spd="med"/>
</p:sld>
</file>

<file path=ppt/theme/theme1.xml><?xml version="1.0" encoding="utf-8"?>
<a:theme xmlns:a="http://schemas.openxmlformats.org/drawingml/2006/main"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20_BasicBlack">
      <a:majorFont>
        <a:latin typeface="Helvetica Neue"/>
        <a:ea typeface="Helvetica Neue"/>
        <a:cs typeface="Helvetica Neue"/>
      </a:majorFont>
      <a:minorFont>
        <a:latin typeface="Helvetica Neue"/>
        <a:ea typeface="Helvetica Neue"/>
        <a:cs typeface="Helvetica Neue"/>
      </a:minorFont>
    </a:fontScheme>
    <a:fmtScheme name="20_BasicBlack">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FFFFFF"/>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2438338" rtl="0" fontAlgn="auto" latinLnBrk="0" hangingPunct="0">
          <a:lnSpc>
            <a:spcPct val="90000"/>
          </a:lnSpc>
          <a:spcBef>
            <a:spcPts val="4500"/>
          </a:spcBef>
          <a:spcAft>
            <a:spcPts val="0"/>
          </a:spcAft>
          <a:buClrTx/>
          <a:buSzTx/>
          <a:buFontTx/>
          <a:buNone/>
          <a:tabLst/>
          <a:defRPr kumimoji="0" sz="4800" b="0" i="0" u="none" strike="noStrike" cap="none" spc="0" normalizeH="0" baseline="0">
            <a:ln>
              <a:noFill/>
            </a:ln>
            <a:solidFill>
              <a:srgbClr val="FFFFFF"/>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2833</Words>
  <Application>Microsoft Macintosh PowerPoint</Application>
  <PresentationFormat>사용자 지정</PresentationFormat>
  <Paragraphs>572</Paragraphs>
  <Slides>30</Slides>
  <Notes>30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30</vt:i4>
      </vt:variant>
    </vt:vector>
  </HeadingPairs>
  <TitlesOfParts>
    <vt:vector size="33" baseType="lpstr">
      <vt:lpstr>Helvetica Neue</vt:lpstr>
      <vt:lpstr>Helvetica Neue Medium</vt:lpstr>
      <vt:lpstr>20_BasicBlack</vt:lpstr>
      <vt:lpstr>PowerPoint 프레젠테이션</vt:lpstr>
      <vt:lpstr>오늘 완성할 것</vt:lpstr>
      <vt:lpstr>참가자와 시나리오</vt:lpstr>
      <vt:lpstr>75분 진행</vt:lpstr>
      <vt:lpstr>증거 라벨</vt:lpstr>
      <vt:lpstr>급여 완료의 네 단계</vt:lpstr>
      <vt:lpstr>PowerPoint 프레젠테이션</vt:lpstr>
      <vt:lpstr>PowerPoint 프레젠테이션</vt:lpstr>
      <vt:lpstr>키·서비스 책임 경계</vt:lpstr>
      <vt:lpstr>공통 환경</vt:lpstr>
      <vt:lpstr>계정과 급여 계획</vt:lpstr>
      <vt:lpstr>급여 계획</vt:lpstr>
      <vt:lpstr>Maroo read-only preflight</vt:lpstr>
      <vt:lpstr>Maroo readiness 판정</vt:lpstr>
      <vt:lpstr>PowerPoint 프레젠테이션</vt:lpstr>
      <vt:lpstr>Clairveil Local 실행</vt:lpstr>
      <vt:lpstr>정상 급여 결과</vt:lpstr>
      <vt:lpstr>PowerPoint 프레젠테이션</vt:lpstr>
      <vt:lpstr>데이터 가시성 매트릭스</vt:lpstr>
      <vt:lpstr>PowerPoint 프레젠테이션</vt:lpstr>
      <vt:lpstr>PowerPoint 프레젠테이션</vt:lpstr>
      <vt:lpstr>PowerPoint 프레젠테이션</vt:lpstr>
      <vt:lpstr>Maroo 실행 경로</vt:lpstr>
      <vt:lpstr>Path B 실행</vt:lpstr>
      <vt:lpstr>실제 Maroo receipt</vt:lpstr>
      <vt:lpstr>실패 모드 지도 · 첫 실패 계층을 찾는다</vt:lpstr>
      <vt:lpstr>완료 증거</vt:lpstr>
      <vt:lpstr>워크숍 종료 판정</vt:lpstr>
      <vt:lpstr>프로덕션 전 결정해야 할 것</vt:lpstr>
      <vt:lpstr>마지막 질문</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구민재[ 정보보호대학원석사과정졸업 / 금융보안학과 ]</cp:lastModifiedBy>
  <cp:revision>2</cp:revision>
  <dcterms:modified xsi:type="dcterms:W3CDTF">2026-09-04T06:09:17Z</dcterms:modified>
</cp:coreProperties>
</file>